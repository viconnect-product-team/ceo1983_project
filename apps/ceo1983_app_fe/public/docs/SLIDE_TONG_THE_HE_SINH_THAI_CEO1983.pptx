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BÁO CÁO GIẢI PHÁP CHUYỂN ĐỔI SỐ TOÀN DIỆN</a:t>
            </a:r>
            <a:endParaRPr lang="en-US" sz="1100" dirty="0"/>
          </a:p>
        </p:txBody>
      </p:sp>
      <p:sp>
        <p:nvSpPr>
          <p:cNvPr id="5" name="Shape 3"/>
          <p:cNvSpPr/>
          <p:nvPr/>
        </p:nvSpPr>
        <p:spPr>
          <a:xfrm>
            <a:off x="914400" y="1005840"/>
            <a:ext cx="10332720" cy="5120640"/>
          </a:xfrm>
          <a:prstGeom prst="rect">
            <a:avLst>
              <a:gd name="adj" fmla="val 4464"/>
            </a:avLst>
          </a:prstGeom>
          <a:solidFill>
            <a:srgbClr val="FFFFFF">
              <a:alpha val="95000"/>
            </a:srgbClr>
          </a:solidFill>
          <a:ln w="19050">
            <a:solidFill>
              <a:srgbClr val="E2E8F0"/>
            </a:solidFill>
            <a:prstDash val="solid"/>
          </a:ln>
        </p:spPr>
      </p:sp>
      <p:sp>
        <p:nvSpPr>
          <p:cNvPr id="6" name="Text 4"/>
          <p:cNvSpPr/>
          <p:nvPr/>
        </p:nvSpPr>
        <p:spPr>
          <a:xfrm>
            <a:off x="1280160" y="1280160"/>
            <a:ext cx="9601200" cy="1097280"/>
          </a:xfrm>
          <a:prstGeom prst="rect">
            <a:avLst/>
          </a:prstGeom>
          <a:noFill/>
          <a:ln/>
        </p:spPr>
        <p:txBody>
          <a:bodyPr wrap="square" rtlCol="0" anchor="ctr"/>
          <a:lstStyle/>
          <a:p>
            <a:pPr indent="0" marL="0">
              <a:buNone/>
            </a:pPr>
            <a:r>
              <a:rPr lang="en-US" sz="2600" b="1" dirty="0">
                <a:solidFill>
                  <a:srgbClr val="001F54"/>
                </a:solidFill>
                <a:latin typeface="Arial" pitchFamily="34" charset="0"/>
                <a:ea typeface="Arial" pitchFamily="34" charset="-122"/>
                <a:cs typeface="Arial" pitchFamily="34" charset="-120"/>
              </a:rPr>
              <a:t>HỆ THỐNG ĐIỀU HÀNH &amp; KẾT NỐI DOANH NHÂN CEO 1983</a:t>
            </a:r>
            <a:endParaRPr lang="en-US" sz="2600" dirty="0"/>
          </a:p>
        </p:txBody>
      </p:sp>
      <p:sp>
        <p:nvSpPr>
          <p:cNvPr id="7" name="Text 5"/>
          <p:cNvSpPr/>
          <p:nvPr/>
        </p:nvSpPr>
        <p:spPr>
          <a:xfrm>
            <a:off x="1280160" y="2377440"/>
            <a:ext cx="9601200" cy="365760"/>
          </a:xfrm>
          <a:prstGeom prst="rect">
            <a:avLst/>
          </a:prstGeom>
          <a:noFill/>
          <a:ln/>
        </p:spPr>
        <p:txBody>
          <a:bodyPr wrap="square" rtlCol="0" anchor="ctr"/>
          <a:lstStyle/>
          <a:p>
            <a:pPr indent="0" marL="0">
              <a:buNone/>
            </a:pPr>
            <a:r>
              <a:rPr lang="en-US" sz="1300" b="1" dirty="0">
                <a:solidFill>
                  <a:srgbClr val="0072CE"/>
                </a:solidFill>
                <a:latin typeface="Arial" pitchFamily="34" charset="0"/>
                <a:ea typeface="Arial" pitchFamily="34" charset="-122"/>
                <a:cs typeface="Arial" pitchFamily="34" charset="-120"/>
              </a:rPr>
              <a:t>HIỆN THỰC HÓA 3 BÀI TOÁN CHIẾN LƯỢC VÌ SỰ PHÁT TRIỂN BỀN VỮNG CỦA HỘI VIÊN</a:t>
            </a:r>
            <a:endParaRPr lang="en-US" sz="1300" dirty="0"/>
          </a:p>
        </p:txBody>
      </p:sp>
      <p:sp>
        <p:nvSpPr>
          <p:cNvPr id="8" name="Text 6"/>
          <p:cNvSpPr/>
          <p:nvPr/>
        </p:nvSpPr>
        <p:spPr>
          <a:xfrm>
            <a:off x="1280160" y="2834640"/>
            <a:ext cx="9601200" cy="73152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Báo cáo toàn diện giải pháp chuyển đổi số gồm Hệ Thống Quản Trị Web CRM &amp; Ứng Dụng Di Động Doanh Nhân do Tập đoàn Công nghệ ViConnect nghiên cứu và phát triển theo đặt hàng từ Ban Lãnh Đạo CLB CEO 1983.</a:t>
            </a:r>
            <a:endParaRPr lang="en-US" sz="1200" dirty="0"/>
          </a:p>
        </p:txBody>
      </p:sp>
      <p:sp>
        <p:nvSpPr>
          <p:cNvPr id="9" name="Shape 7"/>
          <p:cNvSpPr/>
          <p:nvPr/>
        </p:nvSpPr>
        <p:spPr>
          <a:xfrm>
            <a:off x="1280160" y="3749040"/>
            <a:ext cx="9601200" cy="1645920"/>
          </a:xfrm>
          <a:prstGeom prst="rect">
            <a:avLst>
              <a:gd name="adj" fmla="val 8333"/>
            </a:avLst>
          </a:prstGeom>
          <a:solidFill>
            <a:srgbClr val="FFF7ED"/>
          </a:solidFill>
          <a:ln w="12700">
            <a:solidFill>
              <a:srgbClr val="FED7AA"/>
            </a:solidFill>
            <a:prstDash val="solid"/>
          </a:ln>
        </p:spPr>
      </p:sp>
      <p:sp>
        <p:nvSpPr>
          <p:cNvPr id="10" name="Text 8"/>
          <p:cNvSpPr/>
          <p:nvPr/>
        </p:nvSpPr>
        <p:spPr>
          <a:xfrm>
            <a:off x="1463040" y="3931920"/>
            <a:ext cx="9235440" cy="1280160"/>
          </a:xfrm>
          <a:prstGeom prst="rect">
            <a:avLst/>
          </a:prstGeom>
          <a:noFill/>
          <a:ln/>
        </p:spPr>
        <p:txBody>
          <a:bodyPr wrap="square" rtlCol="0" anchor="ctr"/>
          <a:lstStyle/>
          <a:p>
            <a:pPr indent="0" marL="0">
              <a:buNone/>
            </a:pPr>
            <a:r>
              <a:rPr lang="en-US" sz="1200" b="1" dirty="0">
                <a:solidFill>
                  <a:srgbClr val="78350F"/>
                </a:solidFill>
                <a:latin typeface="Arial" pitchFamily="34" charset="0"/>
                <a:ea typeface="Arial" pitchFamily="34" charset="-122"/>
                <a:cs typeface="Arial" pitchFamily="34" charset="-120"/>
              </a:rPr>
              <a:t>📅 09:00 – 12:00 | Thứ Tư, ngày 21/10/2026</a:t>
            </a:r>
            <a:endParaRPr lang="en-US" sz="1200" dirty="0"/>
          </a:p>
          <a:p>
            <a:pPr indent="0" marL="0">
              <a:buNone/>
            </a:pPr>
            <a:r>
              <a:rPr lang="en-US" sz="1200" b="1" dirty="0">
                <a:solidFill>
                  <a:srgbClr val="78350F"/>
                </a:solidFill>
                <a:latin typeface="Arial" pitchFamily="34" charset="0"/>
                <a:ea typeface="Arial" pitchFamily="34" charset="-122"/>
                <a:cs typeface="Arial" pitchFamily="34" charset="-120"/>
              </a:rPr>
              <a:t>📍 Khu biệt thự HDI, 39 ngõ 29 P. Mạc Thái Tông, KĐT Nam Trung Yên, Cầu Giấy, Hà Nội</a:t>
            </a:r>
            <a:endParaRPr lang="en-US" sz="1200" dirty="0"/>
          </a:p>
          <a:p>
            <a:pPr indent="0" marL="0">
              <a:buNone/>
            </a:pPr>
            <a:r>
              <a:rPr lang="en-US" sz="1200" b="1" dirty="0">
                <a:solidFill>
                  <a:srgbClr val="78350F"/>
                </a:solidFill>
                <a:latin typeface="Arial" pitchFamily="34" charset="0"/>
                <a:ea typeface="Arial" pitchFamily="34" charset="-122"/>
                <a:cs typeface="Arial" pitchFamily="34" charset="-120"/>
              </a:rPr>
              <a:t>🍴 Bữa trưa thân mật tại Nhà hàng Phiến Hoan Việt Trì</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BỨC TRANH TỔNG THỂ 2 SẢN PHẨM</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KIẾN TRÚC KÉP: WEB CRM ĐIỀU HÀNH &amp; MOBILE APP HỘI VIÊN</a:t>
            </a:r>
            <a:endParaRPr lang="en-US" sz="2000" dirty="0"/>
          </a:p>
        </p:txBody>
      </p:sp>
      <p:sp>
        <p:nvSpPr>
          <p:cNvPr id="6" name="Shape 4"/>
          <p:cNvSpPr/>
          <p:nvPr/>
        </p:nvSpPr>
        <p:spPr>
          <a:xfrm>
            <a:off x="731520" y="1554480"/>
            <a:ext cx="5120640" cy="4663440"/>
          </a:xfrm>
          <a:prstGeom prst="rect">
            <a:avLst>
              <a:gd name="adj" fmla="val 3922"/>
            </a:avLst>
          </a:prstGeom>
          <a:solidFill>
            <a:srgbClr val="FFFFFF"/>
          </a:solidFill>
          <a:ln w="25400">
            <a:solidFill>
              <a:srgbClr val="0072CE"/>
            </a:solidFill>
            <a:prstDash val="solid"/>
          </a:ln>
        </p:spPr>
      </p:sp>
      <p:sp>
        <p:nvSpPr>
          <p:cNvPr id="7" name="Text 5"/>
          <p:cNvSpPr/>
          <p:nvPr/>
        </p:nvSpPr>
        <p:spPr>
          <a:xfrm>
            <a:off x="1005840" y="1828800"/>
            <a:ext cx="4572000" cy="457200"/>
          </a:xfrm>
          <a:prstGeom prst="rect">
            <a:avLst/>
          </a:prstGeom>
          <a:noFill/>
          <a:ln/>
        </p:spPr>
        <p:txBody>
          <a:bodyPr wrap="square" rtlCol="0" anchor="ctr"/>
          <a:lstStyle/>
          <a:p>
            <a:pPr indent="0" marL="0">
              <a:buNone/>
            </a:pPr>
            <a:r>
              <a:rPr lang="en-US" sz="1400" b="1" dirty="0">
                <a:solidFill>
                  <a:srgbClr val="001F54"/>
                </a:solidFill>
                <a:latin typeface="Arial" pitchFamily="34" charset="0"/>
                <a:ea typeface="Arial" pitchFamily="34" charset="-122"/>
                <a:cs typeface="Arial" pitchFamily="34" charset="-120"/>
              </a:rPr>
              <a:t>1. CỔNG ĐIỀU HÀNH TRUNG TÂM WEB CRM</a:t>
            </a:r>
            <a:endParaRPr lang="en-US" sz="1400" dirty="0"/>
          </a:p>
        </p:txBody>
      </p:sp>
      <p:sp>
        <p:nvSpPr>
          <p:cNvPr id="8" name="Text 6"/>
          <p:cNvSpPr/>
          <p:nvPr/>
        </p:nvSpPr>
        <p:spPr>
          <a:xfrm>
            <a:off x="1005840" y="2286000"/>
            <a:ext cx="4572000" cy="365760"/>
          </a:xfrm>
          <a:prstGeom prst="rect">
            <a:avLst/>
          </a:prstGeom>
          <a:noFill/>
          <a:ln/>
        </p:spPr>
        <p:txBody>
          <a:bodyPr wrap="square" rtlCol="0" anchor="ctr"/>
          <a:lstStyle/>
          <a:p>
            <a:pPr indent="0" marL="0">
              <a:buNone/>
            </a:pPr>
            <a:r>
              <a:rPr lang="en-US" sz="1000" b="1" dirty="0">
                <a:solidFill>
                  <a:srgbClr val="0072CE"/>
                </a:solidFill>
                <a:latin typeface="Arial" pitchFamily="34" charset="0"/>
                <a:ea typeface="Arial" pitchFamily="34" charset="-122"/>
                <a:cs typeface="Arial" pitchFamily="34" charset="-120"/>
              </a:rPr>
              <a:t>Dành cho: Ban Điều Hành, Ban Thư Ký, Chủ Tịch &amp; 6 Ban Chuyên Môn</a:t>
            </a:r>
            <a:endParaRPr lang="en-US" sz="1000" dirty="0"/>
          </a:p>
        </p:txBody>
      </p:sp>
      <p:sp>
        <p:nvSpPr>
          <p:cNvPr id="9" name="Text 7"/>
          <p:cNvSpPr/>
          <p:nvPr/>
        </p:nvSpPr>
        <p:spPr>
          <a:xfrm>
            <a:off x="1005840" y="2743200"/>
            <a:ext cx="4572000" cy="320040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  Quản lý tập trung toàn diện hơn 500 hồ sơ doanh nghiệp hội viên chính danh</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Sơ đồ xếp bàn tiệc Gala trang trọng, phân bổ chỗ ngồi khoa học, chính xác</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Điều hành công việc, phân công nhiệm vụ và theo dõi tiến độ các ban</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Quản lý thu chi, hội phí và ngân sách tự động hóa, minh bạch tài chính</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Phân quyền vận hành đúng chức năng thẩm quyền của từng ban chuyên môn</a:t>
            </a:r>
            <a:endParaRPr lang="en-US" sz="1100" dirty="0"/>
          </a:p>
        </p:txBody>
      </p:sp>
      <p:sp>
        <p:nvSpPr>
          <p:cNvPr id="10" name="Shape 8"/>
          <p:cNvSpPr/>
          <p:nvPr/>
        </p:nvSpPr>
        <p:spPr>
          <a:xfrm>
            <a:off x="6217920" y="1554480"/>
            <a:ext cx="5120640" cy="4663440"/>
          </a:xfrm>
          <a:prstGeom prst="rect">
            <a:avLst>
              <a:gd name="adj" fmla="val 3922"/>
            </a:avLst>
          </a:prstGeom>
          <a:solidFill>
            <a:srgbClr val="FFFFFF"/>
          </a:solidFill>
          <a:ln w="25400">
            <a:solidFill>
              <a:srgbClr val="F59E0B"/>
            </a:solidFill>
            <a:prstDash val="solid"/>
          </a:ln>
        </p:spPr>
      </p:sp>
      <p:sp>
        <p:nvSpPr>
          <p:cNvPr id="11" name="Text 9"/>
          <p:cNvSpPr/>
          <p:nvPr/>
        </p:nvSpPr>
        <p:spPr>
          <a:xfrm>
            <a:off x="6492240" y="1828800"/>
            <a:ext cx="4572000" cy="457200"/>
          </a:xfrm>
          <a:prstGeom prst="rect">
            <a:avLst/>
          </a:prstGeom>
          <a:noFill/>
          <a:ln/>
        </p:spPr>
        <p:txBody>
          <a:bodyPr wrap="square" rtlCol="0" anchor="ctr"/>
          <a:lstStyle/>
          <a:p>
            <a:pPr indent="0" marL="0">
              <a:buNone/>
            </a:pPr>
            <a:r>
              <a:rPr lang="en-US" sz="1400" b="1" dirty="0">
                <a:solidFill>
                  <a:srgbClr val="001F54"/>
                </a:solidFill>
                <a:latin typeface="Arial" pitchFamily="34" charset="0"/>
                <a:ea typeface="Arial" pitchFamily="34" charset="-122"/>
                <a:cs typeface="Arial" pitchFamily="34" charset="-120"/>
              </a:rPr>
              <a:t>2. VĂN PHÒNG DOANH NHÂN BỎ TÚI MOBILE APP</a:t>
            </a:r>
            <a:endParaRPr lang="en-US" sz="1400" dirty="0"/>
          </a:p>
        </p:txBody>
      </p:sp>
      <p:sp>
        <p:nvSpPr>
          <p:cNvPr id="12" name="Text 10"/>
          <p:cNvSpPr/>
          <p:nvPr/>
        </p:nvSpPr>
        <p:spPr>
          <a:xfrm>
            <a:off x="6492240" y="2286000"/>
            <a:ext cx="4572000" cy="365760"/>
          </a:xfrm>
          <a:prstGeom prst="rect">
            <a:avLst/>
          </a:prstGeom>
          <a:noFill/>
          <a:ln/>
        </p:spPr>
        <p:txBody>
          <a:bodyPr wrap="square" rtlCol="0" anchor="ctr"/>
          <a:lstStyle/>
          <a:p>
            <a:pPr indent="0" marL="0">
              <a:buNone/>
            </a:pPr>
            <a:r>
              <a:rPr lang="en-US" sz="1000" b="1" dirty="0">
                <a:solidFill>
                  <a:srgbClr val="B45309"/>
                </a:solidFill>
                <a:latin typeface="Arial" pitchFamily="34" charset="0"/>
                <a:ea typeface="Arial" pitchFamily="34" charset="-122"/>
                <a:cs typeface="Arial" pitchFamily="34" charset="-120"/>
              </a:rPr>
              <a:t>Dành cho: Hơn 500 Doanh nhân &amp; Lãnh đạo hội viên CLB CEO 1983</a:t>
            </a:r>
            <a:endParaRPr lang="en-US" sz="1000" dirty="0"/>
          </a:p>
        </p:txBody>
      </p:sp>
      <p:sp>
        <p:nvSpPr>
          <p:cNvPr id="13" name="Text 11"/>
          <p:cNvSpPr/>
          <p:nvPr/>
        </p:nvSpPr>
        <p:spPr>
          <a:xfrm>
            <a:off x="6492240" y="2743200"/>
            <a:ext cx="4572000" cy="320040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  Thẻ Hội Viên Điện Tử Thông Minh &amp; Danh thiếp số tiện lợi, lưu danh bạ 1 chạm</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Sàn giao thương B2B nội khối: Giới thiệu sản phẩm và ưu đãi đặc quyền giữa các hội viên</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Ví vé sự kiện Gala, xem trước số bàn tiệc, số ghế VIP và mã bốc thăm may mắn</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Danh bạ kết nối hơn 500 CEO chính danh 11 ngành nghề, gửi lời mời hẹn gặp 1-on-1</a:t>
            </a:r>
            <a:endParaRPr lang="en-US" sz="1100" dirty="0"/>
          </a:p>
          <a:p>
            <a:pPr indent="0" marL="0">
              <a:buNone/>
            </a:pPr>
            <a:endParaRPr lang="en-US" sz="1100" dirty="0"/>
          </a:p>
          <a:p>
            <a:pPr indent="0" marL="0">
              <a:buNone/>
            </a:pPr>
            <a:r>
              <a:rPr lang="en-US" sz="1100" dirty="0">
                <a:solidFill>
                  <a:srgbClr val="334155"/>
                </a:solidFill>
                <a:latin typeface="Arial" pitchFamily="34" charset="0"/>
                <a:ea typeface="Arial" pitchFamily="34" charset="-122"/>
                <a:cs typeface="Arial" pitchFamily="34" charset="-120"/>
              </a:rPr>
              <a:t>★  Kênh trao đổi công việc và liên lạc trực tiếp, bảo mật riêng tư giữa các lãnh đạo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HIỆN THỰC HÓA 3 BÀI TOÁN CHIẾN LƯỢC</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GIẢI PHÁP SỐ HÓA TRIỆT ĐỂ CHO 3 TRĂN TRỞ CỦA BAN LÃNH ĐẠO</a:t>
            </a:r>
            <a:endParaRPr lang="en-US" sz="2000" dirty="0"/>
          </a:p>
        </p:txBody>
      </p:sp>
      <p:sp>
        <p:nvSpPr>
          <p:cNvPr id="6" name="Shape 4"/>
          <p:cNvSpPr/>
          <p:nvPr/>
        </p:nvSpPr>
        <p:spPr>
          <a:xfrm>
            <a:off x="731520" y="1554480"/>
            <a:ext cx="3291840" cy="4663440"/>
          </a:xfrm>
          <a:prstGeom prst="rect">
            <a:avLst>
              <a:gd name="adj" fmla="val 5556"/>
            </a:avLst>
          </a:prstGeom>
          <a:solidFill>
            <a:srgbClr val="FFFFFF"/>
          </a:solidFill>
          <a:ln w="19050">
            <a:solidFill>
              <a:srgbClr val="E2E8F0"/>
            </a:solidFill>
            <a:prstDash val="solid"/>
          </a:ln>
        </p:spPr>
      </p:sp>
      <p:sp>
        <p:nvSpPr>
          <p:cNvPr id="7" name="Text 5"/>
          <p:cNvSpPr/>
          <p:nvPr/>
        </p:nvSpPr>
        <p:spPr>
          <a:xfrm>
            <a:off x="914400" y="1828800"/>
            <a:ext cx="2926080" cy="731520"/>
          </a:xfrm>
          <a:prstGeom prst="rect">
            <a:avLst/>
          </a:prstGeom>
          <a:noFill/>
          <a:ln/>
        </p:spPr>
        <p:txBody>
          <a:bodyPr wrap="square" rtlCol="0" anchor="ctr"/>
          <a:lstStyle/>
          <a:p>
            <a:pPr indent="0" marL="0">
              <a:buNone/>
            </a:pPr>
            <a:r>
              <a:rPr lang="en-US" sz="1300" b="1" dirty="0">
                <a:solidFill>
                  <a:srgbClr val="001F54"/>
                </a:solidFill>
                <a:latin typeface="Arial" pitchFamily="34" charset="0"/>
                <a:ea typeface="Arial" pitchFamily="34" charset="-122"/>
                <a:cs typeface="Arial" pitchFamily="34" charset="-120"/>
              </a:rPr>
              <a:t>01. Quản Lý Tập Trung Hồ Sơ 500+ Hội Viên</a:t>
            </a:r>
            <a:endParaRPr lang="en-US" sz="1300" dirty="0"/>
          </a:p>
        </p:txBody>
      </p:sp>
      <p:sp>
        <p:nvSpPr>
          <p:cNvPr id="8" name="Text 6"/>
          <p:cNvSpPr/>
          <p:nvPr/>
        </p:nvSpPr>
        <p:spPr>
          <a:xfrm>
            <a:off x="914400" y="2651760"/>
            <a:ext cx="2926080" cy="1463040"/>
          </a:xfrm>
          <a:prstGeom prst="rect">
            <a:avLst/>
          </a:prstGeom>
          <a:noFill/>
          <a:ln/>
        </p:spPr>
        <p:txBody>
          <a:bodyPr wrap="square" rtlCol="0" anchor="ctr"/>
          <a:lstStyle/>
          <a:p>
            <a:pPr indent="0" marL="0">
              <a:buNone/>
            </a:pPr>
            <a:r>
              <a:rPr lang="en-US" sz="1000" dirty="0">
                <a:solidFill>
                  <a:srgbClr val="991B1B"/>
                </a:solidFill>
                <a:latin typeface="Arial" pitchFamily="34" charset="0"/>
                <a:ea typeface="Arial" pitchFamily="34" charset="-122"/>
                <a:cs typeface="Arial" pitchFamily="34" charset="-120"/>
              </a:rPr>
              <a:t>Thách thức cũ:</a:t>
            </a:r>
            <a:endParaRPr lang="en-US" sz="1000" dirty="0"/>
          </a:p>
          <a:p>
            <a:pPr indent="0" marL="0">
              <a:buNone/>
            </a:pPr>
            <a:r>
              <a:rPr lang="en-US" sz="1000" dirty="0">
                <a:solidFill>
                  <a:srgbClr val="991B1B"/>
                </a:solidFill>
                <a:latin typeface="Arial" pitchFamily="34" charset="0"/>
                <a:ea typeface="Arial" pitchFamily="34" charset="-122"/>
                <a:cs typeface="Arial" pitchFamily="34" charset="-120"/>
              </a:rPr>
              <a:t>Trước đây: Dữ liệu phân tán trong các file bảng tính rời rạc, khó tra cứu, thông tin doanh nghiệp không được cập nhật kịp thời.</a:t>
            </a:r>
            <a:endParaRPr lang="en-US" sz="1000" dirty="0"/>
          </a:p>
        </p:txBody>
      </p:sp>
      <p:sp>
        <p:nvSpPr>
          <p:cNvPr id="9" name="Text 7"/>
          <p:cNvSpPr/>
          <p:nvPr/>
        </p:nvSpPr>
        <p:spPr>
          <a:xfrm>
            <a:off x="914400" y="4206240"/>
            <a:ext cx="2926080" cy="1828800"/>
          </a:xfrm>
          <a:prstGeom prst="rect">
            <a:avLst/>
          </a:prstGeom>
          <a:noFill/>
          <a:ln/>
        </p:spPr>
        <p:txBody>
          <a:bodyPr wrap="square" rtlCol="0" anchor="ctr"/>
          <a:lstStyle/>
          <a:p>
            <a:pPr indent="0" marL="0">
              <a:buNone/>
            </a:pPr>
            <a:r>
              <a:rPr lang="en-US" sz="1050" b="1" dirty="0">
                <a:solidFill>
                  <a:srgbClr val="065F46"/>
                </a:solidFill>
                <a:latin typeface="Arial" pitchFamily="34" charset="0"/>
                <a:ea typeface="Arial" pitchFamily="34" charset="-122"/>
                <a:cs typeface="Arial" pitchFamily="34" charset="-120"/>
              </a:rPr>
              <a:t>Giải pháp ViConnect:</a:t>
            </a:r>
            <a:endParaRPr lang="en-US" sz="1050" dirty="0"/>
          </a:p>
          <a:p>
            <a:pPr indent="0" marL="0">
              <a:buNone/>
            </a:pPr>
            <a:r>
              <a:rPr lang="en-US" sz="1050" b="1" dirty="0">
                <a:solidFill>
                  <a:srgbClr val="065F46"/>
                </a:solidFill>
                <a:latin typeface="Arial" pitchFamily="34" charset="0"/>
                <a:ea typeface="Arial" pitchFamily="34" charset="-122"/>
                <a:cs typeface="Arial" pitchFamily="34" charset="-120"/>
              </a:rPr>
              <a:t>ViConnect giải quyết: Số hóa hồ sơ doanh nghiệp 360 độ gồm pháp lý, mã số thuế, năng lực cốt lõi, ngành nghề mũi nhọn và lịch sử tham gia.</a:t>
            </a:r>
            <a:endParaRPr lang="en-US" sz="1050" dirty="0"/>
          </a:p>
        </p:txBody>
      </p:sp>
      <p:sp>
        <p:nvSpPr>
          <p:cNvPr id="10" name="Shape 8"/>
          <p:cNvSpPr/>
          <p:nvPr/>
        </p:nvSpPr>
        <p:spPr>
          <a:xfrm>
            <a:off x="4297680" y="1554480"/>
            <a:ext cx="3291840" cy="4663440"/>
          </a:xfrm>
          <a:prstGeom prst="rect">
            <a:avLst>
              <a:gd name="adj" fmla="val 5556"/>
            </a:avLst>
          </a:prstGeom>
          <a:solidFill>
            <a:srgbClr val="FFFFFF"/>
          </a:solidFill>
          <a:ln w="19050">
            <a:solidFill>
              <a:srgbClr val="E2E8F0"/>
            </a:solidFill>
            <a:prstDash val="solid"/>
          </a:ln>
        </p:spPr>
      </p:sp>
      <p:sp>
        <p:nvSpPr>
          <p:cNvPr id="11" name="Text 9"/>
          <p:cNvSpPr/>
          <p:nvPr/>
        </p:nvSpPr>
        <p:spPr>
          <a:xfrm>
            <a:off x="4480560" y="1828800"/>
            <a:ext cx="2926080" cy="731520"/>
          </a:xfrm>
          <a:prstGeom prst="rect">
            <a:avLst/>
          </a:prstGeom>
          <a:noFill/>
          <a:ln/>
        </p:spPr>
        <p:txBody>
          <a:bodyPr wrap="square" rtlCol="0" anchor="ctr"/>
          <a:lstStyle/>
          <a:p>
            <a:pPr indent="0" marL="0">
              <a:buNone/>
            </a:pPr>
            <a:r>
              <a:rPr lang="en-US" sz="1300" b="1" dirty="0">
                <a:solidFill>
                  <a:srgbClr val="001F54"/>
                </a:solidFill>
                <a:latin typeface="Arial" pitchFamily="34" charset="0"/>
                <a:ea typeface="Arial" pitchFamily="34" charset="-122"/>
                <a:cs typeface="Arial" pitchFamily="34" charset="-120"/>
              </a:rPr>
              <a:t>02. Tiếp Đón Khách Mời &amp; Xếp Chỗ Khoa Học</a:t>
            </a:r>
            <a:endParaRPr lang="en-US" sz="1300" dirty="0"/>
          </a:p>
        </p:txBody>
      </p:sp>
      <p:sp>
        <p:nvSpPr>
          <p:cNvPr id="12" name="Text 10"/>
          <p:cNvSpPr/>
          <p:nvPr/>
        </p:nvSpPr>
        <p:spPr>
          <a:xfrm>
            <a:off x="4480560" y="2651760"/>
            <a:ext cx="2926080" cy="1463040"/>
          </a:xfrm>
          <a:prstGeom prst="rect">
            <a:avLst/>
          </a:prstGeom>
          <a:noFill/>
          <a:ln/>
        </p:spPr>
        <p:txBody>
          <a:bodyPr wrap="square" rtlCol="0" anchor="ctr"/>
          <a:lstStyle/>
          <a:p>
            <a:pPr indent="0" marL="0">
              <a:buNone/>
            </a:pPr>
            <a:r>
              <a:rPr lang="en-US" sz="1000" dirty="0">
                <a:solidFill>
                  <a:srgbClr val="991B1B"/>
                </a:solidFill>
                <a:latin typeface="Arial" pitchFamily="34" charset="0"/>
                <a:ea typeface="Arial" pitchFamily="34" charset="-122"/>
                <a:cs typeface="Arial" pitchFamily="34" charset="-120"/>
              </a:rPr>
              <a:t>Thách thức cũ:</a:t>
            </a:r>
            <a:endParaRPr lang="en-US" sz="1000" dirty="0"/>
          </a:p>
          <a:p>
            <a:pPr indent="0" marL="0">
              <a:buNone/>
            </a:pPr>
            <a:r>
              <a:rPr lang="en-US" sz="1000" dirty="0">
                <a:solidFill>
                  <a:srgbClr val="991B1B"/>
                </a:solidFill>
                <a:latin typeface="Arial" pitchFamily="34" charset="0"/>
                <a:ea typeface="Arial" pitchFamily="34" charset="-122"/>
                <a:cs typeface="Arial" pitchFamily="34" charset="-120"/>
              </a:rPr>
              <a:t>Trước đây: Khách đến đông dễ nhầm bàn ghế, lễ tân tìm tên thủ công mất nhiều thời gian, dễ gây ùn tắc tại sảnh đón tiếp.</a:t>
            </a:r>
            <a:endParaRPr lang="en-US" sz="1000" dirty="0"/>
          </a:p>
        </p:txBody>
      </p:sp>
      <p:sp>
        <p:nvSpPr>
          <p:cNvPr id="13" name="Text 11"/>
          <p:cNvSpPr/>
          <p:nvPr/>
        </p:nvSpPr>
        <p:spPr>
          <a:xfrm>
            <a:off x="4480560" y="4206240"/>
            <a:ext cx="2926080" cy="1828800"/>
          </a:xfrm>
          <a:prstGeom prst="rect">
            <a:avLst/>
          </a:prstGeom>
          <a:noFill/>
          <a:ln/>
        </p:spPr>
        <p:txBody>
          <a:bodyPr wrap="square" rtlCol="0" anchor="ctr"/>
          <a:lstStyle/>
          <a:p>
            <a:pPr indent="0" marL="0">
              <a:buNone/>
            </a:pPr>
            <a:r>
              <a:rPr lang="en-US" sz="1050" b="1" dirty="0">
                <a:solidFill>
                  <a:srgbClr val="065F46"/>
                </a:solidFill>
                <a:latin typeface="Arial" pitchFamily="34" charset="0"/>
                <a:ea typeface="Arial" pitchFamily="34" charset="-122"/>
                <a:cs typeface="Arial" pitchFamily="34" charset="-120"/>
              </a:rPr>
              <a:t>Giải pháp ViConnect:</a:t>
            </a:r>
            <a:endParaRPr lang="en-US" sz="1050" dirty="0"/>
          </a:p>
          <a:p>
            <a:pPr indent="0" marL="0">
              <a:buNone/>
            </a:pPr>
            <a:r>
              <a:rPr lang="en-US" sz="1050" b="1" dirty="0">
                <a:solidFill>
                  <a:srgbClr val="065F46"/>
                </a:solidFill>
                <a:latin typeface="Arial" pitchFamily="34" charset="0"/>
                <a:ea typeface="Arial" pitchFamily="34" charset="-122"/>
                <a:cs typeface="Arial" pitchFamily="34" charset="-120"/>
              </a:rPr>
              <a:t>ViConnect giải quyết: Sơ đồ bàn tiệc bố trí chuẩn xác, đón tiếp khách mời bằng vé điện tử trên điện thoại chỉ 1 giây, bốc thăm may mắn công khai.</a:t>
            </a:r>
            <a:endParaRPr lang="en-US" sz="1050" dirty="0"/>
          </a:p>
        </p:txBody>
      </p:sp>
      <p:sp>
        <p:nvSpPr>
          <p:cNvPr id="14" name="Shape 12"/>
          <p:cNvSpPr/>
          <p:nvPr/>
        </p:nvSpPr>
        <p:spPr>
          <a:xfrm>
            <a:off x="7863840" y="1554480"/>
            <a:ext cx="3291840" cy="4663440"/>
          </a:xfrm>
          <a:prstGeom prst="rect">
            <a:avLst>
              <a:gd name="adj" fmla="val 5556"/>
            </a:avLst>
          </a:prstGeom>
          <a:solidFill>
            <a:srgbClr val="FFFFFF"/>
          </a:solidFill>
          <a:ln w="19050">
            <a:solidFill>
              <a:srgbClr val="E2E8F0"/>
            </a:solidFill>
            <a:prstDash val="solid"/>
          </a:ln>
        </p:spPr>
      </p:sp>
      <p:sp>
        <p:nvSpPr>
          <p:cNvPr id="15" name="Text 13"/>
          <p:cNvSpPr/>
          <p:nvPr/>
        </p:nvSpPr>
        <p:spPr>
          <a:xfrm>
            <a:off x="8046720" y="1828800"/>
            <a:ext cx="2926080" cy="731520"/>
          </a:xfrm>
          <a:prstGeom prst="rect">
            <a:avLst/>
          </a:prstGeom>
          <a:noFill/>
          <a:ln/>
        </p:spPr>
        <p:txBody>
          <a:bodyPr wrap="square" rtlCol="0" anchor="ctr"/>
          <a:lstStyle/>
          <a:p>
            <a:pPr indent="0" marL="0">
              <a:buNone/>
            </a:pPr>
            <a:r>
              <a:rPr lang="en-US" sz="1300" b="1" dirty="0">
                <a:solidFill>
                  <a:srgbClr val="001F54"/>
                </a:solidFill>
                <a:latin typeface="Arial" pitchFamily="34" charset="0"/>
                <a:ea typeface="Arial" pitchFamily="34" charset="-122"/>
                <a:cs typeface="Arial" pitchFamily="34" charset="-120"/>
              </a:rPr>
              <a:t>03. Thúc Đẩy Giao Thương &amp; Hợp Tác B2B</a:t>
            </a:r>
            <a:endParaRPr lang="en-US" sz="1300" dirty="0"/>
          </a:p>
        </p:txBody>
      </p:sp>
      <p:sp>
        <p:nvSpPr>
          <p:cNvPr id="16" name="Text 14"/>
          <p:cNvSpPr/>
          <p:nvPr/>
        </p:nvSpPr>
        <p:spPr>
          <a:xfrm>
            <a:off x="8046720" y="2651760"/>
            <a:ext cx="2926080" cy="1463040"/>
          </a:xfrm>
          <a:prstGeom prst="rect">
            <a:avLst/>
          </a:prstGeom>
          <a:noFill/>
          <a:ln/>
        </p:spPr>
        <p:txBody>
          <a:bodyPr wrap="square" rtlCol="0" anchor="ctr"/>
          <a:lstStyle/>
          <a:p>
            <a:pPr indent="0" marL="0">
              <a:buNone/>
            </a:pPr>
            <a:r>
              <a:rPr lang="en-US" sz="1000" dirty="0">
                <a:solidFill>
                  <a:srgbClr val="991B1B"/>
                </a:solidFill>
                <a:latin typeface="Arial" pitchFamily="34" charset="0"/>
                <a:ea typeface="Arial" pitchFamily="34" charset="-122"/>
                <a:cs typeface="Arial" pitchFamily="34" charset="-120"/>
              </a:rPr>
              <a:t>Thách thức cũ:</a:t>
            </a:r>
            <a:endParaRPr lang="en-US" sz="1000" dirty="0"/>
          </a:p>
          <a:p>
            <a:pPr indent="0" marL="0">
              <a:buNone/>
            </a:pPr>
            <a:r>
              <a:rPr lang="en-US" sz="1000" dirty="0">
                <a:solidFill>
                  <a:srgbClr val="991B1B"/>
                </a:solidFill>
                <a:latin typeface="Arial" pitchFamily="34" charset="0"/>
                <a:ea typeface="Arial" pitchFamily="34" charset="-122"/>
                <a:cs typeface="Arial" pitchFamily="34" charset="-120"/>
              </a:rPr>
              <a:t>Trước đây: Giao lưu phong trào chủ yếu qua các buổi gặp trực tiếp, thiếu công cụ theo dõi nhu cầu mua sắm và hợp tác thường xuyên.</a:t>
            </a:r>
            <a:endParaRPr lang="en-US" sz="1000" dirty="0"/>
          </a:p>
        </p:txBody>
      </p:sp>
      <p:sp>
        <p:nvSpPr>
          <p:cNvPr id="17" name="Text 15"/>
          <p:cNvSpPr/>
          <p:nvPr/>
        </p:nvSpPr>
        <p:spPr>
          <a:xfrm>
            <a:off x="8046720" y="4206240"/>
            <a:ext cx="2926080" cy="1828800"/>
          </a:xfrm>
          <a:prstGeom prst="rect">
            <a:avLst/>
          </a:prstGeom>
          <a:noFill/>
          <a:ln/>
        </p:spPr>
        <p:txBody>
          <a:bodyPr wrap="square" rtlCol="0" anchor="ctr"/>
          <a:lstStyle/>
          <a:p>
            <a:pPr indent="0" marL="0">
              <a:buNone/>
            </a:pPr>
            <a:r>
              <a:rPr lang="en-US" sz="1050" b="1" dirty="0">
                <a:solidFill>
                  <a:srgbClr val="065F46"/>
                </a:solidFill>
                <a:latin typeface="Arial" pitchFamily="34" charset="0"/>
                <a:ea typeface="Arial" pitchFamily="34" charset="-122"/>
                <a:cs typeface="Arial" pitchFamily="34" charset="-120"/>
              </a:rPr>
              <a:t>Giải pháp ViConnect:</a:t>
            </a:r>
            <a:endParaRPr lang="en-US" sz="1050" dirty="0"/>
          </a:p>
          <a:p>
            <a:pPr indent="0" marL="0">
              <a:buNone/>
            </a:pPr>
            <a:r>
              <a:rPr lang="en-US" sz="1050" b="1" dirty="0">
                <a:solidFill>
                  <a:srgbClr val="065F46"/>
                </a:solidFill>
                <a:latin typeface="Arial" pitchFamily="34" charset="0"/>
                <a:ea typeface="Arial" pitchFamily="34" charset="-122"/>
                <a:cs typeface="Arial" pitchFamily="34" charset="-120"/>
              </a:rPr>
              <a:t>ViConnect giải quyết: Sàn B2B nội bộ niêm yết sản phẩm chiết khấu cao, danh thiếp số 1 chạm lưu danh bạ, hệ thống đặt hẹn cà phê 1-on-1 thuận tiện.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PHÂN HỆ TRUNG TÂM ĐIỀU HÀNH</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PHÂN HỆ WEB CRM: CÔNG CỤ VẬN HÀNH THỰC CHIẾN CỦA BAN LÃNH ĐẠO</a:t>
            </a:r>
            <a:endParaRPr lang="en-US" sz="2000" dirty="0"/>
          </a:p>
        </p:txBody>
      </p:sp>
      <p:sp>
        <p:nvSpPr>
          <p:cNvPr id="6" name="Shape 4"/>
          <p:cNvSpPr/>
          <p:nvPr/>
        </p:nvSpPr>
        <p:spPr>
          <a:xfrm>
            <a:off x="731520" y="1554480"/>
            <a:ext cx="2514600" cy="4663440"/>
          </a:xfrm>
          <a:prstGeom prst="rect">
            <a:avLst>
              <a:gd name="adj" fmla="val 7273"/>
            </a:avLst>
          </a:prstGeom>
          <a:solidFill>
            <a:srgbClr val="FFFFFF"/>
          </a:solidFill>
          <a:ln w="19050">
            <a:solidFill>
              <a:srgbClr val="E2E8F0"/>
            </a:solidFill>
            <a:prstDash val="solid"/>
          </a:ln>
        </p:spPr>
      </p:sp>
      <p:pic>
        <p:nvPicPr>
          <p:cNvPr id="7" name="Image 0" descr="D:\download\VICONNECT\CEO_VIONE_PROJECT\ceo1983_project\document\images\guide_crm\08_quan_ly_hoi_vien.png">    </p:cNvPr>
          <p:cNvPicPr>
            <a:picLocks noChangeAspect="1"/>
          </p:cNvPicPr>
          <p:nvPr/>
        </p:nvPicPr>
        <p:blipFill>
          <a:blip r:embed="rId1"/>
          <a:stretch>
            <a:fillRect/>
          </a:stretch>
        </p:blipFill>
        <p:spPr>
          <a:xfrm>
            <a:off x="868680" y="1737360"/>
            <a:ext cx="2240280" cy="2011680"/>
          </a:xfrm>
          <a:prstGeom prst="rect">
            <a:avLst/>
          </a:prstGeom>
        </p:spPr>
      </p:pic>
      <p:sp>
        <p:nvSpPr>
          <p:cNvPr id="8" name="Text 5"/>
          <p:cNvSpPr/>
          <p:nvPr/>
        </p:nvSpPr>
        <p:spPr>
          <a:xfrm>
            <a:off x="86868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1. Quản Trị Danh Bạ Hội Viên 360°</a:t>
            </a:r>
            <a:endParaRPr lang="en-US" sz="1100" dirty="0"/>
          </a:p>
        </p:txBody>
      </p:sp>
      <p:sp>
        <p:nvSpPr>
          <p:cNvPr id="9" name="Text 6"/>
          <p:cNvSpPr/>
          <p:nvPr/>
        </p:nvSpPr>
        <p:spPr>
          <a:xfrm>
            <a:off x="86868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Hồ sơ pháp lý, mã số thuế, phân ban chuyên môn, thẩm định và phê duyệt hội viên mới minh bạch.</a:t>
            </a:r>
            <a:endParaRPr lang="en-US" sz="950" dirty="0"/>
          </a:p>
        </p:txBody>
      </p:sp>
      <p:sp>
        <p:nvSpPr>
          <p:cNvPr id="10" name="Shape 7"/>
          <p:cNvSpPr/>
          <p:nvPr/>
        </p:nvSpPr>
        <p:spPr>
          <a:xfrm>
            <a:off x="3429000" y="1554480"/>
            <a:ext cx="2514600" cy="4663440"/>
          </a:xfrm>
          <a:prstGeom prst="rect">
            <a:avLst>
              <a:gd name="adj" fmla="val 7273"/>
            </a:avLst>
          </a:prstGeom>
          <a:solidFill>
            <a:srgbClr val="FFFFFF"/>
          </a:solidFill>
          <a:ln w="19050">
            <a:solidFill>
              <a:srgbClr val="E2E8F0"/>
            </a:solidFill>
            <a:prstDash val="solid"/>
          </a:ln>
        </p:spPr>
      </p:sp>
      <p:pic>
        <p:nvPicPr>
          <p:cNvPr id="11" name="Image 1" descr="D:\download\VICONNECT\CEO_VIONE_PROJECT\ceo1983_project\document\images\guide_crm\12_so_do_khan_phong_ban_tiec.png">    </p:cNvPr>
          <p:cNvPicPr>
            <a:picLocks noChangeAspect="1"/>
          </p:cNvPicPr>
          <p:nvPr/>
        </p:nvPicPr>
        <p:blipFill>
          <a:blip r:embed="rId2"/>
          <a:stretch>
            <a:fillRect/>
          </a:stretch>
        </p:blipFill>
        <p:spPr>
          <a:xfrm>
            <a:off x="3566160" y="1737360"/>
            <a:ext cx="2240280" cy="2011680"/>
          </a:xfrm>
          <a:prstGeom prst="rect">
            <a:avLst/>
          </a:prstGeom>
        </p:spPr>
      </p:pic>
      <p:sp>
        <p:nvSpPr>
          <p:cNvPr id="12" name="Text 8"/>
          <p:cNvSpPr/>
          <p:nvPr/>
        </p:nvSpPr>
        <p:spPr>
          <a:xfrm>
            <a:off x="356616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2. Sơ Đồ Bàn Tiệc &amp; Đón Tiếp Sự Kiện</a:t>
            </a:r>
            <a:endParaRPr lang="en-US" sz="1100" dirty="0"/>
          </a:p>
        </p:txBody>
      </p:sp>
      <p:sp>
        <p:nvSpPr>
          <p:cNvPr id="13" name="Text 9"/>
          <p:cNvSpPr/>
          <p:nvPr/>
        </p:nvSpPr>
        <p:spPr>
          <a:xfrm>
            <a:off x="356616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Bố trí sơ đồ bàn tiệc VIP, xếp vị trí danh dự từng đại biểu, đón tiếp khách mời bằng mã vé điện tử nhanh chóng.</a:t>
            </a:r>
            <a:endParaRPr lang="en-US" sz="950" dirty="0"/>
          </a:p>
        </p:txBody>
      </p:sp>
      <p:sp>
        <p:nvSpPr>
          <p:cNvPr id="14" name="Shape 10"/>
          <p:cNvSpPr/>
          <p:nvPr/>
        </p:nvSpPr>
        <p:spPr>
          <a:xfrm>
            <a:off x="6126480" y="1554480"/>
            <a:ext cx="2514600" cy="4663440"/>
          </a:xfrm>
          <a:prstGeom prst="rect">
            <a:avLst>
              <a:gd name="adj" fmla="val 7273"/>
            </a:avLst>
          </a:prstGeom>
          <a:solidFill>
            <a:srgbClr val="FFFFFF"/>
          </a:solidFill>
          <a:ln w="19050">
            <a:solidFill>
              <a:srgbClr val="E2E8F0"/>
            </a:solidFill>
            <a:prstDash val="solid"/>
          </a:ln>
        </p:spPr>
      </p:sp>
      <p:pic>
        <p:nvPicPr>
          <p:cNvPr id="15" name="Image 2" descr="D:\download\VICONNECT\CEO_VIONE_PROJECT\ceo1983_project\document\images\guide_crm\17_giao_viec_nhiem_vu_kanban.png">    </p:cNvPr>
          <p:cNvPicPr>
            <a:picLocks noChangeAspect="1"/>
          </p:cNvPicPr>
          <p:nvPr/>
        </p:nvPicPr>
        <p:blipFill>
          <a:blip r:embed="rId3"/>
          <a:stretch>
            <a:fillRect/>
          </a:stretch>
        </p:blipFill>
        <p:spPr>
          <a:xfrm>
            <a:off x="6263640" y="1737360"/>
            <a:ext cx="2240280" cy="2011680"/>
          </a:xfrm>
          <a:prstGeom prst="rect">
            <a:avLst/>
          </a:prstGeom>
        </p:spPr>
      </p:pic>
      <p:sp>
        <p:nvSpPr>
          <p:cNvPr id="16" name="Text 11"/>
          <p:cNvSpPr/>
          <p:nvPr/>
        </p:nvSpPr>
        <p:spPr>
          <a:xfrm>
            <a:off x="626364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3. Phân Công Nhiệm Vụ &amp; Điều Hành Ban</a:t>
            </a:r>
            <a:endParaRPr lang="en-US" sz="1100" dirty="0"/>
          </a:p>
        </p:txBody>
      </p:sp>
      <p:sp>
        <p:nvSpPr>
          <p:cNvPr id="17" name="Text 12"/>
          <p:cNvSpPr/>
          <p:nvPr/>
        </p:nvSpPr>
        <p:spPr>
          <a:xfrm>
            <a:off x="626364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Giao việc rõ người chịu trách nhiệm, theo dõi tiến độ và thời hạn hoàn thành, đính kèm tài liệu họp đầy đủ.</a:t>
            </a:r>
            <a:endParaRPr lang="en-US" sz="950" dirty="0"/>
          </a:p>
        </p:txBody>
      </p:sp>
      <p:sp>
        <p:nvSpPr>
          <p:cNvPr id="18" name="Shape 13"/>
          <p:cNvSpPr/>
          <p:nvPr/>
        </p:nvSpPr>
        <p:spPr>
          <a:xfrm>
            <a:off x="8823960" y="1554480"/>
            <a:ext cx="2514600" cy="4663440"/>
          </a:xfrm>
          <a:prstGeom prst="rect">
            <a:avLst>
              <a:gd name="adj" fmla="val 7273"/>
            </a:avLst>
          </a:prstGeom>
          <a:solidFill>
            <a:srgbClr val="FFFFFF"/>
          </a:solidFill>
          <a:ln w="19050">
            <a:solidFill>
              <a:srgbClr val="E2E8F0"/>
            </a:solidFill>
            <a:prstDash val="solid"/>
          </a:ln>
        </p:spPr>
      </p:sp>
      <p:pic>
        <p:nvPicPr>
          <p:cNvPr id="19" name="Image 3" descr="D:\download\VICONNECT\CEO_VIONE_PROJECT\ceo1983_project\document\images\guide_crm\19_quan_ly_so_quy_thu_chi.png">    </p:cNvPr>
          <p:cNvPicPr>
            <a:picLocks noChangeAspect="1"/>
          </p:cNvPicPr>
          <p:nvPr/>
        </p:nvPicPr>
        <p:blipFill>
          <a:blip r:embed="rId4"/>
          <a:stretch>
            <a:fillRect/>
          </a:stretch>
        </p:blipFill>
        <p:spPr>
          <a:xfrm>
            <a:off x="8961120" y="1737360"/>
            <a:ext cx="2240280" cy="2011680"/>
          </a:xfrm>
          <a:prstGeom prst="rect">
            <a:avLst/>
          </a:prstGeom>
        </p:spPr>
      </p:pic>
      <p:sp>
        <p:nvSpPr>
          <p:cNvPr id="20" name="Text 14"/>
          <p:cNvSpPr/>
          <p:nvPr/>
        </p:nvSpPr>
        <p:spPr>
          <a:xfrm>
            <a:off x="896112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4. Quản Lý Thu Chi &amp; Sổ Quỹ Tự Động</a:t>
            </a:r>
            <a:endParaRPr lang="en-US" sz="1100" dirty="0"/>
          </a:p>
        </p:txBody>
      </p:sp>
      <p:sp>
        <p:nvSpPr>
          <p:cNvPr id="21" name="Text 15"/>
          <p:cNvSpPr/>
          <p:nvPr/>
        </p:nvSpPr>
        <p:spPr>
          <a:xfrm>
            <a:off x="896112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Quản lý thu hội phí, tiền tài trợ và chi phí sự kiện; tự động đối soát ngân hàng và báo cáo tài chính minh bạch.</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PHÂN HỆ ỨNG DỤNG DOANH NHÂN</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PHÂN HỆ MOBILE APP: VĂN PHÒNG DOANH NHÂN BỎ TÚI CỦA TỪNG CEO</a:t>
            </a:r>
            <a:endParaRPr lang="en-US" sz="2000" dirty="0"/>
          </a:p>
        </p:txBody>
      </p:sp>
      <p:sp>
        <p:nvSpPr>
          <p:cNvPr id="6" name="Shape 4"/>
          <p:cNvSpPr/>
          <p:nvPr/>
        </p:nvSpPr>
        <p:spPr>
          <a:xfrm>
            <a:off x="731520" y="1554480"/>
            <a:ext cx="2514600" cy="4663440"/>
          </a:xfrm>
          <a:prstGeom prst="rect">
            <a:avLst>
              <a:gd name="adj" fmla="val 7273"/>
            </a:avLst>
          </a:prstGeom>
          <a:solidFill>
            <a:srgbClr val="FFFFFF"/>
          </a:solidFill>
          <a:ln w="19050">
            <a:solidFill>
              <a:srgbClr val="E2E8F0"/>
            </a:solidFill>
            <a:prstDash val="solid"/>
          </a:ln>
        </p:spPr>
      </p:sp>
      <p:pic>
        <p:nvPicPr>
          <p:cNvPr id="7" name="Image 0" descr="D:\download\VICONNECT\CEO_VIONE_PROJECT\ceo1983_project\document\images\guide_mobile\05_the_hoi_vien_vip_mat_truoc.png">    </p:cNvPr>
          <p:cNvPicPr>
            <a:picLocks noChangeAspect="1"/>
          </p:cNvPicPr>
          <p:nvPr/>
        </p:nvPicPr>
        <p:blipFill>
          <a:blip r:embed="rId1"/>
          <a:stretch>
            <a:fillRect/>
          </a:stretch>
        </p:blipFill>
        <p:spPr>
          <a:xfrm>
            <a:off x="868680" y="1737360"/>
            <a:ext cx="2240280" cy="2011680"/>
          </a:xfrm>
          <a:prstGeom prst="rect">
            <a:avLst/>
          </a:prstGeom>
        </p:spPr>
      </p:pic>
      <p:sp>
        <p:nvSpPr>
          <p:cNvPr id="8" name="Text 5"/>
          <p:cNvSpPr/>
          <p:nvPr/>
        </p:nvSpPr>
        <p:spPr>
          <a:xfrm>
            <a:off x="86868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1. Thẻ Hội Viên &amp; Danh Thiếp Số Tiện Lợi</a:t>
            </a:r>
            <a:endParaRPr lang="en-US" sz="1100" dirty="0"/>
          </a:p>
        </p:txBody>
      </p:sp>
      <p:sp>
        <p:nvSpPr>
          <p:cNvPr id="9" name="Text 6"/>
          <p:cNvSpPr/>
          <p:nvPr/>
        </p:nvSpPr>
        <p:spPr>
          <a:xfrm>
            <a:off x="86868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Thẻ số nhận diện sang trọng, tích hợp mã QR cá nhân giúp đối tác lưu danh bạ tức thì mà không cần cài app.</a:t>
            </a:r>
            <a:endParaRPr lang="en-US" sz="950" dirty="0"/>
          </a:p>
        </p:txBody>
      </p:sp>
      <p:sp>
        <p:nvSpPr>
          <p:cNvPr id="10" name="Shape 7"/>
          <p:cNvSpPr/>
          <p:nvPr/>
        </p:nvSpPr>
        <p:spPr>
          <a:xfrm>
            <a:off x="3429000" y="1554480"/>
            <a:ext cx="2514600" cy="4663440"/>
          </a:xfrm>
          <a:prstGeom prst="rect">
            <a:avLst>
              <a:gd name="adj" fmla="val 7273"/>
            </a:avLst>
          </a:prstGeom>
          <a:solidFill>
            <a:srgbClr val="FFFFFF"/>
          </a:solidFill>
          <a:ln w="19050">
            <a:solidFill>
              <a:srgbClr val="E2E8F0"/>
            </a:solidFill>
            <a:prstDash val="solid"/>
          </a:ln>
        </p:spPr>
      </p:sp>
      <p:pic>
        <p:nvPicPr>
          <p:cNvPr id="11" name="Image 1" descr="D:\download\VICONNECT\CEO_VIONE_PROJECT\ceo1983_project\document\images\guide_mobile\12_san_giao_thuong_b2b.png">    </p:cNvPr>
          <p:cNvPicPr>
            <a:picLocks noChangeAspect="1"/>
          </p:cNvPicPr>
          <p:nvPr/>
        </p:nvPicPr>
        <p:blipFill>
          <a:blip r:embed="rId2"/>
          <a:stretch>
            <a:fillRect/>
          </a:stretch>
        </p:blipFill>
        <p:spPr>
          <a:xfrm>
            <a:off x="3566160" y="1737360"/>
            <a:ext cx="2240280" cy="2011680"/>
          </a:xfrm>
          <a:prstGeom prst="rect">
            <a:avLst/>
          </a:prstGeom>
        </p:spPr>
      </p:pic>
      <p:sp>
        <p:nvSpPr>
          <p:cNvPr id="12" name="Text 8"/>
          <p:cNvSpPr/>
          <p:nvPr/>
        </p:nvSpPr>
        <p:spPr>
          <a:xfrm>
            <a:off x="356616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2. Sàn Giao Thương B2B &amp; Ưu Đãi Nội Khối</a:t>
            </a:r>
            <a:endParaRPr lang="en-US" sz="1100" dirty="0"/>
          </a:p>
        </p:txBody>
      </p:sp>
      <p:sp>
        <p:nvSpPr>
          <p:cNvPr id="13" name="Text 9"/>
          <p:cNvSpPr/>
          <p:nvPr/>
        </p:nvSpPr>
        <p:spPr>
          <a:xfrm>
            <a:off x="356616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Gian hàng giới thiệu giải pháp mũi nhọn của từng doanh nghiệp, cam kết chiết khấu ưu đãi cho cộng đồng CEO 1983.</a:t>
            </a:r>
            <a:endParaRPr lang="en-US" sz="950" dirty="0"/>
          </a:p>
        </p:txBody>
      </p:sp>
      <p:sp>
        <p:nvSpPr>
          <p:cNvPr id="14" name="Shape 10"/>
          <p:cNvSpPr/>
          <p:nvPr/>
        </p:nvSpPr>
        <p:spPr>
          <a:xfrm>
            <a:off x="6126480" y="1554480"/>
            <a:ext cx="2514600" cy="4663440"/>
          </a:xfrm>
          <a:prstGeom prst="rect">
            <a:avLst>
              <a:gd name="adj" fmla="val 7273"/>
            </a:avLst>
          </a:prstGeom>
          <a:solidFill>
            <a:srgbClr val="FFFFFF"/>
          </a:solidFill>
          <a:ln w="19050">
            <a:solidFill>
              <a:srgbClr val="E2E8F0"/>
            </a:solidFill>
            <a:prstDash val="solid"/>
          </a:ln>
        </p:spPr>
      </p:sp>
      <p:pic>
        <p:nvPicPr>
          <p:cNvPr id="15" name="Image 2" descr="D:\download\VICONNECT\CEO_VIONE_PROJECT\ceo1983_project\document\images\guide_mobile\11_ve_dien_tu_qr_checkin.png">    </p:cNvPr>
          <p:cNvPicPr>
            <a:picLocks noChangeAspect="1"/>
          </p:cNvPicPr>
          <p:nvPr/>
        </p:nvPicPr>
        <p:blipFill>
          <a:blip r:embed="rId3"/>
          <a:stretch>
            <a:fillRect/>
          </a:stretch>
        </p:blipFill>
        <p:spPr>
          <a:xfrm>
            <a:off x="6263640" y="1737360"/>
            <a:ext cx="2240280" cy="2011680"/>
          </a:xfrm>
          <a:prstGeom prst="rect">
            <a:avLst/>
          </a:prstGeom>
        </p:spPr>
      </p:pic>
      <p:sp>
        <p:nvSpPr>
          <p:cNvPr id="16" name="Text 11"/>
          <p:cNvSpPr/>
          <p:nvPr/>
        </p:nvSpPr>
        <p:spPr>
          <a:xfrm>
            <a:off x="626364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3. Ví Vé Sự Kiện &amp; Bốc Thăm May Mắn</a:t>
            </a:r>
            <a:endParaRPr lang="en-US" sz="1100" dirty="0"/>
          </a:p>
        </p:txBody>
      </p:sp>
      <p:sp>
        <p:nvSpPr>
          <p:cNvPr id="17" name="Text 12"/>
          <p:cNvSpPr/>
          <p:nvPr/>
        </p:nvSpPr>
        <p:spPr>
          <a:xfrm>
            <a:off x="626364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Lưu vé mời điện tử, thông báo trước số bàn tiệc và số ghế danh dự; tự động kích hoạt mã may mắn khi vào cửa.</a:t>
            </a:r>
            <a:endParaRPr lang="en-US" sz="950" dirty="0"/>
          </a:p>
        </p:txBody>
      </p:sp>
      <p:sp>
        <p:nvSpPr>
          <p:cNvPr id="18" name="Shape 13"/>
          <p:cNvSpPr/>
          <p:nvPr/>
        </p:nvSpPr>
        <p:spPr>
          <a:xfrm>
            <a:off x="8823960" y="1554480"/>
            <a:ext cx="2514600" cy="4663440"/>
          </a:xfrm>
          <a:prstGeom prst="rect">
            <a:avLst>
              <a:gd name="adj" fmla="val 7273"/>
            </a:avLst>
          </a:prstGeom>
          <a:solidFill>
            <a:srgbClr val="FFFFFF"/>
          </a:solidFill>
          <a:ln w="19050">
            <a:solidFill>
              <a:srgbClr val="E2E8F0"/>
            </a:solidFill>
            <a:prstDash val="solid"/>
          </a:ln>
        </p:spPr>
      </p:sp>
      <p:pic>
        <p:nvPicPr>
          <p:cNvPr id="19" name="Image 3" descr="D:\download\VICONNECT\CEO_VIONE_PROJECT\ceo1983_project\document\images\guide_mobile\07_danh_ba_hoi_vien.png">    </p:cNvPr>
          <p:cNvPicPr>
            <a:picLocks noChangeAspect="1"/>
          </p:cNvPicPr>
          <p:nvPr/>
        </p:nvPicPr>
        <p:blipFill>
          <a:blip r:embed="rId4"/>
          <a:stretch>
            <a:fillRect/>
          </a:stretch>
        </p:blipFill>
        <p:spPr>
          <a:xfrm>
            <a:off x="8961120" y="1737360"/>
            <a:ext cx="2240280" cy="2011680"/>
          </a:xfrm>
          <a:prstGeom prst="rect">
            <a:avLst/>
          </a:prstGeom>
        </p:spPr>
      </p:pic>
      <p:sp>
        <p:nvSpPr>
          <p:cNvPr id="20" name="Text 14"/>
          <p:cNvSpPr/>
          <p:nvPr/>
        </p:nvSpPr>
        <p:spPr>
          <a:xfrm>
            <a:off x="8961120" y="3931920"/>
            <a:ext cx="2240280" cy="64008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4. Danh Bạ Lãnh Đạo &amp; Hẹn Gặp 1-on-1</a:t>
            </a:r>
            <a:endParaRPr lang="en-US" sz="1100" dirty="0"/>
          </a:p>
        </p:txBody>
      </p:sp>
      <p:sp>
        <p:nvSpPr>
          <p:cNvPr id="21" name="Text 15"/>
          <p:cNvSpPr/>
          <p:nvPr/>
        </p:nvSpPr>
        <p:spPr>
          <a:xfrm>
            <a:off x="8961120" y="4663440"/>
            <a:ext cx="2240280" cy="1371600"/>
          </a:xfrm>
          <a:prstGeom prst="rect">
            <a:avLst/>
          </a:prstGeom>
          <a:noFill/>
          <a:ln/>
        </p:spPr>
        <p:txBody>
          <a:bodyPr wrap="square" rtlCol="0" anchor="ctr"/>
          <a:lstStyle/>
          <a:p>
            <a:pPr indent="0" marL="0">
              <a:buNone/>
            </a:pPr>
            <a:r>
              <a:rPr lang="en-US" sz="950" dirty="0">
                <a:solidFill>
                  <a:srgbClr val="475569"/>
                </a:solidFill>
                <a:latin typeface="Arial" pitchFamily="34" charset="0"/>
                <a:ea typeface="Arial" pitchFamily="34" charset="-122"/>
                <a:cs typeface="Arial" pitchFamily="34" charset="-120"/>
              </a:rPr>
              <a:t>Tìm kiếm đối tác chính danh theo 11 ngành nghề, gửi lời mời cà phê kết nối tự động cập nhật vào lịch làm việc.</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GIÁ TRỊ GIA TĂNG THỰC TIỄN</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5 ĐIỂM SÁNG NÂNG TẦM TRẢI NGHIỆM VẬN HÀNH &amp; HỘI VIÊN</a:t>
            </a:r>
            <a:endParaRPr lang="en-US" sz="2000" dirty="0"/>
          </a:p>
        </p:txBody>
      </p:sp>
      <p:sp>
        <p:nvSpPr>
          <p:cNvPr id="6" name="Shape 4"/>
          <p:cNvSpPr/>
          <p:nvPr/>
        </p:nvSpPr>
        <p:spPr>
          <a:xfrm>
            <a:off x="731520" y="1554480"/>
            <a:ext cx="2011680" cy="4663440"/>
          </a:xfrm>
          <a:prstGeom prst="rect">
            <a:avLst>
              <a:gd name="adj" fmla="val 9091"/>
            </a:avLst>
          </a:prstGeom>
          <a:solidFill>
            <a:srgbClr val="FFFFFF"/>
          </a:solidFill>
          <a:ln w="25400">
            <a:solidFill>
              <a:srgbClr val="00D2FF"/>
            </a:solidFill>
            <a:prstDash val="solid"/>
          </a:ln>
        </p:spPr>
      </p:sp>
      <p:sp>
        <p:nvSpPr>
          <p:cNvPr id="7" name="Text 5"/>
          <p:cNvSpPr/>
          <p:nvPr/>
        </p:nvSpPr>
        <p:spPr>
          <a:xfrm>
            <a:off x="868680" y="1828800"/>
            <a:ext cx="1737360" cy="91440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01. Thu Chi &amp; Đóng Phí Tự Động Bằng Mã QR</a:t>
            </a:r>
            <a:endParaRPr lang="en-US" sz="1100" dirty="0"/>
          </a:p>
        </p:txBody>
      </p:sp>
      <p:sp>
        <p:nvSpPr>
          <p:cNvPr id="8" name="Text 6"/>
          <p:cNvSpPr/>
          <p:nvPr/>
        </p:nvSpPr>
        <p:spPr>
          <a:xfrm>
            <a:off x="868680" y="2834640"/>
            <a:ext cx="1737360" cy="3108960"/>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Tự động tạo mã QR thanh toán đúng số tiền và nội dung, hệ thống ghi nhận đã thu tiền ngay khi giao dịch thành công, đối soát sổ quỹ chính xác 100%.</a:t>
            </a:r>
            <a:endParaRPr lang="en-US" sz="950" dirty="0"/>
          </a:p>
        </p:txBody>
      </p:sp>
      <p:sp>
        <p:nvSpPr>
          <p:cNvPr id="9" name="Shape 7"/>
          <p:cNvSpPr/>
          <p:nvPr/>
        </p:nvSpPr>
        <p:spPr>
          <a:xfrm>
            <a:off x="2880360" y="1554480"/>
            <a:ext cx="2011680" cy="4663440"/>
          </a:xfrm>
          <a:prstGeom prst="rect">
            <a:avLst>
              <a:gd name="adj" fmla="val 9091"/>
            </a:avLst>
          </a:prstGeom>
          <a:solidFill>
            <a:srgbClr val="FFFFFF"/>
          </a:solidFill>
          <a:ln w="25400">
            <a:solidFill>
              <a:srgbClr val="00D2FF"/>
            </a:solidFill>
            <a:prstDash val="solid"/>
          </a:ln>
        </p:spPr>
      </p:sp>
      <p:sp>
        <p:nvSpPr>
          <p:cNvPr id="10" name="Text 8"/>
          <p:cNvSpPr/>
          <p:nvPr/>
        </p:nvSpPr>
        <p:spPr>
          <a:xfrm>
            <a:off x="3017520" y="1828800"/>
            <a:ext cx="1737360" cy="91440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02. Sơ Đồ Xếp Bàn Tiệc &amp; Chỗ Ngồi Gala Chu Đáo</a:t>
            </a:r>
            <a:endParaRPr lang="en-US" sz="1100" dirty="0"/>
          </a:p>
        </p:txBody>
      </p:sp>
      <p:sp>
        <p:nvSpPr>
          <p:cNvPr id="11" name="Text 9"/>
          <p:cNvSpPr/>
          <p:nvPr/>
        </p:nvSpPr>
        <p:spPr>
          <a:xfrm>
            <a:off x="3017520" y="2834640"/>
            <a:ext cx="1737360" cy="3108960"/>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Ban tổ chức chủ động xếp chỗ trước theo bàn VIP và nhóm ngành nghề; khách đến sự kiện biết ngay vị trí ngồi của mình, tránh nhầm lẫn.</a:t>
            </a:r>
            <a:endParaRPr lang="en-US" sz="950" dirty="0"/>
          </a:p>
        </p:txBody>
      </p:sp>
      <p:sp>
        <p:nvSpPr>
          <p:cNvPr id="12" name="Shape 10"/>
          <p:cNvSpPr/>
          <p:nvPr/>
        </p:nvSpPr>
        <p:spPr>
          <a:xfrm>
            <a:off x="5029200" y="1554480"/>
            <a:ext cx="2011680" cy="4663440"/>
          </a:xfrm>
          <a:prstGeom prst="rect">
            <a:avLst>
              <a:gd name="adj" fmla="val 9091"/>
            </a:avLst>
          </a:prstGeom>
          <a:solidFill>
            <a:srgbClr val="FFFFFF"/>
          </a:solidFill>
          <a:ln w="25400">
            <a:solidFill>
              <a:srgbClr val="00D2FF"/>
            </a:solidFill>
            <a:prstDash val="solid"/>
          </a:ln>
        </p:spPr>
      </p:sp>
      <p:sp>
        <p:nvSpPr>
          <p:cNvPr id="13" name="Text 11"/>
          <p:cNvSpPr/>
          <p:nvPr/>
        </p:nvSpPr>
        <p:spPr>
          <a:xfrm>
            <a:off x="5166360" y="1828800"/>
            <a:ext cx="1737360" cy="91440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03. Trợ Lý Số Hướng Dẫn Hội Viên 24/7</a:t>
            </a:r>
            <a:endParaRPr lang="en-US" sz="1100" dirty="0"/>
          </a:p>
        </p:txBody>
      </p:sp>
      <p:sp>
        <p:nvSpPr>
          <p:cNvPr id="14" name="Text 12"/>
          <p:cNvSpPr/>
          <p:nvPr/>
        </p:nvSpPr>
        <p:spPr>
          <a:xfrm>
            <a:off x="5166360" y="2834640"/>
            <a:ext cx="1737360" cy="3108960"/>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Hỗ trợ hội viên tra cứu nhanh thông tin sự kiện sắp diễn ra, thông tin hội đồng, liên hệ Ban Thư Ký và tìm kiếm các đối tác tiềm năng.</a:t>
            </a:r>
            <a:endParaRPr lang="en-US" sz="950" dirty="0"/>
          </a:p>
        </p:txBody>
      </p:sp>
      <p:sp>
        <p:nvSpPr>
          <p:cNvPr id="15" name="Shape 13"/>
          <p:cNvSpPr/>
          <p:nvPr/>
        </p:nvSpPr>
        <p:spPr>
          <a:xfrm>
            <a:off x="7178040" y="1554480"/>
            <a:ext cx="2011680" cy="4663440"/>
          </a:xfrm>
          <a:prstGeom prst="rect">
            <a:avLst>
              <a:gd name="adj" fmla="val 9091"/>
            </a:avLst>
          </a:prstGeom>
          <a:solidFill>
            <a:srgbClr val="FFFFFF"/>
          </a:solidFill>
          <a:ln w="25400">
            <a:solidFill>
              <a:srgbClr val="00D2FF"/>
            </a:solidFill>
            <a:prstDash val="solid"/>
          </a:ln>
        </p:spPr>
      </p:sp>
      <p:sp>
        <p:nvSpPr>
          <p:cNvPr id="16" name="Text 14"/>
          <p:cNvSpPr/>
          <p:nvPr/>
        </p:nvSpPr>
        <p:spPr>
          <a:xfrm>
            <a:off x="7315200" y="1828800"/>
            <a:ext cx="1737360" cy="91440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04. Kênh Trao Đổi &amp; Liên Lạc Nội Bộ Riêng Tư</a:t>
            </a:r>
            <a:endParaRPr lang="en-US" sz="1100" dirty="0"/>
          </a:p>
        </p:txBody>
      </p:sp>
      <p:sp>
        <p:nvSpPr>
          <p:cNvPr id="17" name="Text 15"/>
          <p:cNvSpPr/>
          <p:nvPr/>
        </p:nvSpPr>
        <p:spPr>
          <a:xfrm>
            <a:off x="7315200" y="2834640"/>
            <a:ext cx="1737360" cy="3108960"/>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Gọi điện thoại và trao đổi trực tiếp giữa các Chủ tịch &amp; CEO hội viên, bảo mật tuyệt đối, giữ gìn tính riêng tư trong các cuộc thảo luận kinh doanh.</a:t>
            </a:r>
            <a:endParaRPr lang="en-US" sz="950" dirty="0"/>
          </a:p>
        </p:txBody>
      </p:sp>
      <p:sp>
        <p:nvSpPr>
          <p:cNvPr id="18" name="Shape 16"/>
          <p:cNvSpPr/>
          <p:nvPr/>
        </p:nvSpPr>
        <p:spPr>
          <a:xfrm>
            <a:off x="9326880" y="1554480"/>
            <a:ext cx="2011680" cy="4663440"/>
          </a:xfrm>
          <a:prstGeom prst="rect">
            <a:avLst>
              <a:gd name="adj" fmla="val 9091"/>
            </a:avLst>
          </a:prstGeom>
          <a:solidFill>
            <a:srgbClr val="FFFFFF"/>
          </a:solidFill>
          <a:ln w="25400">
            <a:solidFill>
              <a:srgbClr val="00D2FF"/>
            </a:solidFill>
            <a:prstDash val="solid"/>
          </a:ln>
        </p:spPr>
      </p:sp>
      <p:sp>
        <p:nvSpPr>
          <p:cNvPr id="19" name="Text 17"/>
          <p:cNvSpPr/>
          <p:nvPr/>
        </p:nvSpPr>
        <p:spPr>
          <a:xfrm>
            <a:off x="9464040" y="1828800"/>
            <a:ext cx="1737360" cy="914400"/>
          </a:xfrm>
          <a:prstGeom prst="rect">
            <a:avLst/>
          </a:prstGeom>
          <a:noFill/>
          <a:ln/>
        </p:spPr>
        <p:txBody>
          <a:bodyPr wrap="square" rtlCol="0" anchor="ctr"/>
          <a:lstStyle/>
          <a:p>
            <a:pPr indent="0" marL="0">
              <a:buNone/>
            </a:pPr>
            <a:r>
              <a:rPr lang="en-US" sz="1100" b="1" dirty="0">
                <a:solidFill>
                  <a:srgbClr val="001F54"/>
                </a:solidFill>
                <a:latin typeface="Arial" pitchFamily="34" charset="0"/>
                <a:ea typeface="Arial" pitchFamily="34" charset="-122"/>
                <a:cs typeface="Arial" pitchFamily="34" charset="-120"/>
              </a:rPr>
              <a:t>05. Phân Quyền Vận Hành Theo Đúng 6 Ban Chuyên Môn</a:t>
            </a:r>
            <a:endParaRPr lang="en-US" sz="1100" dirty="0"/>
          </a:p>
        </p:txBody>
      </p:sp>
      <p:sp>
        <p:nvSpPr>
          <p:cNvPr id="20" name="Text 18"/>
          <p:cNvSpPr/>
          <p:nvPr/>
        </p:nvSpPr>
        <p:spPr>
          <a:xfrm>
            <a:off x="9464040" y="2834640"/>
            <a:ext cx="1737360" cy="3108960"/>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Ban Lãnh Đạo nắm toàn cảnh hệ thống; các Trưởng Ban và Thành viên chỉ xem và xử lý đúng nghiệp vụ của ban mình, bảo vệ an toàn thông tin.</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3"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4"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KẾ HOẠCH TRIỂN KHAI &amp; BÀN GIAO</a:t>
            </a:r>
            <a:endParaRPr lang="en-US" sz="1100" dirty="0"/>
          </a:p>
        </p:txBody>
      </p:sp>
      <p:sp>
        <p:nvSpPr>
          <p:cNvPr id="5" name="Text 3"/>
          <p:cNvSpPr/>
          <p:nvPr/>
        </p:nvSpPr>
        <p:spPr>
          <a:xfrm>
            <a:off x="731520" y="822960"/>
            <a:ext cx="10515600" cy="54864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LỘ TRÌNH ĐỒNG HÀNH BỀN VỮNG CÙNG HANOIBA</a:t>
            </a:r>
            <a:endParaRPr lang="en-US" sz="2000" dirty="0"/>
          </a:p>
        </p:txBody>
      </p:sp>
      <p:sp>
        <p:nvSpPr>
          <p:cNvPr id="6" name="Shape 4"/>
          <p:cNvSpPr/>
          <p:nvPr/>
        </p:nvSpPr>
        <p:spPr>
          <a:xfrm>
            <a:off x="731520" y="1554480"/>
            <a:ext cx="2514600" cy="4663440"/>
          </a:xfrm>
          <a:prstGeom prst="rect">
            <a:avLst>
              <a:gd name="adj" fmla="val 7273"/>
            </a:avLst>
          </a:prstGeom>
          <a:solidFill>
            <a:srgbClr val="FFFFFF"/>
          </a:solidFill>
          <a:ln w="19050">
            <a:solidFill>
              <a:srgbClr val="E2E8F0"/>
            </a:solidFill>
            <a:prstDash val="solid"/>
          </a:ln>
        </p:spPr>
      </p:sp>
      <p:sp>
        <p:nvSpPr>
          <p:cNvPr id="7" name="Text 5"/>
          <p:cNvSpPr/>
          <p:nvPr/>
        </p:nvSpPr>
        <p:spPr>
          <a:xfrm>
            <a:off x="868680" y="1828800"/>
            <a:ext cx="2240280" cy="731520"/>
          </a:xfrm>
          <a:prstGeom prst="rect">
            <a:avLst/>
          </a:prstGeom>
          <a:noFill/>
          <a:ln/>
        </p:spPr>
        <p:txBody>
          <a:bodyPr wrap="square" rtlCol="0" anchor="ctr"/>
          <a:lstStyle/>
          <a:p>
            <a:pPr indent="0" marL="0">
              <a:buNone/>
            </a:pPr>
            <a:r>
              <a:rPr lang="en-US" sz="1100" b="1" dirty="0">
                <a:solidFill>
                  <a:srgbClr val="F59E0B"/>
                </a:solidFill>
                <a:latin typeface="Arial" pitchFamily="34" charset="0"/>
                <a:ea typeface="Arial" pitchFamily="34" charset="-122"/>
                <a:cs typeface="Arial" pitchFamily="34" charset="-120"/>
              </a:rPr>
              <a:t>GIAI ĐOẠN 1</a:t>
            </a:r>
            <a:endParaRPr lang="en-US" sz="1100" dirty="0"/>
          </a:p>
          <a:p>
            <a:pPr indent="0" marL="0">
              <a:buNone/>
            </a:pPr>
            <a:r>
              <a:rPr lang="en-US" sz="1100" b="1" dirty="0">
                <a:solidFill>
                  <a:srgbClr val="F59E0B"/>
                </a:solidFill>
                <a:latin typeface="Arial" pitchFamily="34" charset="0"/>
                <a:ea typeface="Arial" pitchFamily="34" charset="-122"/>
                <a:cs typeface="Arial" pitchFamily="34" charset="-120"/>
              </a:rPr>
              <a:t>21/10/2026</a:t>
            </a:r>
            <a:endParaRPr lang="en-US" sz="1100" dirty="0"/>
          </a:p>
        </p:txBody>
      </p:sp>
      <p:sp>
        <p:nvSpPr>
          <p:cNvPr id="8" name="Text 6"/>
          <p:cNvSpPr/>
          <p:nvPr/>
        </p:nvSpPr>
        <p:spPr>
          <a:xfrm>
            <a:off x="868680" y="2743200"/>
            <a:ext cx="2240280" cy="822960"/>
          </a:xfrm>
          <a:prstGeom prst="rect">
            <a:avLst/>
          </a:prstGeom>
          <a:noFill/>
          <a:ln/>
        </p:spPr>
        <p:txBody>
          <a:bodyPr wrap="square" rtlCol="0" anchor="ctr"/>
          <a:lstStyle/>
          <a:p>
            <a:pPr indent="0" marL="0">
              <a:buNone/>
            </a:pPr>
            <a:r>
              <a:rPr lang="en-US" sz="1200" b="1" dirty="0">
                <a:solidFill>
                  <a:srgbClr val="001F54"/>
                </a:solidFill>
                <a:latin typeface="Arial" pitchFamily="34" charset="0"/>
                <a:ea typeface="Arial" pitchFamily="34" charset="-122"/>
                <a:cs typeface="Arial" pitchFamily="34" charset="-120"/>
              </a:rPr>
              <a:t>Họp Báo Cáo Demo &amp; Tiếp Thu Góp Ý</a:t>
            </a:r>
            <a:endParaRPr lang="en-US" sz="1200" dirty="0"/>
          </a:p>
        </p:txBody>
      </p:sp>
      <p:sp>
        <p:nvSpPr>
          <p:cNvPr id="9" name="Text 7"/>
          <p:cNvSpPr/>
          <p:nvPr/>
        </p:nvSpPr>
        <p:spPr>
          <a:xfrm>
            <a:off x="868680" y="3657600"/>
            <a:ext cx="2240280" cy="228600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Báo cáo trực tiếp tại HDI Mạc Thái Tông; lắng nghe ý kiến phản hồi từ Ban Lãnh Đạo để hoàn thiện sản phẩm.</a:t>
            </a:r>
            <a:endParaRPr lang="en-US" sz="1000" dirty="0"/>
          </a:p>
        </p:txBody>
      </p:sp>
      <p:sp>
        <p:nvSpPr>
          <p:cNvPr id="10" name="Shape 8"/>
          <p:cNvSpPr/>
          <p:nvPr/>
        </p:nvSpPr>
        <p:spPr>
          <a:xfrm>
            <a:off x="3429000" y="1554480"/>
            <a:ext cx="2514600" cy="4663440"/>
          </a:xfrm>
          <a:prstGeom prst="rect">
            <a:avLst>
              <a:gd name="adj" fmla="val 7273"/>
            </a:avLst>
          </a:prstGeom>
          <a:solidFill>
            <a:srgbClr val="FFFFFF"/>
          </a:solidFill>
          <a:ln w="19050">
            <a:solidFill>
              <a:srgbClr val="E2E8F0"/>
            </a:solidFill>
            <a:prstDash val="solid"/>
          </a:ln>
        </p:spPr>
      </p:sp>
      <p:sp>
        <p:nvSpPr>
          <p:cNvPr id="11" name="Text 9"/>
          <p:cNvSpPr/>
          <p:nvPr/>
        </p:nvSpPr>
        <p:spPr>
          <a:xfrm>
            <a:off x="3566160" y="1828800"/>
            <a:ext cx="2240280" cy="731520"/>
          </a:xfrm>
          <a:prstGeom prst="rect">
            <a:avLst/>
          </a:prstGeom>
          <a:noFill/>
          <a:ln/>
        </p:spPr>
        <p:txBody>
          <a:bodyPr wrap="square" rtlCol="0" anchor="ctr"/>
          <a:lstStyle/>
          <a:p>
            <a:pPr indent="0" marL="0">
              <a:buNone/>
            </a:pPr>
            <a:r>
              <a:rPr lang="en-US" sz="1100" b="1" dirty="0">
                <a:solidFill>
                  <a:srgbClr val="F59E0B"/>
                </a:solidFill>
                <a:latin typeface="Arial" pitchFamily="34" charset="0"/>
                <a:ea typeface="Arial" pitchFamily="34" charset="-122"/>
                <a:cs typeface="Arial" pitchFamily="34" charset="-120"/>
              </a:rPr>
              <a:t>GIAI ĐOẠN 2</a:t>
            </a:r>
            <a:endParaRPr lang="en-US" sz="1100" dirty="0"/>
          </a:p>
          <a:p>
            <a:pPr indent="0" marL="0">
              <a:buNone/>
            </a:pPr>
            <a:r>
              <a:rPr lang="en-US" sz="1100" b="1" dirty="0">
                <a:solidFill>
                  <a:srgbClr val="F59E0B"/>
                </a:solidFill>
                <a:latin typeface="Arial" pitchFamily="34" charset="0"/>
                <a:ea typeface="Arial" pitchFamily="34" charset="-122"/>
                <a:cs typeface="Arial" pitchFamily="34" charset="-120"/>
              </a:rPr>
              <a:t>22/10 – 30/10/2026</a:t>
            </a:r>
            <a:endParaRPr lang="en-US" sz="1100" dirty="0"/>
          </a:p>
        </p:txBody>
      </p:sp>
      <p:sp>
        <p:nvSpPr>
          <p:cNvPr id="12" name="Text 10"/>
          <p:cNvSpPr/>
          <p:nvPr/>
        </p:nvSpPr>
        <p:spPr>
          <a:xfrm>
            <a:off x="3566160" y="2743200"/>
            <a:ext cx="2240280" cy="822960"/>
          </a:xfrm>
          <a:prstGeom prst="rect">
            <a:avLst/>
          </a:prstGeom>
          <a:noFill/>
          <a:ln/>
        </p:spPr>
        <p:txBody>
          <a:bodyPr wrap="square" rtlCol="0" anchor="ctr"/>
          <a:lstStyle/>
          <a:p>
            <a:pPr indent="0" marL="0">
              <a:buNone/>
            </a:pPr>
            <a:r>
              <a:rPr lang="en-US" sz="1200" b="1" dirty="0">
                <a:solidFill>
                  <a:srgbClr val="001F54"/>
                </a:solidFill>
                <a:latin typeface="Arial" pitchFamily="34" charset="0"/>
                <a:ea typeface="Arial" pitchFamily="34" charset="-122"/>
                <a:cs typeface="Arial" pitchFamily="34" charset="-120"/>
              </a:rPr>
              <a:t>Nghiệm Thu Kỹ Thuật &amp; Đóng Gói Bộ Tài Liệu</a:t>
            </a:r>
            <a:endParaRPr lang="en-US" sz="1200" dirty="0"/>
          </a:p>
        </p:txBody>
      </p:sp>
      <p:sp>
        <p:nvSpPr>
          <p:cNvPr id="13" name="Text 11"/>
          <p:cNvSpPr/>
          <p:nvPr/>
        </p:nvSpPr>
        <p:spPr>
          <a:xfrm>
            <a:off x="3566160" y="3657600"/>
            <a:ext cx="2240280" cy="228600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Bàn giao 100% hồ sơ tài liệu kỹ thuật, hướng dẫn sử dụng Web CRM và Mobile App; đồng bộ cơ sở dữ liệu chính thức.</a:t>
            </a:r>
            <a:endParaRPr lang="en-US" sz="1000" dirty="0"/>
          </a:p>
        </p:txBody>
      </p:sp>
      <p:sp>
        <p:nvSpPr>
          <p:cNvPr id="14" name="Shape 12"/>
          <p:cNvSpPr/>
          <p:nvPr/>
        </p:nvSpPr>
        <p:spPr>
          <a:xfrm>
            <a:off x="6126480" y="1554480"/>
            <a:ext cx="2514600" cy="4663440"/>
          </a:xfrm>
          <a:prstGeom prst="rect">
            <a:avLst>
              <a:gd name="adj" fmla="val 7273"/>
            </a:avLst>
          </a:prstGeom>
          <a:solidFill>
            <a:srgbClr val="FFFFFF"/>
          </a:solidFill>
          <a:ln w="19050">
            <a:solidFill>
              <a:srgbClr val="E2E8F0"/>
            </a:solidFill>
            <a:prstDash val="solid"/>
          </a:ln>
        </p:spPr>
      </p:sp>
      <p:sp>
        <p:nvSpPr>
          <p:cNvPr id="15" name="Text 13"/>
          <p:cNvSpPr/>
          <p:nvPr/>
        </p:nvSpPr>
        <p:spPr>
          <a:xfrm>
            <a:off x="6263640" y="1828800"/>
            <a:ext cx="2240280" cy="731520"/>
          </a:xfrm>
          <a:prstGeom prst="rect">
            <a:avLst/>
          </a:prstGeom>
          <a:noFill/>
          <a:ln/>
        </p:spPr>
        <p:txBody>
          <a:bodyPr wrap="square" rtlCol="0" anchor="ctr"/>
          <a:lstStyle/>
          <a:p>
            <a:pPr indent="0" marL="0">
              <a:buNone/>
            </a:pPr>
            <a:r>
              <a:rPr lang="en-US" sz="1100" b="1" dirty="0">
                <a:solidFill>
                  <a:srgbClr val="F59E0B"/>
                </a:solidFill>
                <a:latin typeface="Arial" pitchFamily="34" charset="0"/>
                <a:ea typeface="Arial" pitchFamily="34" charset="-122"/>
                <a:cs typeface="Arial" pitchFamily="34" charset="-120"/>
              </a:rPr>
              <a:t>GIAI ĐOẠN 3</a:t>
            </a:r>
            <a:endParaRPr lang="en-US" sz="1100" dirty="0"/>
          </a:p>
          <a:p>
            <a:pPr indent="0" marL="0">
              <a:buNone/>
            </a:pPr>
            <a:r>
              <a:rPr lang="en-US" sz="1100" b="1" dirty="0">
                <a:solidFill>
                  <a:srgbClr val="F59E0B"/>
                </a:solidFill>
                <a:latin typeface="Arial" pitchFamily="34" charset="0"/>
                <a:ea typeface="Arial" pitchFamily="34" charset="-122"/>
                <a:cs typeface="Arial" pitchFamily="34" charset="-120"/>
              </a:rPr>
              <a:t>01/11 – 10/11/2026</a:t>
            </a:r>
            <a:endParaRPr lang="en-US" sz="1100" dirty="0"/>
          </a:p>
        </p:txBody>
      </p:sp>
      <p:sp>
        <p:nvSpPr>
          <p:cNvPr id="16" name="Text 14"/>
          <p:cNvSpPr/>
          <p:nvPr/>
        </p:nvSpPr>
        <p:spPr>
          <a:xfrm>
            <a:off x="6263640" y="2743200"/>
            <a:ext cx="2240280" cy="822960"/>
          </a:xfrm>
          <a:prstGeom prst="rect">
            <a:avLst/>
          </a:prstGeom>
          <a:noFill/>
          <a:ln/>
        </p:spPr>
        <p:txBody>
          <a:bodyPr wrap="square" rtlCol="0" anchor="ctr"/>
          <a:lstStyle/>
          <a:p>
            <a:pPr indent="0" marL="0">
              <a:buNone/>
            </a:pPr>
            <a:r>
              <a:rPr lang="en-US" sz="1200" b="1" dirty="0">
                <a:solidFill>
                  <a:srgbClr val="001F54"/>
                </a:solidFill>
                <a:latin typeface="Arial" pitchFamily="34" charset="0"/>
                <a:ea typeface="Arial" pitchFamily="34" charset="-122"/>
                <a:cs typeface="Arial" pitchFamily="34" charset="-120"/>
              </a:rPr>
              <a:t>Tập Huấn &amp; Chuyển Giao Quy Trình</a:t>
            </a:r>
            <a:endParaRPr lang="en-US" sz="1200" dirty="0"/>
          </a:p>
        </p:txBody>
      </p:sp>
      <p:sp>
        <p:nvSpPr>
          <p:cNvPr id="17" name="Text 15"/>
          <p:cNvSpPr/>
          <p:nvPr/>
        </p:nvSpPr>
        <p:spPr>
          <a:xfrm>
            <a:off x="6263640" y="3657600"/>
            <a:ext cx="2240280" cy="228600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Tập huấn trực tiếp cho Ban Thư Ký và các Trưởng Ban; chuyển giao quy trình vận hành sự kiện và quản trị tài chính.</a:t>
            </a:r>
            <a:endParaRPr lang="en-US" sz="1000" dirty="0"/>
          </a:p>
        </p:txBody>
      </p:sp>
      <p:sp>
        <p:nvSpPr>
          <p:cNvPr id="18" name="Shape 16"/>
          <p:cNvSpPr/>
          <p:nvPr/>
        </p:nvSpPr>
        <p:spPr>
          <a:xfrm>
            <a:off x="8823960" y="1554480"/>
            <a:ext cx="2514600" cy="4663440"/>
          </a:xfrm>
          <a:prstGeom prst="rect">
            <a:avLst>
              <a:gd name="adj" fmla="val 7273"/>
            </a:avLst>
          </a:prstGeom>
          <a:solidFill>
            <a:srgbClr val="FFFFFF"/>
          </a:solidFill>
          <a:ln w="19050">
            <a:solidFill>
              <a:srgbClr val="E2E8F0"/>
            </a:solidFill>
            <a:prstDash val="solid"/>
          </a:ln>
        </p:spPr>
      </p:sp>
      <p:sp>
        <p:nvSpPr>
          <p:cNvPr id="19" name="Text 17"/>
          <p:cNvSpPr/>
          <p:nvPr/>
        </p:nvSpPr>
        <p:spPr>
          <a:xfrm>
            <a:off x="8961120" y="1828800"/>
            <a:ext cx="2240280" cy="731520"/>
          </a:xfrm>
          <a:prstGeom prst="rect">
            <a:avLst/>
          </a:prstGeom>
          <a:noFill/>
          <a:ln/>
        </p:spPr>
        <p:txBody>
          <a:bodyPr wrap="square" rtlCol="0" anchor="ctr"/>
          <a:lstStyle/>
          <a:p>
            <a:pPr indent="0" marL="0">
              <a:buNone/>
            </a:pPr>
            <a:r>
              <a:rPr lang="en-US" sz="1100" b="1" dirty="0">
                <a:solidFill>
                  <a:srgbClr val="F59E0B"/>
                </a:solidFill>
                <a:latin typeface="Arial" pitchFamily="34" charset="0"/>
                <a:ea typeface="Arial" pitchFamily="34" charset="-122"/>
                <a:cs typeface="Arial" pitchFamily="34" charset="-120"/>
              </a:rPr>
              <a:t>GIAI ĐOẠN 4</a:t>
            </a:r>
            <a:endParaRPr lang="en-US" sz="1100" dirty="0"/>
          </a:p>
          <a:p>
            <a:pPr indent="0" marL="0">
              <a:buNone/>
            </a:pPr>
            <a:r>
              <a:rPr lang="en-US" sz="1100" b="1" dirty="0">
                <a:solidFill>
                  <a:srgbClr val="F59E0B"/>
                </a:solidFill>
                <a:latin typeface="Arial" pitchFamily="34" charset="0"/>
                <a:ea typeface="Arial" pitchFamily="34" charset="-122"/>
                <a:cs typeface="Arial" pitchFamily="34" charset="-120"/>
              </a:rPr>
              <a:t>Thường Niên</a:t>
            </a:r>
            <a:endParaRPr lang="en-US" sz="1100" dirty="0"/>
          </a:p>
        </p:txBody>
      </p:sp>
      <p:sp>
        <p:nvSpPr>
          <p:cNvPr id="20" name="Text 18"/>
          <p:cNvSpPr/>
          <p:nvPr/>
        </p:nvSpPr>
        <p:spPr>
          <a:xfrm>
            <a:off x="8961120" y="2743200"/>
            <a:ext cx="2240280" cy="822960"/>
          </a:xfrm>
          <a:prstGeom prst="rect">
            <a:avLst/>
          </a:prstGeom>
          <a:noFill/>
          <a:ln/>
        </p:spPr>
        <p:txBody>
          <a:bodyPr wrap="square" rtlCol="0" anchor="ctr"/>
          <a:lstStyle/>
          <a:p>
            <a:pPr indent="0" marL="0">
              <a:buNone/>
            </a:pPr>
            <a:r>
              <a:rPr lang="en-US" sz="1200" b="1" dirty="0">
                <a:solidFill>
                  <a:srgbClr val="001F54"/>
                </a:solidFill>
                <a:latin typeface="Arial" pitchFamily="34" charset="0"/>
                <a:ea typeface="Arial" pitchFamily="34" charset="-122"/>
                <a:cs typeface="Arial" pitchFamily="34" charset="-120"/>
              </a:rPr>
              <a:t>Phát Hành Store &amp; Bảo Hành 24/7</a:t>
            </a:r>
            <a:endParaRPr lang="en-US" sz="1200" dirty="0"/>
          </a:p>
        </p:txBody>
      </p:sp>
      <p:sp>
        <p:nvSpPr>
          <p:cNvPr id="21" name="Text 19"/>
          <p:cNvSpPr/>
          <p:nvPr/>
        </p:nvSpPr>
        <p:spPr>
          <a:xfrm>
            <a:off x="8961120" y="3657600"/>
            <a:ext cx="2240280" cy="228600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Phát hành chính thức lên App Store &amp; Google Play Store; ViConnect trực kỹ thuật và vận hành hạ tầng 24/7 trong các sự kiện Gala.</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D:\download\VICONNECT\CEO_VIONE_PROJECT\ceo1983_project\document\images\backgrounds\08_skyline_night.jp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01F54">
              <a:alpha val="75000"/>
            </a:srgbClr>
          </a:solidFill>
          <a:ln w="25400">
            <a:solidFill>
              <a:srgbClr val="00D2FF"/>
            </a:solidFill>
            <a:prstDash val="solid"/>
          </a:ln>
        </p:spPr>
      </p:sp>
      <p:sp>
        <p:nvSpPr>
          <p:cNvPr id="4" name="Text 1"/>
          <p:cNvSpPr/>
          <p:nvPr/>
        </p:nvSpPr>
        <p:spPr>
          <a:xfrm>
            <a:off x="731520" y="365760"/>
            <a:ext cx="5486400" cy="365760"/>
          </a:xfrm>
          <a:prstGeom prst="rect">
            <a:avLst/>
          </a:prstGeom>
          <a:noFill/>
          <a:ln/>
        </p:spPr>
        <p:txBody>
          <a:bodyPr wrap="square" rtlCol="0" anchor="ctr"/>
          <a:lstStyle/>
          <a:p>
            <a:pPr indent="0" marL="0">
              <a:buNone/>
            </a:pPr>
            <a:r>
              <a:rPr lang="en-US" sz="1400" b="1" dirty="0">
                <a:solidFill>
                  <a:srgbClr val="00D2FF"/>
                </a:solidFill>
                <a:latin typeface="Arial" pitchFamily="34" charset="0"/>
                <a:ea typeface="Arial" pitchFamily="34" charset="-122"/>
                <a:cs typeface="Arial" pitchFamily="34" charset="-120"/>
              </a:rPr>
              <a:t>▲▼ VICONNECT   |   3 CEO 1983</a:t>
            </a:r>
            <a:endParaRPr lang="en-US" sz="1400" dirty="0"/>
          </a:p>
        </p:txBody>
      </p:sp>
      <p:sp>
        <p:nvSpPr>
          <p:cNvPr id="5" name="Text 2"/>
          <p:cNvSpPr/>
          <p:nvPr/>
        </p:nvSpPr>
        <p:spPr>
          <a:xfrm>
            <a:off x="7315200" y="365760"/>
            <a:ext cx="4114800" cy="365760"/>
          </a:xfrm>
          <a:prstGeom prst="rect">
            <a:avLst/>
          </a:prstGeom>
          <a:noFill/>
          <a:ln/>
        </p:spPr>
        <p:txBody>
          <a:bodyPr wrap="square" rtlCol="0" anchor="ctr"/>
          <a:lstStyle/>
          <a:p>
            <a:pPr algn="r" indent="0" marL="0">
              <a:buNone/>
            </a:pPr>
            <a:r>
              <a:rPr lang="en-US" sz="1100" b="1" dirty="0">
                <a:solidFill>
                  <a:srgbClr val="F59E0B"/>
                </a:solidFill>
                <a:latin typeface="Arial" pitchFamily="34" charset="0"/>
                <a:ea typeface="Arial" pitchFamily="34" charset="-122"/>
                <a:cs typeface="Arial" pitchFamily="34" charset="-120"/>
              </a:rPr>
              <a:t>GẮN KẾT BẢN LĨNH — BỨT PHÁ TƯƠNG LAI</a:t>
            </a:r>
            <a:endParaRPr lang="en-US" sz="1100" dirty="0"/>
          </a:p>
        </p:txBody>
      </p:sp>
      <p:sp>
        <p:nvSpPr>
          <p:cNvPr id="6" name="Shape 3"/>
          <p:cNvSpPr/>
          <p:nvPr/>
        </p:nvSpPr>
        <p:spPr>
          <a:xfrm>
            <a:off x="1371600" y="1188720"/>
            <a:ext cx="9418320" cy="4937760"/>
          </a:xfrm>
          <a:prstGeom prst="rect">
            <a:avLst>
              <a:gd name="adj" fmla="val 4630"/>
            </a:avLst>
          </a:prstGeom>
          <a:solidFill>
            <a:srgbClr val="FFFFFF"/>
          </a:solidFill>
          <a:ln w="25400">
            <a:solidFill>
              <a:srgbClr val="F59E0B"/>
            </a:solidFill>
            <a:prstDash val="solid"/>
          </a:ln>
        </p:spPr>
      </p:sp>
      <p:sp>
        <p:nvSpPr>
          <p:cNvPr id="7" name="Text 4"/>
          <p:cNvSpPr/>
          <p:nvPr/>
        </p:nvSpPr>
        <p:spPr>
          <a:xfrm>
            <a:off x="1645920" y="1463040"/>
            <a:ext cx="8869680" cy="731520"/>
          </a:xfrm>
          <a:prstGeom prst="rect">
            <a:avLst/>
          </a:prstGeom>
          <a:noFill/>
          <a:ln/>
        </p:spPr>
        <p:txBody>
          <a:bodyPr wrap="square" rtlCol="0" anchor="ctr"/>
          <a:lstStyle/>
          <a:p>
            <a:pPr algn="ctr" indent="0" marL="0">
              <a:buNone/>
            </a:pPr>
            <a:r>
              <a:rPr lang="en-US" sz="2400" b="1" dirty="0">
                <a:solidFill>
                  <a:srgbClr val="001F54"/>
                </a:solidFill>
                <a:latin typeface="Arial" pitchFamily="34" charset="0"/>
                <a:ea typeface="Arial" pitchFamily="34" charset="-122"/>
                <a:cs typeface="Arial" pitchFamily="34" charset="-120"/>
              </a:rPr>
              <a:t>VICONNECT &amp; CLB CEO 1983 (HANOIBA)</a:t>
            </a:r>
            <a:endParaRPr lang="en-US" sz="2400" dirty="0"/>
          </a:p>
        </p:txBody>
      </p:sp>
      <p:sp>
        <p:nvSpPr>
          <p:cNvPr id="8" name="Text 5"/>
          <p:cNvSpPr/>
          <p:nvPr/>
        </p:nvSpPr>
        <p:spPr>
          <a:xfrm>
            <a:off x="1645920" y="2286000"/>
            <a:ext cx="8869680" cy="457200"/>
          </a:xfrm>
          <a:prstGeom prst="rect">
            <a:avLst/>
          </a:prstGeom>
          <a:noFill/>
          <a:ln/>
        </p:spPr>
        <p:txBody>
          <a:bodyPr wrap="square" rtlCol="0" anchor="ctr"/>
          <a:lstStyle/>
          <a:p>
            <a:pPr algn="ctr" indent="0" marL="0">
              <a:buNone/>
            </a:pPr>
            <a:r>
              <a:rPr lang="en-US" sz="1300" b="1" dirty="0">
                <a:solidFill>
                  <a:srgbClr val="0072CE"/>
                </a:solidFill>
                <a:latin typeface="Arial" pitchFamily="34" charset="0"/>
                <a:ea typeface="Arial" pitchFamily="34" charset="-122"/>
                <a:cs typeface="Arial" pitchFamily="34" charset="-120"/>
              </a:rPr>
              <a:t>ĐỒNG HÀNH KIẾN TẠO LIÊN MINH KINH TẾ BẢN LĨNH &amp; THỊNH VƯỢNG</a:t>
            </a:r>
            <a:endParaRPr lang="en-US" sz="1300" dirty="0"/>
          </a:p>
        </p:txBody>
      </p:sp>
      <p:sp>
        <p:nvSpPr>
          <p:cNvPr id="9" name="Text 6"/>
          <p:cNvSpPr/>
          <p:nvPr/>
        </p:nvSpPr>
        <p:spPr>
          <a:xfrm>
            <a:off x="2286000" y="3017520"/>
            <a:ext cx="7589520" cy="1645920"/>
          </a:xfrm>
          <a:prstGeom prst="rect">
            <a:avLst/>
          </a:prstGeom>
          <a:noFill/>
          <a:ln/>
        </p:spPr>
        <p:txBody>
          <a:bodyPr wrap="square" rtlCol="0" anchor="ctr"/>
          <a:lstStyle/>
          <a:p>
            <a:pPr indent="0" marL="0">
              <a:buNone/>
            </a:pPr>
            <a:r>
              <a:rPr lang="en-US" sz="1200" dirty="0">
                <a:solidFill>
                  <a:srgbClr val="334155"/>
                </a:solidFill>
                <a:latin typeface="Arial" pitchFamily="34" charset="0"/>
                <a:ea typeface="Arial" pitchFamily="34" charset="-122"/>
                <a:cs typeface="Arial" pitchFamily="34" charset="-120"/>
              </a:rPr>
              <a:t>✓  ViConnect cam kết duy trì vận hành máy chủ đám mây ổn định 99.9% uptime</a:t>
            </a:r>
            <a:endParaRPr lang="en-US" sz="1200" dirty="0"/>
          </a:p>
          <a:p>
            <a:pPr indent="0" marL="0">
              <a:buNone/>
            </a:pP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Đội ngũ kỹ sư túc trực hỗ trợ kỹ thuật tận tâm tại mọi sự kiện Gala của Hiệp hội</a:t>
            </a:r>
            <a:endParaRPr lang="en-US" sz="1200" dirty="0"/>
          </a:p>
          <a:p>
            <a:pPr indent="0" marL="0">
              <a:buNone/>
            </a:pP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Liên tục cập nhật các công nghệ trí tuệ nhân tạo (AI) mới nhất phục vụ hội viên</a:t>
            </a:r>
            <a:endParaRPr lang="en-US" sz="1200" dirty="0"/>
          </a:p>
        </p:txBody>
      </p:sp>
      <p:sp>
        <p:nvSpPr>
          <p:cNvPr id="10" name="Text 7"/>
          <p:cNvSpPr/>
          <p:nvPr/>
        </p:nvSpPr>
        <p:spPr>
          <a:xfrm>
            <a:off x="1645920" y="4937760"/>
            <a:ext cx="8869680" cy="731520"/>
          </a:xfrm>
          <a:prstGeom prst="rect">
            <a:avLst/>
          </a:prstGeom>
          <a:noFill/>
          <a:ln/>
        </p:spPr>
        <p:txBody>
          <a:bodyPr wrap="square" rtlCol="0" anchor="ctr"/>
          <a:lstStyle/>
          <a:p>
            <a:pPr algn="ctr" indent="0" marL="0">
              <a:buNone/>
            </a:pPr>
            <a:r>
              <a:rPr lang="en-US" sz="1600" b="1" i="1" dirty="0">
                <a:solidFill>
                  <a:srgbClr val="B45309"/>
                </a:solidFill>
                <a:latin typeface="Arial" pitchFamily="34" charset="0"/>
                <a:ea typeface="Arial" pitchFamily="34" charset="-122"/>
                <a:cs typeface="Arial" pitchFamily="34" charset="-120"/>
              </a:rPr>
              <a:t>Kính chúc CLB CEO 1983 ngày càng lớn mạnh, đoàn kết và bứt phá thành công!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CLB Doanh Nhân CEO 1983 - HanoiBA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Tổng Thể Hệ Sinh Thái Số CEO 1983</dc:title>
  <dc:subject>PptxGenJS Presentation</dc:subject>
  <dc:creator>ViConnect Technology Ecosystem</dc:creator>
  <cp:lastModifiedBy>ViConnect Technology Ecosystem</cp:lastModifiedBy>
  <cp:revision>1</cp:revision>
  <dcterms:created xsi:type="dcterms:W3CDTF">2026-10-21T01:53:23Z</dcterms:created>
  <dcterms:modified xsi:type="dcterms:W3CDTF">2026-10-21T01:53:23Z</dcterms:modified>
</cp:coreProperties>
</file>