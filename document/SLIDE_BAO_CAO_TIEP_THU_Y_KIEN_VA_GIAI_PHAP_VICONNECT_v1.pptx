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download\VICONNECT\CEO_VIONE_PROJECT\ceo1983_project\document\images\backgrounds\01_skyline_lak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1F54">
              <a:alpha val="78000"/>
            </a:srgbClr>
          </a:solidFill>
          <a:ln w="25400">
            <a:solidFill>
              <a:srgbClr val="00D2FF"/>
            </a:solidFill>
            <a:prstDash val="solid"/>
          </a:ln>
        </p:spPr>
      </p:sp>
      <p:sp>
        <p:nvSpPr>
          <p:cNvPr id="4" name="Shape 1"/>
          <p:cNvSpPr/>
          <p:nvPr/>
        </p:nvSpPr>
        <p:spPr>
          <a:xfrm>
            <a:off x="731520" y="822960"/>
            <a:ext cx="6949440" cy="5212080"/>
          </a:xfrm>
          <a:prstGeom prst="roundRect">
            <a:avLst>
              <a:gd name="adj" fmla="val 3158"/>
            </a:avLst>
          </a:prstGeom>
          <a:solidFill>
            <a:srgbClr val="FFFFFF">
              <a:alpha val="96000"/>
            </a:srgbClr>
          </a:solidFill>
          <a:ln w="19050">
            <a:solidFill>
              <a:srgbClr val="CBD5E1"/>
            </a:solidFill>
            <a:prstDash val="solid"/>
          </a:ln>
        </p:spPr>
      </p:sp>
      <p:pic>
        <p:nvPicPr>
          <p:cNvPr id="5" name="Image 1" descr="D:\download\VICONNECT\CEO_VIONE_PROJECT\ceo1983_project\document\images\ceo1983-official-logo.png">    </p:cNvPr>
          <p:cNvPicPr>
            <a:picLocks noChangeAspect="1"/>
          </p:cNvPicPr>
          <p:nvPr/>
        </p:nvPicPr>
        <p:blipFill>
          <a:blip r:embed="rId2"/>
          <a:stretch>
            <a:fillRect/>
          </a:stretch>
        </p:blipFill>
        <p:spPr>
          <a:xfrm>
            <a:off x="1051560" y="960120"/>
            <a:ext cx="1143000" cy="594360"/>
          </a:xfrm>
          <a:prstGeom prst="rect">
            <a:avLst/>
          </a:prstGeom>
        </p:spPr>
      </p:pic>
      <p:sp>
        <p:nvSpPr>
          <p:cNvPr id="6" name="Shape 2"/>
          <p:cNvSpPr/>
          <p:nvPr/>
        </p:nvSpPr>
        <p:spPr>
          <a:xfrm>
            <a:off x="2331720" y="1051560"/>
            <a:ext cx="0" cy="411480"/>
          </a:xfrm>
          <a:prstGeom prst="line">
            <a:avLst/>
          </a:prstGeom>
          <a:noFill/>
          <a:ln w="19050">
            <a:solidFill>
              <a:srgbClr val="CBD5E1"/>
            </a:solidFill>
            <a:prstDash val="solid"/>
          </a:ln>
        </p:spPr>
      </p:sp>
      <p:pic>
        <p:nvPicPr>
          <p:cNvPr id="7" name="Image 2" descr="D:\download\VICONNECT\CEO_VIONE_PROJECT\ceo1983_project\document\images\viconnect-logo.png">    </p:cNvPr>
          <p:cNvPicPr>
            <a:picLocks noChangeAspect="1"/>
          </p:cNvPicPr>
          <p:nvPr/>
        </p:nvPicPr>
        <p:blipFill>
          <a:blip r:embed="rId3"/>
          <a:stretch>
            <a:fillRect/>
          </a:stretch>
        </p:blipFill>
        <p:spPr>
          <a:xfrm>
            <a:off x="2514600" y="1051560"/>
            <a:ext cx="1417320" cy="457200"/>
          </a:xfrm>
          <a:prstGeom prst="rect">
            <a:avLst/>
          </a:prstGeom>
        </p:spPr>
      </p:pic>
      <p:sp>
        <p:nvSpPr>
          <p:cNvPr id="8" name="Shape 3"/>
          <p:cNvSpPr/>
          <p:nvPr/>
        </p:nvSpPr>
        <p:spPr>
          <a:xfrm>
            <a:off x="4206240" y="1078992"/>
            <a:ext cx="3108960" cy="365760"/>
          </a:xfrm>
          <a:prstGeom prst="roundRect">
            <a:avLst>
              <a:gd name="adj" fmla="val 20000"/>
            </a:avLst>
          </a:prstGeom>
          <a:solidFill>
            <a:srgbClr val="003B95"/>
          </a:solidFill>
          <a:ln w="12700">
            <a:solidFill>
              <a:srgbClr val="00D2FF"/>
            </a:solidFill>
            <a:prstDash val="solid"/>
          </a:ln>
        </p:spPr>
      </p:sp>
      <p:sp>
        <p:nvSpPr>
          <p:cNvPr id="9" name="Text 4"/>
          <p:cNvSpPr/>
          <p:nvPr/>
        </p:nvSpPr>
        <p:spPr>
          <a:xfrm>
            <a:off x="4206240" y="1078992"/>
            <a:ext cx="3108960" cy="365760"/>
          </a:xfrm>
          <a:prstGeom prst="rect">
            <a:avLst/>
          </a:prstGeom>
          <a:noFill/>
          <a:ln/>
        </p:spPr>
        <p:txBody>
          <a:bodyPr wrap="square" rtlCol="0" anchor="ctr"/>
          <a:lstStyle/>
          <a:p>
            <a:pPr algn="ctr" indent="0" marL="0">
              <a:buNone/>
            </a:pPr>
            <a:r>
              <a:rPr lang="en-US" sz="950" b="1" dirty="0">
                <a:solidFill>
                  <a:srgbClr val="00D2FF"/>
                </a:solidFill>
                <a:latin typeface="Arial" pitchFamily="34" charset="0"/>
                <a:ea typeface="Arial" pitchFamily="34" charset="-122"/>
                <a:cs typeface="Arial" pitchFamily="34" charset="-120"/>
              </a:rPr>
              <a:t>HỢP TÁC CÔNG NGHỆ</a:t>
            </a:r>
            <a:endParaRPr lang="en-US" sz="950" dirty="0"/>
          </a:p>
        </p:txBody>
      </p:sp>
      <p:sp>
        <p:nvSpPr>
          <p:cNvPr id="10" name="Text 5"/>
          <p:cNvSpPr/>
          <p:nvPr/>
        </p:nvSpPr>
        <p:spPr>
          <a:xfrm>
            <a:off x="1005840" y="1645920"/>
            <a:ext cx="6400800" cy="1234440"/>
          </a:xfrm>
          <a:prstGeom prst="rect">
            <a:avLst/>
          </a:prstGeom>
          <a:noFill/>
          <a:ln/>
        </p:spPr>
        <p:txBody>
          <a:bodyPr wrap="square" rtlCol="0" anchor="ctr"/>
          <a:lstStyle/>
          <a:p>
            <a:pPr indent="0" marL="0">
              <a:buNone/>
            </a:pPr>
            <a:r>
              <a:rPr lang="en-US" sz="2100" b="1" dirty="0">
                <a:solidFill>
                  <a:srgbClr val="1F3864"/>
                </a:solidFill>
                <a:latin typeface="Arial" pitchFamily="34" charset="0"/>
                <a:ea typeface="Arial" pitchFamily="34" charset="-122"/>
                <a:cs typeface="Arial" pitchFamily="34" charset="-120"/>
              </a:rPr>
              <a:t>BÁO CÁO TIẾP THU Ý KIẾN HỌP &amp;</a:t>
            </a:r>
            <a:endParaRPr lang="en-US" sz="2100" dirty="0"/>
          </a:p>
          <a:p>
            <a:pPr indent="0" marL="0">
              <a:buNone/>
            </a:pPr>
            <a:r>
              <a:rPr lang="en-US" sz="2100" b="1" dirty="0">
                <a:solidFill>
                  <a:srgbClr val="1F3864"/>
                </a:solidFill>
                <a:latin typeface="Arial" pitchFamily="34" charset="0"/>
                <a:ea typeface="Arial" pitchFamily="34" charset="-122"/>
                <a:cs typeface="Arial" pitchFamily="34" charset="-120"/>
              </a:rPr>
              <a:t>PHƯƠNG ÁN NÂNG CẤP HỆ THỐNG CEO 1983</a:t>
            </a:r>
            <a:endParaRPr lang="en-US" sz="2100" dirty="0"/>
          </a:p>
        </p:txBody>
      </p:sp>
      <p:sp>
        <p:nvSpPr>
          <p:cNvPr id="11" name="Text 6"/>
          <p:cNvSpPr/>
          <p:nvPr/>
        </p:nvSpPr>
        <p:spPr>
          <a:xfrm>
            <a:off x="1005840" y="2926080"/>
            <a:ext cx="6400800" cy="777240"/>
          </a:xfrm>
          <a:prstGeom prst="rect">
            <a:avLst/>
          </a:prstGeom>
          <a:noFill/>
          <a:ln/>
        </p:spPr>
        <p:txBody>
          <a:bodyPr wrap="square" rtlCol="0" anchor="ctr"/>
          <a:lstStyle/>
          <a:p>
            <a:pPr indent="0" marL="0">
              <a:buNone/>
            </a:pPr>
            <a:r>
              <a:rPr lang="en-US" sz="1150" dirty="0">
                <a:solidFill>
                  <a:srgbClr val="334155"/>
                </a:solidFill>
                <a:latin typeface="Arial" pitchFamily="34" charset="0"/>
                <a:ea typeface="Arial" pitchFamily="34" charset="-122"/>
                <a:cs typeface="Arial" pitchFamily="34" charset="-120"/>
              </a:rPr>
              <a:t>Đơn giản hóa ứng dụng cho hội viên dễ dùng thường xuyên · Biến dữ liệu thành công cụ quản trị sắc bén cho Ban Điều Hành.</a:t>
            </a:r>
            <a:endParaRPr lang="en-US" sz="1150" dirty="0"/>
          </a:p>
          <a:p>
            <a:pPr indent="0" marL="0">
              <a:buNone/>
            </a:pPr>
            <a:r>
              <a:rPr lang="en-US" sz="1150" dirty="0">
                <a:solidFill>
                  <a:srgbClr val="334155"/>
                </a:solidFill>
                <a:latin typeface="Arial" pitchFamily="34" charset="0"/>
                <a:ea typeface="Arial" pitchFamily="34" charset="-122"/>
                <a:cs typeface="Arial" pitchFamily="34" charset="-120"/>
              </a:rPr>
              <a:t>Toàn bộ 15 hạng mục Đợt 1 cam kết hoàn thành trước 05/11/2026.</a:t>
            </a:r>
            <a:endParaRPr lang="en-US" sz="1150" dirty="0"/>
          </a:p>
        </p:txBody>
      </p:sp>
      <p:sp>
        <p:nvSpPr>
          <p:cNvPr id="12" name="Shape 7"/>
          <p:cNvSpPr/>
          <p:nvPr/>
        </p:nvSpPr>
        <p:spPr>
          <a:xfrm>
            <a:off x="1005840" y="3794760"/>
            <a:ext cx="6400800" cy="1463040"/>
          </a:xfrm>
          <a:prstGeom prst="roundRect">
            <a:avLst>
              <a:gd name="adj" fmla="val 5000"/>
            </a:avLst>
          </a:prstGeom>
          <a:solidFill>
            <a:srgbClr val="FFF7ED"/>
          </a:solidFill>
          <a:ln w="12700">
            <a:solidFill>
              <a:srgbClr val="FED7AA"/>
            </a:solidFill>
            <a:prstDash val="solid"/>
          </a:ln>
        </p:spPr>
      </p:sp>
      <p:sp>
        <p:nvSpPr>
          <p:cNvPr id="13" name="Text 8"/>
          <p:cNvSpPr/>
          <p:nvPr/>
        </p:nvSpPr>
        <p:spPr>
          <a:xfrm>
            <a:off x="1188720" y="3931920"/>
            <a:ext cx="6035040" cy="1188720"/>
          </a:xfrm>
          <a:prstGeom prst="rect">
            <a:avLst/>
          </a:prstGeom>
          <a:noFill/>
          <a:ln/>
        </p:spPr>
        <p:txBody>
          <a:bodyPr wrap="square" rtlCol="0" anchor="ctr"/>
          <a:lstStyle/>
          <a:p>
            <a:pPr indent="0" marL="0">
              <a:lnSpc>
                <a:spcPts val="1800"/>
              </a:lnSpc>
              <a:buNone/>
            </a:pPr>
            <a:r>
              <a:rPr lang="en-US" sz="1100" dirty="0">
                <a:solidFill>
                  <a:srgbClr val="78350F"/>
                </a:solidFill>
                <a:latin typeface="Arial" pitchFamily="34" charset="0"/>
                <a:ea typeface="Arial" pitchFamily="34" charset="-122"/>
                <a:cs typeface="Arial" pitchFamily="34" charset="-120"/>
              </a:rPr>
              <a:t>📅 Căn cứ cuộc họp Ban Điều Hành: Ngày 21/10/2026</a:t>
            </a:r>
            <a:endParaRPr lang="en-US" sz="1100" dirty="0"/>
          </a:p>
          <a:p>
            <a:pPr indent="0" marL="0">
              <a:lnSpc>
                <a:spcPts val="1800"/>
              </a:lnSpc>
              <a:buNone/>
            </a:pPr>
            <a:r>
              <a:rPr lang="en-US" sz="1100" dirty="0">
                <a:solidFill>
                  <a:srgbClr val="78350F"/>
                </a:solidFill>
                <a:latin typeface="Arial" pitchFamily="34" charset="0"/>
                <a:ea typeface="Arial" pitchFamily="34" charset="-122"/>
                <a:cs typeface="Arial" pitchFamily="34" charset="-120"/>
              </a:rPr>
              <a:t>🏢 Đơn vị chủ trì: CLB Doanh Nhân CEO 1983 (HanoiBA)</a:t>
            </a:r>
            <a:endParaRPr lang="en-US" sz="1100" dirty="0"/>
          </a:p>
          <a:p>
            <a:pPr indent="0" marL="0">
              <a:lnSpc>
                <a:spcPts val="1800"/>
              </a:lnSpc>
              <a:buNone/>
            </a:pPr>
            <a:r>
              <a:rPr lang="en-US" sz="1100" dirty="0">
                <a:solidFill>
                  <a:srgbClr val="78350F"/>
                </a:solidFill>
                <a:latin typeface="Arial" pitchFamily="34" charset="0"/>
                <a:ea typeface="Arial" pitchFamily="34" charset="-122"/>
                <a:cs typeface="Arial" pitchFamily="34" charset="-120"/>
              </a:rPr>
              <a:t>⚙️ Đơn vị công nghệ: Tập đoàn ViConnect (Ngày lập: 23/10/2026)</a:t>
            </a:r>
            <a:endParaRPr lang="en-US" sz="1100" dirty="0"/>
          </a:p>
          <a:p>
            <a:pPr indent="0" marL="0">
              <a:lnSpc>
                <a:spcPts val="1800"/>
              </a:lnSpc>
              <a:buNone/>
            </a:pPr>
            <a:r>
              <a:rPr lang="en-US" sz="1100" dirty="0">
                <a:solidFill>
                  <a:srgbClr val="78350F"/>
                </a:solidFill>
                <a:latin typeface="Arial" pitchFamily="34" charset="0"/>
                <a:ea typeface="Arial" pitchFamily="34" charset="-122"/>
                <a:cs typeface="Arial" pitchFamily="34" charset="-120"/>
              </a:rPr>
              <a:t>✦ Cam kết đồng hành vì sự phát triển bền vững của cộng đồng doanh nhân</a:t>
            </a:r>
            <a:endParaRPr lang="en-US" sz="1100" dirty="0"/>
          </a:p>
        </p:txBody>
      </p:sp>
      <p:sp>
        <p:nvSpPr>
          <p:cNvPr id="14" name="Text 9"/>
          <p:cNvSpPr/>
          <p:nvPr/>
        </p:nvSpPr>
        <p:spPr>
          <a:xfrm>
            <a:off x="1005840" y="5440680"/>
            <a:ext cx="6400800" cy="320040"/>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Hà Nội, ngày 23 tháng 10 năm 2026  ·  Đơn vị thực hiện: ViConnect</a:t>
            </a:r>
            <a:endParaRPr lang="en-US" sz="1000" dirty="0"/>
          </a:p>
        </p:txBody>
      </p:sp>
      <p:sp>
        <p:nvSpPr>
          <p:cNvPr id="15" name="Shape 10"/>
          <p:cNvSpPr/>
          <p:nvPr/>
        </p:nvSpPr>
        <p:spPr>
          <a:xfrm>
            <a:off x="7955280" y="822960"/>
            <a:ext cx="3474720" cy="5212080"/>
          </a:xfrm>
          <a:prstGeom prst="roundRect">
            <a:avLst>
              <a:gd name="adj" fmla="val 4737"/>
            </a:avLst>
          </a:prstGeom>
          <a:solidFill>
            <a:srgbClr val="FFFFFF"/>
          </a:solidFill>
          <a:ln w="25400">
            <a:solidFill>
              <a:srgbClr val="00D2FF"/>
            </a:solidFill>
            <a:prstDash val="solid"/>
          </a:ln>
        </p:spPr>
      </p:sp>
      <p:pic>
        <p:nvPicPr>
          <p:cNvPr id="16" name="Image 3" descr="D:\download\VICONNECT\CEO_VIONE_PROJECT\ceo1983_project\document\images\image1_invitation_poster.png">    </p:cNvPr>
          <p:cNvPicPr>
            <a:picLocks noChangeAspect="1"/>
          </p:cNvPicPr>
          <p:nvPr/>
        </p:nvPicPr>
        <p:blipFill>
          <a:blip r:embed="rId4"/>
          <a:stretch>
            <a:fillRect/>
          </a:stretch>
        </p:blipFill>
        <p:spPr>
          <a:xfrm>
            <a:off x="8028432" y="896112"/>
            <a:ext cx="3328416" cy="50657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57200"/>
          </a:xfrm>
          <a:prstGeom prst="rect">
            <a:avLst/>
          </a:prstGeom>
          <a:noFill/>
          <a:ln/>
        </p:spPr>
        <p:txBody>
          <a:bodyPr wrap="square" rtlCol="0" anchor="ctr"/>
          <a:lstStyle/>
          <a:p>
            <a:pPr indent="0" marL="0">
              <a:buNone/>
            </a:pPr>
            <a:r>
              <a:rPr lang="en-US" sz="2200" b="1" dirty="0">
                <a:solidFill>
                  <a:srgbClr val="1F3864"/>
                </a:solidFill>
                <a:latin typeface="Arial" pitchFamily="34" charset="0"/>
                <a:ea typeface="Arial" pitchFamily="34" charset="-122"/>
                <a:cs typeface="Arial" pitchFamily="34" charset="-120"/>
              </a:rPr>
              <a:t>TỔNG QUAN ĐỐI SOÁT &amp; CAM KẾT TIẾN ĐỘ ĐỢT 1</a:t>
            </a:r>
            <a:endParaRPr lang="en-US" sz="2200" dirty="0"/>
          </a:p>
        </p:txBody>
      </p:sp>
      <p:sp>
        <p:nvSpPr>
          <p:cNvPr id="3" name="Text 1"/>
          <p:cNvSpPr/>
          <p:nvPr/>
        </p:nvSpPr>
        <p:spPr>
          <a:xfrm>
            <a:off x="731520" y="914400"/>
            <a:ext cx="8046720" cy="320040"/>
          </a:xfrm>
          <a:prstGeom prst="rect">
            <a:avLst/>
          </a:prstGeom>
          <a:noFill/>
          <a:ln/>
        </p:spPr>
        <p:txBody>
          <a:bodyPr wrap="square" rtlCol="0" anchor="ctr"/>
          <a:lstStyle/>
          <a:p>
            <a:pPr indent="0" marL="0">
              <a:buNone/>
            </a:pPr>
            <a:r>
              <a:rPr lang="en-US" sz="1250" i="1" dirty="0">
                <a:solidFill>
                  <a:srgbClr val="64748B"/>
                </a:solidFill>
                <a:latin typeface="Arial" pitchFamily="34" charset="0"/>
                <a:ea typeface="Arial" pitchFamily="34" charset="-122"/>
                <a:cs typeface="Arial" pitchFamily="34" charset="-120"/>
              </a:rPr>
              <a:t>Mục tiêu chiến lược: "Đơn giản hóa để hội viên dùng thường xuyên - Biến dữ liệu thành công cụ quản trị sắc bén cho BĐH"</a:t>
            </a:r>
            <a:endParaRPr lang="en-US" sz="125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3383280" cy="1691640"/>
          </a:xfrm>
          <a:prstGeom prst="roundRect">
            <a:avLst>
              <a:gd name="adj" fmla="val 5405"/>
            </a:avLst>
          </a:prstGeom>
          <a:solidFill>
            <a:srgbClr val="D1FAE5"/>
          </a:solidFill>
          <a:ln w="25400">
            <a:solidFill>
              <a:srgbClr val="059669"/>
            </a:solidFill>
            <a:prstDash val="solid"/>
          </a:ln>
        </p:spPr>
      </p:sp>
      <p:sp>
        <p:nvSpPr>
          <p:cNvPr id="8" name="Text 4"/>
          <p:cNvSpPr/>
          <p:nvPr/>
        </p:nvSpPr>
        <p:spPr>
          <a:xfrm>
            <a:off x="914400" y="1463040"/>
            <a:ext cx="3017520" cy="320040"/>
          </a:xfrm>
          <a:prstGeom prst="rect">
            <a:avLst/>
          </a:prstGeom>
          <a:noFill/>
          <a:ln/>
        </p:spPr>
        <p:txBody>
          <a:bodyPr wrap="square" rtlCol="0" anchor="ctr"/>
          <a:lstStyle/>
          <a:p>
            <a:pPr indent="0" marL="0">
              <a:buNone/>
            </a:pPr>
            <a:r>
              <a:rPr lang="en-US" sz="1300" b="1" dirty="0">
                <a:solidFill>
                  <a:srgbClr val="065F46"/>
                </a:solidFill>
                <a:latin typeface="Arial" pitchFamily="34" charset="0"/>
                <a:ea typeface="Arial" pitchFamily="34" charset="-122"/>
                <a:cs typeface="Arial" pitchFamily="34" charset="-120"/>
              </a:rPr>
              <a:t>🟢 ĐÃ SẴN SÀNG</a:t>
            </a:r>
            <a:endParaRPr lang="en-US" sz="1300" dirty="0"/>
          </a:p>
        </p:txBody>
      </p:sp>
      <p:sp>
        <p:nvSpPr>
          <p:cNvPr id="9" name="Text 5"/>
          <p:cNvSpPr/>
          <p:nvPr/>
        </p:nvSpPr>
        <p:spPr>
          <a:xfrm>
            <a:off x="914400" y="1783080"/>
            <a:ext cx="3017520" cy="59436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02 HẠNG MỤC</a:t>
            </a:r>
            <a:endParaRPr lang="en-US" sz="2000" dirty="0"/>
          </a:p>
        </p:txBody>
      </p:sp>
      <p:sp>
        <p:nvSpPr>
          <p:cNvPr id="10" name="Text 6"/>
          <p:cNvSpPr/>
          <p:nvPr/>
        </p:nvSpPr>
        <p:spPr>
          <a:xfrm>
            <a:off x="914400" y="2377440"/>
            <a:ext cx="3017520" cy="50292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Trang chủ tinh gọn &amp; Bảo mật thẻ</a:t>
            </a:r>
            <a:endParaRPr lang="en-US" sz="1100" dirty="0"/>
          </a:p>
        </p:txBody>
      </p:sp>
      <p:sp>
        <p:nvSpPr>
          <p:cNvPr id="11" name="Shape 7"/>
          <p:cNvSpPr/>
          <p:nvPr/>
        </p:nvSpPr>
        <p:spPr>
          <a:xfrm>
            <a:off x="4389120" y="1325880"/>
            <a:ext cx="3383280" cy="1691640"/>
          </a:xfrm>
          <a:prstGeom prst="roundRect">
            <a:avLst>
              <a:gd name="adj" fmla="val 5405"/>
            </a:avLst>
          </a:prstGeom>
          <a:solidFill>
            <a:srgbClr val="FEF3C7"/>
          </a:solidFill>
          <a:ln w="25400">
            <a:solidFill>
              <a:srgbClr val="D97706"/>
            </a:solidFill>
            <a:prstDash val="solid"/>
          </a:ln>
        </p:spPr>
      </p:sp>
      <p:sp>
        <p:nvSpPr>
          <p:cNvPr id="12" name="Text 8"/>
          <p:cNvSpPr/>
          <p:nvPr/>
        </p:nvSpPr>
        <p:spPr>
          <a:xfrm>
            <a:off x="4572000" y="1463040"/>
            <a:ext cx="3017520" cy="320040"/>
          </a:xfrm>
          <a:prstGeom prst="rect">
            <a:avLst/>
          </a:prstGeom>
          <a:noFill/>
          <a:ln/>
        </p:spPr>
        <p:txBody>
          <a:bodyPr wrap="square" rtlCol="0" anchor="ctr"/>
          <a:lstStyle/>
          <a:p>
            <a:pPr indent="0" marL="0">
              <a:buNone/>
            </a:pPr>
            <a:r>
              <a:rPr lang="en-US" sz="1300" b="1" dirty="0">
                <a:solidFill>
                  <a:srgbClr val="92400E"/>
                </a:solidFill>
                <a:latin typeface="Arial" pitchFamily="34" charset="0"/>
                <a:ea typeface="Arial" pitchFamily="34" charset="-122"/>
                <a:cs typeface="Arial" pitchFamily="34" charset="-120"/>
              </a:rPr>
              <a:t>🟡 ĐANG TRIỂN KHAI</a:t>
            </a:r>
            <a:endParaRPr lang="en-US" sz="1300" dirty="0"/>
          </a:p>
        </p:txBody>
      </p:sp>
      <p:sp>
        <p:nvSpPr>
          <p:cNvPr id="13" name="Text 9"/>
          <p:cNvSpPr/>
          <p:nvPr/>
        </p:nvSpPr>
        <p:spPr>
          <a:xfrm>
            <a:off x="4572000" y="1783080"/>
            <a:ext cx="3017520" cy="59436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11 HẠNG MỤC</a:t>
            </a:r>
            <a:endParaRPr lang="en-US" sz="2000" dirty="0"/>
          </a:p>
        </p:txBody>
      </p:sp>
      <p:sp>
        <p:nvSpPr>
          <p:cNvPr id="14" name="Text 10"/>
          <p:cNvSpPr/>
          <p:nvPr/>
        </p:nvSpPr>
        <p:spPr>
          <a:xfrm>
            <a:off x="4572000" y="2377440"/>
            <a:ext cx="3017520" cy="50292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Cam kết bàn giao trước 05/11/2026</a:t>
            </a:r>
            <a:endParaRPr lang="en-US" sz="1100" dirty="0"/>
          </a:p>
        </p:txBody>
      </p:sp>
      <p:sp>
        <p:nvSpPr>
          <p:cNvPr id="15" name="Shape 11"/>
          <p:cNvSpPr/>
          <p:nvPr/>
        </p:nvSpPr>
        <p:spPr>
          <a:xfrm>
            <a:off x="8046720" y="1325880"/>
            <a:ext cx="3383280" cy="1691640"/>
          </a:xfrm>
          <a:prstGeom prst="roundRect">
            <a:avLst>
              <a:gd name="adj" fmla="val 5405"/>
            </a:avLst>
          </a:prstGeom>
          <a:solidFill>
            <a:srgbClr val="DBEAFE"/>
          </a:solidFill>
          <a:ln w="25400">
            <a:solidFill>
              <a:srgbClr val="2563EB"/>
            </a:solidFill>
            <a:prstDash val="solid"/>
          </a:ln>
        </p:spPr>
      </p:sp>
      <p:sp>
        <p:nvSpPr>
          <p:cNvPr id="16" name="Text 12"/>
          <p:cNvSpPr/>
          <p:nvPr/>
        </p:nvSpPr>
        <p:spPr>
          <a:xfrm>
            <a:off x="8229600" y="1463040"/>
            <a:ext cx="3017520" cy="320040"/>
          </a:xfrm>
          <a:prstGeom prst="rect">
            <a:avLst/>
          </a:prstGeom>
          <a:noFill/>
          <a:ln/>
        </p:spPr>
        <p:txBody>
          <a:bodyPr wrap="square" rtlCol="0" anchor="ctr"/>
          <a:lstStyle/>
          <a:p>
            <a:pPr indent="0" marL="0">
              <a:buNone/>
            </a:pPr>
            <a:r>
              <a:rPr lang="en-US" sz="1300" b="1" dirty="0">
                <a:solidFill>
                  <a:srgbClr val="1E40AF"/>
                </a:solidFill>
                <a:latin typeface="Arial" pitchFamily="34" charset="0"/>
                <a:ea typeface="Arial" pitchFamily="34" charset="-122"/>
                <a:cs typeface="Arial" pitchFamily="34" charset="-120"/>
              </a:rPr>
              <a:t>🔵 KẾ HOẠCH TIẾP THEO</a:t>
            </a:r>
            <a:endParaRPr lang="en-US" sz="1300" dirty="0"/>
          </a:p>
        </p:txBody>
      </p:sp>
      <p:sp>
        <p:nvSpPr>
          <p:cNvPr id="17" name="Text 13"/>
          <p:cNvSpPr/>
          <p:nvPr/>
        </p:nvSpPr>
        <p:spPr>
          <a:xfrm>
            <a:off x="8229600" y="1783080"/>
            <a:ext cx="3017520" cy="59436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02 HẠNG MỤC</a:t>
            </a:r>
            <a:endParaRPr lang="en-US" sz="2000" dirty="0"/>
          </a:p>
        </p:txBody>
      </p:sp>
      <p:sp>
        <p:nvSpPr>
          <p:cNvPr id="18" name="Text 14"/>
          <p:cNvSpPr/>
          <p:nvPr/>
        </p:nvSpPr>
        <p:spPr>
          <a:xfrm>
            <a:off x="8229600" y="2377440"/>
            <a:ext cx="3017520" cy="50292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Zalo OA / VNPAY &amp; CSDL (trước 10/11)</a:t>
            </a:r>
            <a:endParaRPr lang="en-US" sz="1100" dirty="0"/>
          </a:p>
        </p:txBody>
      </p:sp>
      <p:sp>
        <p:nvSpPr>
          <p:cNvPr id="19" name="Shape 15"/>
          <p:cNvSpPr/>
          <p:nvPr/>
        </p:nvSpPr>
        <p:spPr>
          <a:xfrm>
            <a:off x="731520" y="3246120"/>
            <a:ext cx="5212080" cy="1371600"/>
          </a:xfrm>
          <a:prstGeom prst="roundRect">
            <a:avLst>
              <a:gd name="adj" fmla="val 5333"/>
            </a:avLst>
          </a:prstGeom>
          <a:solidFill>
            <a:srgbClr val="FFFFFF"/>
          </a:solidFill>
          <a:ln w="12700">
            <a:solidFill>
              <a:srgbClr val="CBD5E1"/>
            </a:solidFill>
            <a:prstDash val="solid"/>
          </a:ln>
        </p:spPr>
      </p:sp>
      <p:sp>
        <p:nvSpPr>
          <p:cNvPr id="20" name="Text 16"/>
          <p:cNvSpPr/>
          <p:nvPr/>
        </p:nvSpPr>
        <p:spPr>
          <a:xfrm>
            <a:off x="868680" y="3337560"/>
            <a:ext cx="329184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 Anh Thành (Phó Tổng Thư ký)</a:t>
            </a:r>
            <a:endParaRPr lang="en-US" sz="1100" dirty="0"/>
          </a:p>
        </p:txBody>
      </p:sp>
      <p:sp>
        <p:nvSpPr>
          <p:cNvPr id="21" name="Shape 17"/>
          <p:cNvSpPr/>
          <p:nvPr/>
        </p:nvSpPr>
        <p:spPr>
          <a:xfrm>
            <a:off x="4206240" y="3337560"/>
            <a:ext cx="1600200" cy="228600"/>
          </a:xfrm>
          <a:prstGeom prst="roundRect">
            <a:avLst>
              <a:gd name="adj" fmla="val 16000"/>
            </a:avLst>
          </a:prstGeom>
          <a:solidFill>
            <a:srgbClr val="FEF3C7"/>
          </a:solidFill>
          <a:ln w="6350">
            <a:solidFill>
              <a:srgbClr val="92400E"/>
            </a:solidFill>
            <a:prstDash val="solid"/>
          </a:ln>
        </p:spPr>
      </p:sp>
      <p:sp>
        <p:nvSpPr>
          <p:cNvPr id="22" name="Text 18"/>
          <p:cNvSpPr/>
          <p:nvPr/>
        </p:nvSpPr>
        <p:spPr>
          <a:xfrm>
            <a:off x="4206240" y="3337560"/>
            <a:ext cx="1600200" cy="228600"/>
          </a:xfrm>
          <a:prstGeom prst="rect">
            <a:avLst/>
          </a:prstGeom>
          <a:noFill/>
          <a:ln/>
        </p:spPr>
        <p:txBody>
          <a:bodyPr wrap="square" rtlCol="0" anchor="ctr"/>
          <a:lstStyle/>
          <a:p>
            <a:pPr algn="ctr" indent="0" marL="0">
              <a:buNone/>
            </a:pPr>
            <a:r>
              <a:rPr lang="en-US" sz="850" b="1" dirty="0">
                <a:solidFill>
                  <a:srgbClr val="92400E"/>
                </a:solidFill>
                <a:latin typeface="Arial" pitchFamily="34" charset="0"/>
                <a:ea typeface="Arial" pitchFamily="34" charset="-122"/>
                <a:cs typeface="Arial" pitchFamily="34" charset="-120"/>
              </a:rPr>
              <a:t>SÀN B2B &amp; VOUCHER</a:t>
            </a:r>
            <a:endParaRPr lang="en-US" sz="850" dirty="0"/>
          </a:p>
        </p:txBody>
      </p:sp>
      <p:sp>
        <p:nvSpPr>
          <p:cNvPr id="23" name="Text 19"/>
          <p:cNvSpPr/>
          <p:nvPr/>
        </p:nvSpPr>
        <p:spPr>
          <a:xfrm>
            <a:off x="868680" y="3630168"/>
            <a:ext cx="4937760" cy="411480"/>
          </a:xfrm>
          <a:prstGeom prst="rect">
            <a:avLst/>
          </a:prstGeom>
          <a:noFill/>
          <a:ln/>
        </p:spPr>
        <p:txBody>
          <a:bodyPr wrap="square" rtlCol="0" anchor="ctr"/>
          <a:lstStyle/>
          <a:p>
            <a:pPr indent="0" marL="0">
              <a:buNone/>
            </a:pPr>
            <a:r>
              <a:rPr lang="en-US" sz="950" dirty="0">
                <a:solidFill>
                  <a:srgbClr val="991B1B"/>
                </a:solidFill>
                <a:latin typeface="Arial" pitchFamily="34" charset="0"/>
                <a:ea typeface="Arial" pitchFamily="34" charset="-122"/>
                <a:cs typeface="Arial" pitchFamily="34" charset="-120"/>
              </a:rPr>
              <a:t>⚠️ Góp ý: Giới hạn 5 SP/DN tránh spam sàn; bộ lọc ngành mua/bán; voucher tri ân.</a:t>
            </a:r>
            <a:endParaRPr lang="en-US" sz="950" dirty="0"/>
          </a:p>
        </p:txBody>
      </p:sp>
      <p:sp>
        <p:nvSpPr>
          <p:cNvPr id="24" name="Shape 20"/>
          <p:cNvSpPr/>
          <p:nvPr/>
        </p:nvSpPr>
        <p:spPr>
          <a:xfrm>
            <a:off x="868680" y="4087368"/>
            <a:ext cx="4937760" cy="438912"/>
          </a:xfrm>
          <a:prstGeom prst="roundRect">
            <a:avLst>
              <a:gd name="adj" fmla="val 8333"/>
            </a:avLst>
          </a:prstGeom>
          <a:solidFill>
            <a:srgbClr val="F0FDF4"/>
          </a:solidFill>
          <a:ln w="6350">
            <a:solidFill>
              <a:srgbClr val="10B981"/>
            </a:solidFill>
            <a:prstDash val="solid"/>
          </a:ln>
        </p:spPr>
      </p:sp>
      <p:sp>
        <p:nvSpPr>
          <p:cNvPr id="25" name="Text 21"/>
          <p:cNvSpPr/>
          <p:nvPr/>
        </p:nvSpPr>
        <p:spPr>
          <a:xfrm>
            <a:off x="914400" y="4114800"/>
            <a:ext cx="4846320" cy="38404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ViConnect: Đã áp dụng hạn mức 5 SP/DN, nén WebP, bộ lọc 10 ngành, cấp mã Voucher riêng.</a:t>
            </a:r>
            <a:endParaRPr lang="en-US" sz="950" dirty="0"/>
          </a:p>
        </p:txBody>
      </p:sp>
      <p:sp>
        <p:nvSpPr>
          <p:cNvPr id="26" name="Shape 22"/>
          <p:cNvSpPr/>
          <p:nvPr/>
        </p:nvSpPr>
        <p:spPr>
          <a:xfrm>
            <a:off x="6217920" y="3246120"/>
            <a:ext cx="5212080" cy="1371600"/>
          </a:xfrm>
          <a:prstGeom prst="roundRect">
            <a:avLst>
              <a:gd name="adj" fmla="val 5333"/>
            </a:avLst>
          </a:prstGeom>
          <a:solidFill>
            <a:srgbClr val="FFFFFF"/>
          </a:solidFill>
          <a:ln w="12700">
            <a:solidFill>
              <a:srgbClr val="CBD5E1"/>
            </a:solidFill>
            <a:prstDash val="solid"/>
          </a:ln>
        </p:spPr>
      </p:sp>
      <p:sp>
        <p:nvSpPr>
          <p:cNvPr id="27" name="Text 23"/>
          <p:cNvSpPr/>
          <p:nvPr/>
        </p:nvSpPr>
        <p:spPr>
          <a:xfrm>
            <a:off x="6355080" y="3337560"/>
            <a:ext cx="329184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 Anh Tuấn (Phó Chủ tịch)</a:t>
            </a:r>
            <a:endParaRPr lang="en-US" sz="1100" dirty="0"/>
          </a:p>
        </p:txBody>
      </p:sp>
      <p:sp>
        <p:nvSpPr>
          <p:cNvPr id="28" name="Shape 24"/>
          <p:cNvSpPr/>
          <p:nvPr/>
        </p:nvSpPr>
        <p:spPr>
          <a:xfrm>
            <a:off x="9692640" y="3337560"/>
            <a:ext cx="1600200" cy="228600"/>
          </a:xfrm>
          <a:prstGeom prst="roundRect">
            <a:avLst>
              <a:gd name="adj" fmla="val 16000"/>
            </a:avLst>
          </a:prstGeom>
          <a:solidFill>
            <a:srgbClr val="D1FAE5"/>
          </a:solidFill>
          <a:ln w="6350">
            <a:solidFill>
              <a:srgbClr val="065F46"/>
            </a:solidFill>
            <a:prstDash val="solid"/>
          </a:ln>
        </p:spPr>
      </p:sp>
      <p:sp>
        <p:nvSpPr>
          <p:cNvPr id="29" name="Text 25"/>
          <p:cNvSpPr/>
          <p:nvPr/>
        </p:nvSpPr>
        <p:spPr>
          <a:xfrm>
            <a:off x="9692640" y="3337560"/>
            <a:ext cx="1600200" cy="228600"/>
          </a:xfrm>
          <a:prstGeom prst="rect">
            <a:avLst/>
          </a:prstGeom>
          <a:noFill/>
          <a:ln/>
        </p:spPr>
        <p:txBody>
          <a:bodyPr wrap="square" rtlCol="0" anchor="ctr"/>
          <a:lstStyle/>
          <a:p>
            <a:pPr algn="ctr" indent="0" marL="0">
              <a:buNone/>
            </a:pPr>
            <a:r>
              <a:rPr lang="en-US" sz="850" b="1" dirty="0">
                <a:solidFill>
                  <a:srgbClr val="065F46"/>
                </a:solidFill>
                <a:latin typeface="Arial" pitchFamily="34" charset="0"/>
                <a:ea typeface="Arial" pitchFamily="34" charset="-122"/>
                <a:cs typeface="Arial" pitchFamily="34" charset="-120"/>
              </a:rPr>
              <a:t>TRANG CHỦ &amp; ĐẶC QUYỀN</a:t>
            </a:r>
            <a:endParaRPr lang="en-US" sz="850" dirty="0"/>
          </a:p>
        </p:txBody>
      </p:sp>
      <p:sp>
        <p:nvSpPr>
          <p:cNvPr id="30" name="Text 26"/>
          <p:cNvSpPr/>
          <p:nvPr/>
        </p:nvSpPr>
        <p:spPr>
          <a:xfrm>
            <a:off x="6355080" y="3630168"/>
            <a:ext cx="4937760" cy="411480"/>
          </a:xfrm>
          <a:prstGeom prst="rect">
            <a:avLst/>
          </a:prstGeom>
          <a:noFill/>
          <a:ln/>
        </p:spPr>
        <p:txBody>
          <a:bodyPr wrap="square" rtlCol="0" anchor="ctr"/>
          <a:lstStyle/>
          <a:p>
            <a:pPr indent="0" marL="0">
              <a:buNone/>
            </a:pPr>
            <a:r>
              <a:rPr lang="en-US" sz="950" dirty="0">
                <a:solidFill>
                  <a:srgbClr val="991B1B"/>
                </a:solidFill>
                <a:latin typeface="Arial" pitchFamily="34" charset="0"/>
                <a:ea typeface="Arial" pitchFamily="34" charset="-122"/>
                <a:cs typeface="Arial" pitchFamily="34" charset="-120"/>
              </a:rPr>
              <a:t>⚠️ Góp ý: Rút gọn trang chủ quanh 4 chức năng chính; tách đặc quyền thành gian hàng số.</a:t>
            </a:r>
            <a:endParaRPr lang="en-US" sz="950" dirty="0"/>
          </a:p>
        </p:txBody>
      </p:sp>
      <p:sp>
        <p:nvSpPr>
          <p:cNvPr id="31" name="Shape 27"/>
          <p:cNvSpPr/>
          <p:nvPr/>
        </p:nvSpPr>
        <p:spPr>
          <a:xfrm>
            <a:off x="6355080" y="4087368"/>
            <a:ext cx="4937760" cy="438912"/>
          </a:xfrm>
          <a:prstGeom prst="roundRect">
            <a:avLst>
              <a:gd name="adj" fmla="val 8333"/>
            </a:avLst>
          </a:prstGeom>
          <a:solidFill>
            <a:srgbClr val="F0FDF4"/>
          </a:solidFill>
          <a:ln w="6350">
            <a:solidFill>
              <a:srgbClr val="10B981"/>
            </a:solidFill>
            <a:prstDash val="solid"/>
          </a:ln>
        </p:spPr>
      </p:sp>
      <p:sp>
        <p:nvSpPr>
          <p:cNvPr id="32" name="Text 28"/>
          <p:cNvSpPr/>
          <p:nvPr/>
        </p:nvSpPr>
        <p:spPr>
          <a:xfrm>
            <a:off x="6400800" y="4114800"/>
            <a:ext cx="4846320" cy="38404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ViConnect: Tinh giản trang chủ 4 luồng; xây dựng Gian Hàng Doanh Nghiệp Số riêng biệt.</a:t>
            </a:r>
            <a:endParaRPr lang="en-US" sz="950" dirty="0"/>
          </a:p>
        </p:txBody>
      </p:sp>
      <p:sp>
        <p:nvSpPr>
          <p:cNvPr id="33" name="Shape 29"/>
          <p:cNvSpPr/>
          <p:nvPr/>
        </p:nvSpPr>
        <p:spPr>
          <a:xfrm>
            <a:off x="731520" y="4754880"/>
            <a:ext cx="5212080" cy="1371600"/>
          </a:xfrm>
          <a:prstGeom prst="roundRect">
            <a:avLst>
              <a:gd name="adj" fmla="val 5333"/>
            </a:avLst>
          </a:prstGeom>
          <a:solidFill>
            <a:srgbClr val="FFFFFF"/>
          </a:solidFill>
          <a:ln w="12700">
            <a:solidFill>
              <a:srgbClr val="CBD5E1"/>
            </a:solidFill>
            <a:prstDash val="solid"/>
          </a:ln>
        </p:spPr>
      </p:sp>
      <p:sp>
        <p:nvSpPr>
          <p:cNvPr id="34" name="Text 30"/>
          <p:cNvSpPr/>
          <p:nvPr/>
        </p:nvSpPr>
        <p:spPr>
          <a:xfrm>
            <a:off x="868680" y="4846320"/>
            <a:ext cx="329184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 Chị Phương (Phó ban Hội viên)</a:t>
            </a:r>
            <a:endParaRPr lang="en-US" sz="1100" dirty="0"/>
          </a:p>
        </p:txBody>
      </p:sp>
      <p:sp>
        <p:nvSpPr>
          <p:cNvPr id="35" name="Shape 31"/>
          <p:cNvSpPr/>
          <p:nvPr/>
        </p:nvSpPr>
        <p:spPr>
          <a:xfrm>
            <a:off x="4206240" y="4846320"/>
            <a:ext cx="1600200" cy="228600"/>
          </a:xfrm>
          <a:prstGeom prst="roundRect">
            <a:avLst>
              <a:gd name="adj" fmla="val 16000"/>
            </a:avLst>
          </a:prstGeom>
          <a:solidFill>
            <a:srgbClr val="DBEAFE"/>
          </a:solidFill>
          <a:ln w="6350">
            <a:solidFill>
              <a:srgbClr val="1E40AF"/>
            </a:solidFill>
            <a:prstDash val="solid"/>
          </a:ln>
        </p:spPr>
      </p:sp>
      <p:sp>
        <p:nvSpPr>
          <p:cNvPr id="36" name="Text 32"/>
          <p:cNvSpPr/>
          <p:nvPr/>
        </p:nvSpPr>
        <p:spPr>
          <a:xfrm>
            <a:off x="4206240" y="4846320"/>
            <a:ext cx="1600200" cy="228600"/>
          </a:xfrm>
          <a:prstGeom prst="rect">
            <a:avLst/>
          </a:prstGeom>
          <a:noFill/>
          <a:ln/>
        </p:spPr>
        <p:txBody>
          <a:bodyPr wrap="square" rtlCol="0" anchor="ctr"/>
          <a:lstStyle/>
          <a:p>
            <a:pPr algn="ctr" indent="0" marL="0">
              <a:buNone/>
            </a:pPr>
            <a:r>
              <a:rPr lang="en-US" sz="850" b="1" dirty="0">
                <a:solidFill>
                  <a:srgbClr val="1E40AF"/>
                </a:solidFill>
                <a:latin typeface="Arial" pitchFamily="34" charset="0"/>
                <a:ea typeface="Arial" pitchFamily="34" charset="-122"/>
                <a:cs typeface="Arial" pitchFamily="34" charset="-120"/>
              </a:rPr>
              <a:t>DOANH SỐ &amp; HỘI PHÍ</a:t>
            </a:r>
            <a:endParaRPr lang="en-US" sz="850" dirty="0"/>
          </a:p>
        </p:txBody>
      </p:sp>
      <p:sp>
        <p:nvSpPr>
          <p:cNvPr id="37" name="Text 33"/>
          <p:cNvSpPr/>
          <p:nvPr/>
        </p:nvSpPr>
        <p:spPr>
          <a:xfrm>
            <a:off x="868680" y="5138928"/>
            <a:ext cx="4937760" cy="411480"/>
          </a:xfrm>
          <a:prstGeom prst="rect">
            <a:avLst/>
          </a:prstGeom>
          <a:noFill/>
          <a:ln/>
        </p:spPr>
        <p:txBody>
          <a:bodyPr wrap="square" rtlCol="0" anchor="ctr"/>
          <a:lstStyle/>
          <a:p>
            <a:pPr indent="0" marL="0">
              <a:buNone/>
            </a:pPr>
            <a:r>
              <a:rPr lang="en-US" sz="950" dirty="0">
                <a:solidFill>
                  <a:srgbClr val="991B1B"/>
                </a:solidFill>
                <a:latin typeface="Arial" pitchFamily="34" charset="0"/>
                <a:ea typeface="Arial" pitchFamily="34" charset="-122"/>
                <a:cs typeface="Arial" pitchFamily="34" charset="-120"/>
              </a:rPr>
              <a:t>⚠️ Góp ý: Phân định cơ hội &amp; kết nối có doanh thu thực tế; cảnh báo trầm lắng; báo cáo phí.</a:t>
            </a:r>
            <a:endParaRPr lang="en-US" sz="950" dirty="0"/>
          </a:p>
        </p:txBody>
      </p:sp>
      <p:sp>
        <p:nvSpPr>
          <p:cNvPr id="38" name="Shape 34"/>
          <p:cNvSpPr/>
          <p:nvPr/>
        </p:nvSpPr>
        <p:spPr>
          <a:xfrm>
            <a:off x="868680" y="5596128"/>
            <a:ext cx="4937760" cy="438912"/>
          </a:xfrm>
          <a:prstGeom prst="roundRect">
            <a:avLst>
              <a:gd name="adj" fmla="val 8333"/>
            </a:avLst>
          </a:prstGeom>
          <a:solidFill>
            <a:srgbClr val="F0FDF4"/>
          </a:solidFill>
          <a:ln w="6350">
            <a:solidFill>
              <a:srgbClr val="10B981"/>
            </a:solidFill>
            <a:prstDash val="solid"/>
          </a:ln>
        </p:spPr>
      </p:sp>
      <p:sp>
        <p:nvSpPr>
          <p:cNvPr id="39" name="Text 35"/>
          <p:cNvSpPr/>
          <p:nvPr/>
        </p:nvSpPr>
        <p:spPr>
          <a:xfrm>
            <a:off x="914400" y="5623560"/>
            <a:ext cx="4846320" cy="38404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ViConnect: Xác thực hợp đồng 2 chiều; gắn cờ trầm lắng; quản lý phí niên độ 365 ngày VietQR.</a:t>
            </a:r>
            <a:endParaRPr lang="en-US" sz="950" dirty="0"/>
          </a:p>
        </p:txBody>
      </p:sp>
      <p:sp>
        <p:nvSpPr>
          <p:cNvPr id="40" name="Shape 36"/>
          <p:cNvSpPr/>
          <p:nvPr/>
        </p:nvSpPr>
        <p:spPr>
          <a:xfrm>
            <a:off x="6217920" y="4754880"/>
            <a:ext cx="5212080" cy="1371600"/>
          </a:xfrm>
          <a:prstGeom prst="roundRect">
            <a:avLst>
              <a:gd name="adj" fmla="val 5333"/>
            </a:avLst>
          </a:prstGeom>
          <a:solidFill>
            <a:srgbClr val="FFFFFF"/>
          </a:solidFill>
          <a:ln w="12700">
            <a:solidFill>
              <a:srgbClr val="CBD5E1"/>
            </a:solidFill>
            <a:prstDash val="solid"/>
          </a:ln>
        </p:spPr>
      </p:sp>
      <p:sp>
        <p:nvSpPr>
          <p:cNvPr id="41" name="Text 37"/>
          <p:cNvSpPr/>
          <p:nvPr/>
        </p:nvSpPr>
        <p:spPr>
          <a:xfrm>
            <a:off x="6355080" y="4846320"/>
            <a:ext cx="329184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 Chị Dung (Phó Chánh Văn phòng)</a:t>
            </a:r>
            <a:endParaRPr lang="en-US" sz="1100" dirty="0"/>
          </a:p>
        </p:txBody>
      </p:sp>
      <p:sp>
        <p:nvSpPr>
          <p:cNvPr id="42" name="Shape 38"/>
          <p:cNvSpPr/>
          <p:nvPr/>
        </p:nvSpPr>
        <p:spPr>
          <a:xfrm>
            <a:off x="9692640" y="4846320"/>
            <a:ext cx="1600200" cy="228600"/>
          </a:xfrm>
          <a:prstGeom prst="roundRect">
            <a:avLst>
              <a:gd name="adj" fmla="val 16000"/>
            </a:avLst>
          </a:prstGeom>
          <a:solidFill>
            <a:srgbClr val="EDE9FE"/>
          </a:solidFill>
          <a:ln w="6350">
            <a:solidFill>
              <a:srgbClr val="5B21B6"/>
            </a:solidFill>
            <a:prstDash val="solid"/>
          </a:ln>
        </p:spPr>
      </p:sp>
      <p:sp>
        <p:nvSpPr>
          <p:cNvPr id="43" name="Text 39"/>
          <p:cNvSpPr/>
          <p:nvPr/>
        </p:nvSpPr>
        <p:spPr>
          <a:xfrm>
            <a:off x="9692640" y="4846320"/>
            <a:ext cx="1600200" cy="228600"/>
          </a:xfrm>
          <a:prstGeom prst="rect">
            <a:avLst/>
          </a:prstGeom>
          <a:noFill/>
          <a:ln/>
        </p:spPr>
        <p:txBody>
          <a:bodyPr wrap="square" rtlCol="0" anchor="ctr"/>
          <a:lstStyle/>
          <a:p>
            <a:pPr algn="ctr" indent="0" marL="0">
              <a:buNone/>
            </a:pPr>
            <a:r>
              <a:rPr lang="en-US" sz="850" b="1" dirty="0">
                <a:solidFill>
                  <a:srgbClr val="5B21B6"/>
                </a:solidFill>
                <a:latin typeface="Arial" pitchFamily="34" charset="0"/>
                <a:ea typeface="Arial" pitchFamily="34" charset="-122"/>
                <a:cs typeface="Arial" pitchFamily="34" charset="-120"/>
              </a:rPr>
              <a:t>HỒ SƠ &amp; DÒNG THỜI GIAN</a:t>
            </a:r>
            <a:endParaRPr lang="en-US" sz="850" dirty="0"/>
          </a:p>
        </p:txBody>
      </p:sp>
      <p:sp>
        <p:nvSpPr>
          <p:cNvPr id="44" name="Text 40"/>
          <p:cNvSpPr/>
          <p:nvPr/>
        </p:nvSpPr>
        <p:spPr>
          <a:xfrm>
            <a:off x="6355080" y="5138928"/>
            <a:ext cx="4937760" cy="411480"/>
          </a:xfrm>
          <a:prstGeom prst="rect">
            <a:avLst/>
          </a:prstGeom>
          <a:noFill/>
          <a:ln/>
        </p:spPr>
        <p:txBody>
          <a:bodyPr wrap="square" rtlCol="0" anchor="ctr"/>
          <a:lstStyle/>
          <a:p>
            <a:pPr indent="0" marL="0">
              <a:buNone/>
            </a:pPr>
            <a:r>
              <a:rPr lang="en-US" sz="950" dirty="0">
                <a:solidFill>
                  <a:srgbClr val="991B1B"/>
                </a:solidFill>
                <a:latin typeface="Arial" pitchFamily="34" charset="0"/>
                <a:ea typeface="Arial" pitchFamily="34" charset="-122"/>
                <a:cs typeface="Arial" pitchFamily="34" charset="-120"/>
              </a:rPr>
              <a:t>⚠️ Góp ý: Trang cá nhân tổng hợp lịch sử tham gia sự kiện, cơ hội và kết nối 1-on-1.</a:t>
            </a:r>
            <a:endParaRPr lang="en-US" sz="950" dirty="0"/>
          </a:p>
        </p:txBody>
      </p:sp>
      <p:sp>
        <p:nvSpPr>
          <p:cNvPr id="45" name="Shape 41"/>
          <p:cNvSpPr/>
          <p:nvPr/>
        </p:nvSpPr>
        <p:spPr>
          <a:xfrm>
            <a:off x="6355080" y="5596128"/>
            <a:ext cx="4937760" cy="438912"/>
          </a:xfrm>
          <a:prstGeom prst="roundRect">
            <a:avLst>
              <a:gd name="adj" fmla="val 8333"/>
            </a:avLst>
          </a:prstGeom>
          <a:solidFill>
            <a:srgbClr val="F0FDF4"/>
          </a:solidFill>
          <a:ln w="6350">
            <a:solidFill>
              <a:srgbClr val="10B981"/>
            </a:solidFill>
            <a:prstDash val="solid"/>
          </a:ln>
        </p:spPr>
      </p:sp>
      <p:sp>
        <p:nvSpPr>
          <p:cNvPr id="46" name="Text 42"/>
          <p:cNvSpPr/>
          <p:nvPr/>
        </p:nvSpPr>
        <p:spPr>
          <a:xfrm>
            <a:off x="6400800" y="5623560"/>
            <a:ext cx="4846320" cy="38404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ViConnect: Xây dựng Dòng Thời Gian Hoạt Động (Timeline) và danh thiếp số 1 chạm.</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1148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NHÓM A: GIAO DIỆN &amp; THẺ HỘI VIÊN</a:t>
            </a:r>
            <a:endParaRPr lang="en-US" sz="2000" dirty="0"/>
          </a:p>
        </p:txBody>
      </p:sp>
      <p:sp>
        <p:nvSpPr>
          <p:cNvPr id="3" name="Text 1"/>
          <p:cNvSpPr/>
          <p:nvPr/>
        </p:nvSpPr>
        <p:spPr>
          <a:xfrm>
            <a:off x="731520" y="868680"/>
            <a:ext cx="804672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Đơn giản hóa trải nghiệm, tập trung giá trị cốt lõi &amp; bảo mật danh tính doanh nhân</a:t>
            </a:r>
            <a:endParaRPr lang="en-US" sz="120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10725912" cy="1234440"/>
          </a:xfrm>
          <a:prstGeom prst="roundRect">
            <a:avLst>
              <a:gd name="adj" fmla="val 4444"/>
            </a:avLst>
          </a:prstGeom>
          <a:solidFill>
            <a:srgbClr val="FFFFFF"/>
          </a:solidFill>
          <a:ln w="12700">
            <a:solidFill>
              <a:srgbClr val="CBD5E1"/>
            </a:solidFill>
            <a:prstDash val="solid"/>
          </a:ln>
        </p:spPr>
      </p:sp>
      <p:sp>
        <p:nvSpPr>
          <p:cNvPr id="8" name="Text 4"/>
          <p:cNvSpPr/>
          <p:nvPr/>
        </p:nvSpPr>
        <p:spPr>
          <a:xfrm>
            <a:off x="914400" y="1399032"/>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1. Trang chủ ứng dụng</a:t>
            </a:r>
            <a:endParaRPr lang="en-US" sz="1300" dirty="0"/>
          </a:p>
        </p:txBody>
      </p:sp>
      <p:sp>
        <p:nvSpPr>
          <p:cNvPr id="9" name="Shape 5"/>
          <p:cNvSpPr/>
          <p:nvPr/>
        </p:nvSpPr>
        <p:spPr>
          <a:xfrm>
            <a:off x="7498080" y="1399032"/>
            <a:ext cx="3749040" cy="256032"/>
          </a:xfrm>
          <a:prstGeom prst="roundRect">
            <a:avLst>
              <a:gd name="adj" fmla="val 14286"/>
            </a:avLst>
          </a:prstGeom>
          <a:solidFill>
            <a:srgbClr val="D1FAE5"/>
          </a:solidFill>
          <a:ln w="12700">
            <a:solidFill>
              <a:srgbClr val="065F46"/>
            </a:solidFill>
            <a:prstDash val="solid"/>
          </a:ln>
        </p:spPr>
      </p:sp>
      <p:sp>
        <p:nvSpPr>
          <p:cNvPr id="10" name="Text 6"/>
          <p:cNvSpPr/>
          <p:nvPr/>
        </p:nvSpPr>
        <p:spPr>
          <a:xfrm>
            <a:off x="7498080" y="1399032"/>
            <a:ext cx="3749040" cy="256032"/>
          </a:xfrm>
          <a:prstGeom prst="rect">
            <a:avLst/>
          </a:prstGeom>
          <a:noFill/>
          <a:ln/>
        </p:spPr>
        <p:txBody>
          <a:bodyPr wrap="square" rtlCol="0" anchor="ctr"/>
          <a:lstStyle/>
          <a:p>
            <a:pPr algn="ctr" indent="0" marL="0">
              <a:buNone/>
            </a:pPr>
            <a:r>
              <a:rPr lang="en-US" sz="950" b="1" dirty="0">
                <a:solidFill>
                  <a:srgbClr val="065F46"/>
                </a:solidFill>
                <a:latin typeface="Arial" pitchFamily="34" charset="0"/>
                <a:ea typeface="Arial" pitchFamily="34" charset="-122"/>
                <a:cs typeface="Arial" pitchFamily="34" charset="-120"/>
              </a:rPr>
              <a:t>🟢 ĐÃ SẴN SÀNG (Nền tảng sẵn có (Đợt 1))</a:t>
            </a:r>
            <a:endParaRPr lang="en-US" sz="950" dirty="0"/>
          </a:p>
        </p:txBody>
      </p:sp>
      <p:sp>
        <p:nvSpPr>
          <p:cNvPr id="11" name="Text 7"/>
          <p:cNvSpPr/>
          <p:nvPr/>
        </p:nvSpPr>
        <p:spPr>
          <a:xfrm>
            <a:off x="914400" y="1673352"/>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Trang chủ có 8 ô tính năng nhanh, dàn trải, gây ngợp khi sử dụng.</a:t>
            </a:r>
            <a:endParaRPr lang="en-US" sz="1000" dirty="0"/>
          </a:p>
        </p:txBody>
      </p:sp>
      <p:sp>
        <p:nvSpPr>
          <p:cNvPr id="12" name="Text 8"/>
          <p:cNvSpPr/>
          <p:nvPr/>
        </p:nvSpPr>
        <p:spPr>
          <a:xfrm>
            <a:off x="914400" y="1965960"/>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Rút gọn 4 tính năng cốt lõi (Sự kiện, Danh bạ, Cơ hội, Mạng lưới) + Cho phép tự chọn phím tắt cá nhân hóa.</a:t>
            </a:r>
            <a:endParaRPr lang="en-US" sz="1050" dirty="0"/>
          </a:p>
        </p:txBody>
      </p:sp>
      <p:sp>
        <p:nvSpPr>
          <p:cNvPr id="13" name="Shape 9"/>
          <p:cNvSpPr/>
          <p:nvPr/>
        </p:nvSpPr>
        <p:spPr>
          <a:xfrm>
            <a:off x="731520" y="2670048"/>
            <a:ext cx="10725912" cy="1234440"/>
          </a:xfrm>
          <a:prstGeom prst="roundRect">
            <a:avLst>
              <a:gd name="adj" fmla="val 4444"/>
            </a:avLst>
          </a:prstGeom>
          <a:solidFill>
            <a:srgbClr val="FFFFFF"/>
          </a:solidFill>
          <a:ln w="12700">
            <a:solidFill>
              <a:srgbClr val="CBD5E1"/>
            </a:solidFill>
            <a:prstDash val="solid"/>
          </a:ln>
        </p:spPr>
      </p:sp>
      <p:sp>
        <p:nvSpPr>
          <p:cNvPr id="14" name="Text 10"/>
          <p:cNvSpPr/>
          <p:nvPr/>
        </p:nvSpPr>
        <p:spPr>
          <a:xfrm>
            <a:off x="914400" y="2743200"/>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2. Thẻ hội viên thông minh</a:t>
            </a:r>
            <a:endParaRPr lang="en-US" sz="1300" dirty="0"/>
          </a:p>
        </p:txBody>
      </p:sp>
      <p:sp>
        <p:nvSpPr>
          <p:cNvPr id="15" name="Shape 11"/>
          <p:cNvSpPr/>
          <p:nvPr/>
        </p:nvSpPr>
        <p:spPr>
          <a:xfrm>
            <a:off x="7498080" y="2743200"/>
            <a:ext cx="3749040" cy="256032"/>
          </a:xfrm>
          <a:prstGeom prst="roundRect">
            <a:avLst>
              <a:gd name="adj" fmla="val 14286"/>
            </a:avLst>
          </a:prstGeom>
          <a:solidFill>
            <a:srgbClr val="D1FAE5"/>
          </a:solidFill>
          <a:ln w="12700">
            <a:solidFill>
              <a:srgbClr val="065F46"/>
            </a:solidFill>
            <a:prstDash val="solid"/>
          </a:ln>
        </p:spPr>
      </p:sp>
      <p:sp>
        <p:nvSpPr>
          <p:cNvPr id="16" name="Text 12"/>
          <p:cNvSpPr/>
          <p:nvPr/>
        </p:nvSpPr>
        <p:spPr>
          <a:xfrm>
            <a:off x="7498080" y="2743200"/>
            <a:ext cx="3749040" cy="256032"/>
          </a:xfrm>
          <a:prstGeom prst="rect">
            <a:avLst/>
          </a:prstGeom>
          <a:noFill/>
          <a:ln/>
        </p:spPr>
        <p:txBody>
          <a:bodyPr wrap="square" rtlCol="0" anchor="ctr"/>
          <a:lstStyle/>
          <a:p>
            <a:pPr algn="ctr" indent="0" marL="0">
              <a:buNone/>
            </a:pPr>
            <a:r>
              <a:rPr lang="en-US" sz="950" b="1" dirty="0">
                <a:solidFill>
                  <a:srgbClr val="065F46"/>
                </a:solidFill>
                <a:latin typeface="Arial" pitchFamily="34" charset="0"/>
                <a:ea typeface="Arial" pitchFamily="34" charset="-122"/>
                <a:cs typeface="Arial" pitchFamily="34" charset="-120"/>
              </a:rPr>
              <a:t>🟢 ĐÃ SẴN SÀNG (Nền tảng sẵn có (Đợt 1))</a:t>
            </a:r>
            <a:endParaRPr lang="en-US" sz="950" dirty="0"/>
          </a:p>
        </p:txBody>
      </p:sp>
      <p:sp>
        <p:nvSpPr>
          <p:cNvPr id="17" name="Text 13"/>
          <p:cNvSpPr/>
          <p:nvPr/>
        </p:nvSpPr>
        <p:spPr>
          <a:xfrm>
            <a:off x="914400" y="3017520"/>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có tùy chọn ẩn/hiện email, số điện thoại để bảo vệ quyền riêng tư.</a:t>
            </a:r>
            <a:endParaRPr lang="en-US" sz="1000" dirty="0"/>
          </a:p>
        </p:txBody>
      </p:sp>
      <p:sp>
        <p:nvSpPr>
          <p:cNvPr id="18" name="Text 14"/>
          <p:cNvSpPr/>
          <p:nvPr/>
        </p:nvSpPr>
        <p:spPr>
          <a:xfrm>
            <a:off x="914400" y="3310128"/>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Bổ sung công tắc Ẩn/Hiện SĐT &amp; Email độc lập; tự động gắn huy hiệu xác thực bảo mật khi chia sẻ đối ngoại.</a:t>
            </a:r>
            <a:endParaRPr lang="en-US" sz="1050" dirty="0"/>
          </a:p>
        </p:txBody>
      </p:sp>
      <p:sp>
        <p:nvSpPr>
          <p:cNvPr id="19" name="Shape 15"/>
          <p:cNvSpPr/>
          <p:nvPr/>
        </p:nvSpPr>
        <p:spPr>
          <a:xfrm>
            <a:off x="731520" y="4014216"/>
            <a:ext cx="10725912" cy="1234440"/>
          </a:xfrm>
          <a:prstGeom prst="roundRect">
            <a:avLst>
              <a:gd name="adj" fmla="val 4444"/>
            </a:avLst>
          </a:prstGeom>
          <a:solidFill>
            <a:srgbClr val="FFFFFF"/>
          </a:solidFill>
          <a:ln w="12700">
            <a:solidFill>
              <a:srgbClr val="CBD5E1"/>
            </a:solidFill>
            <a:prstDash val="solid"/>
          </a:ln>
        </p:spPr>
      </p:sp>
      <p:sp>
        <p:nvSpPr>
          <p:cNvPr id="20" name="Text 16"/>
          <p:cNvSpPr/>
          <p:nvPr/>
        </p:nvSpPr>
        <p:spPr>
          <a:xfrm>
            <a:off x="914400" y="4087368"/>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3. Đặc quyền &amp; Gian hàng số</a:t>
            </a:r>
            <a:endParaRPr lang="en-US" sz="1300" dirty="0"/>
          </a:p>
        </p:txBody>
      </p:sp>
      <p:sp>
        <p:nvSpPr>
          <p:cNvPr id="21" name="Shape 17"/>
          <p:cNvSpPr/>
          <p:nvPr/>
        </p:nvSpPr>
        <p:spPr>
          <a:xfrm>
            <a:off x="7498080" y="4087368"/>
            <a:ext cx="3749040" cy="256032"/>
          </a:xfrm>
          <a:prstGeom prst="roundRect">
            <a:avLst>
              <a:gd name="adj" fmla="val 14286"/>
            </a:avLst>
          </a:prstGeom>
          <a:solidFill>
            <a:srgbClr val="FEF3C7"/>
          </a:solidFill>
          <a:ln w="12700">
            <a:solidFill>
              <a:srgbClr val="92400E"/>
            </a:solidFill>
            <a:prstDash val="solid"/>
          </a:ln>
        </p:spPr>
      </p:sp>
      <p:sp>
        <p:nvSpPr>
          <p:cNvPr id="22" name="Text 18"/>
          <p:cNvSpPr/>
          <p:nvPr/>
        </p:nvSpPr>
        <p:spPr>
          <a:xfrm>
            <a:off x="7498080" y="4087368"/>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3" name="Text 19"/>
          <p:cNvSpPr/>
          <p:nvPr/>
        </p:nvSpPr>
        <p:spPr>
          <a:xfrm>
            <a:off x="914400" y="4361688"/>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Đang nằm chung tính năng nhanh, chưa có không gian quyền lợi và gian hàng riêng.</a:t>
            </a:r>
            <a:endParaRPr lang="en-US" sz="1000" dirty="0"/>
          </a:p>
        </p:txBody>
      </p:sp>
      <p:sp>
        <p:nvSpPr>
          <p:cNvPr id="24" name="Text 20"/>
          <p:cNvSpPr/>
          <p:nvPr/>
        </p:nvSpPr>
        <p:spPr>
          <a:xfrm>
            <a:off x="914400" y="4654296"/>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Tách phân hệ Đặc Quyền chuyên biệt + Xây dựng "Gian Hàng Doanh Nghiệp Số" độc quyền (5 sản phẩm tiêu biểu / MST).</a:t>
            </a:r>
            <a:endParaRPr lang="en-US" sz="1050" dirty="0"/>
          </a:p>
        </p:txBody>
      </p:sp>
      <p:sp>
        <p:nvSpPr>
          <p:cNvPr id="25" name="Shape 21"/>
          <p:cNvSpPr/>
          <p:nvPr/>
        </p:nvSpPr>
        <p:spPr>
          <a:xfrm>
            <a:off x="731520" y="5404104"/>
            <a:ext cx="10725912" cy="594360"/>
          </a:xfrm>
          <a:prstGeom prst="roundRect">
            <a:avLst>
              <a:gd name="adj" fmla="val 9231"/>
            </a:avLst>
          </a:prstGeom>
          <a:solidFill>
            <a:srgbClr val="F0FDF4"/>
          </a:solidFill>
          <a:ln w="12700">
            <a:solidFill>
              <a:srgbClr val="10B981"/>
            </a:solidFill>
            <a:prstDash val="solid"/>
          </a:ln>
        </p:spPr>
      </p:sp>
      <p:sp>
        <p:nvSpPr>
          <p:cNvPr id="26" name="Text 22"/>
          <p:cNvSpPr/>
          <p:nvPr/>
        </p:nvSpPr>
        <p:spPr>
          <a:xfrm>
            <a:off x="914400" y="5513832"/>
            <a:ext cx="10332720" cy="384048"/>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Trọng tâm Nhóm A: Tinh giản giao diện di động 1 chạm; bảo vệ dữ liệu cá nhân theo tiêu chuẩn an toàn thông tin doanh nghiệp.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1148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NHÓM B: XÚC TIẾN THƯƠNG MẠI B2B</a:t>
            </a:r>
            <a:endParaRPr lang="en-US" sz="2000" dirty="0"/>
          </a:p>
        </p:txBody>
      </p:sp>
      <p:sp>
        <p:nvSpPr>
          <p:cNvPr id="3" name="Text 1"/>
          <p:cNvSpPr/>
          <p:nvPr/>
        </p:nvSpPr>
        <p:spPr>
          <a:xfrm>
            <a:off x="731520" y="868680"/>
            <a:ext cx="804672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Chuẩn hóa hạn mức, phân luồng giao thương 2 chiều &amp; ghi nhận doanh số thực tế</a:t>
            </a:r>
            <a:endParaRPr lang="en-US" sz="120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10725912" cy="960120"/>
          </a:xfrm>
          <a:prstGeom prst="roundRect">
            <a:avLst>
              <a:gd name="adj" fmla="val 5714"/>
            </a:avLst>
          </a:prstGeom>
          <a:solidFill>
            <a:srgbClr val="FFFFFF"/>
          </a:solidFill>
          <a:ln w="12700">
            <a:solidFill>
              <a:srgbClr val="CBD5E1"/>
            </a:solidFill>
            <a:prstDash val="solid"/>
          </a:ln>
        </p:spPr>
      </p:sp>
      <p:sp>
        <p:nvSpPr>
          <p:cNvPr id="8" name="Text 4"/>
          <p:cNvSpPr/>
          <p:nvPr/>
        </p:nvSpPr>
        <p:spPr>
          <a:xfrm>
            <a:off x="914400" y="1399032"/>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4. Hạn mức Sàn B2B</a:t>
            </a:r>
            <a:endParaRPr lang="en-US" sz="1200" dirty="0"/>
          </a:p>
        </p:txBody>
      </p:sp>
      <p:sp>
        <p:nvSpPr>
          <p:cNvPr id="9" name="Shape 5"/>
          <p:cNvSpPr/>
          <p:nvPr/>
        </p:nvSpPr>
        <p:spPr>
          <a:xfrm>
            <a:off x="7498080" y="1399032"/>
            <a:ext cx="3749040" cy="256032"/>
          </a:xfrm>
          <a:prstGeom prst="roundRect">
            <a:avLst>
              <a:gd name="adj" fmla="val 14286"/>
            </a:avLst>
          </a:prstGeom>
          <a:solidFill>
            <a:srgbClr val="FEF3C7"/>
          </a:solidFill>
          <a:ln w="12700">
            <a:solidFill>
              <a:srgbClr val="92400E"/>
            </a:solidFill>
            <a:prstDash val="solid"/>
          </a:ln>
        </p:spPr>
      </p:sp>
      <p:sp>
        <p:nvSpPr>
          <p:cNvPr id="10" name="Text 6"/>
          <p:cNvSpPr/>
          <p:nvPr/>
        </p:nvSpPr>
        <p:spPr>
          <a:xfrm>
            <a:off x="7498080" y="1399032"/>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11" name="Text 7"/>
          <p:cNvSpPr/>
          <p:nvPr/>
        </p:nvSpPr>
        <p:spPr>
          <a:xfrm>
            <a:off x="914400" y="1673352"/>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giới hạn sản phẩm mỗi doanh nghiệp, nguy cơ spam và quá tải hạ tầng.</a:t>
            </a:r>
            <a:endParaRPr lang="en-US" sz="1000" dirty="0"/>
          </a:p>
        </p:txBody>
      </p:sp>
      <p:sp>
        <p:nvSpPr>
          <p:cNvPr id="12" name="Text 8"/>
          <p:cNvSpPr/>
          <p:nvPr/>
        </p:nvSpPr>
        <p:spPr>
          <a:xfrm>
            <a:off x="914400" y="1965960"/>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Áp dụng hạn mức chuẩn tối đa 5 sản phẩm/doanh nghiệp; tối ưu 80% hạ tầng lưu trữ với công nghệ nén ảnh WebP.</a:t>
            </a:r>
            <a:endParaRPr lang="en-US" sz="1050" dirty="0"/>
          </a:p>
        </p:txBody>
      </p:sp>
      <p:sp>
        <p:nvSpPr>
          <p:cNvPr id="13" name="Shape 9"/>
          <p:cNvSpPr/>
          <p:nvPr/>
        </p:nvSpPr>
        <p:spPr>
          <a:xfrm>
            <a:off x="731520" y="2359152"/>
            <a:ext cx="10725912" cy="960120"/>
          </a:xfrm>
          <a:prstGeom prst="roundRect">
            <a:avLst>
              <a:gd name="adj" fmla="val 5714"/>
            </a:avLst>
          </a:prstGeom>
          <a:solidFill>
            <a:srgbClr val="FFFFFF"/>
          </a:solidFill>
          <a:ln w="12700">
            <a:solidFill>
              <a:srgbClr val="CBD5E1"/>
            </a:solidFill>
            <a:prstDash val="solid"/>
          </a:ln>
        </p:spPr>
      </p:sp>
      <p:sp>
        <p:nvSpPr>
          <p:cNvPr id="14" name="Text 10"/>
          <p:cNvSpPr/>
          <p:nvPr/>
        </p:nvSpPr>
        <p:spPr>
          <a:xfrm>
            <a:off x="914400" y="2432304"/>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5. Bộ lọc Cơ hội hợp tác</a:t>
            </a:r>
            <a:endParaRPr lang="en-US" sz="1200" dirty="0"/>
          </a:p>
        </p:txBody>
      </p:sp>
      <p:sp>
        <p:nvSpPr>
          <p:cNvPr id="15" name="Shape 11"/>
          <p:cNvSpPr/>
          <p:nvPr/>
        </p:nvSpPr>
        <p:spPr>
          <a:xfrm>
            <a:off x="7498080" y="2432304"/>
            <a:ext cx="3749040" cy="256032"/>
          </a:xfrm>
          <a:prstGeom prst="roundRect">
            <a:avLst>
              <a:gd name="adj" fmla="val 14286"/>
            </a:avLst>
          </a:prstGeom>
          <a:solidFill>
            <a:srgbClr val="FEF3C7"/>
          </a:solidFill>
          <a:ln w="12700">
            <a:solidFill>
              <a:srgbClr val="92400E"/>
            </a:solidFill>
            <a:prstDash val="solid"/>
          </a:ln>
        </p:spPr>
      </p:sp>
      <p:sp>
        <p:nvSpPr>
          <p:cNvPr id="16" name="Text 12"/>
          <p:cNvSpPr/>
          <p:nvPr/>
        </p:nvSpPr>
        <p:spPr>
          <a:xfrm>
            <a:off x="7498080" y="2432304"/>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17" name="Text 13"/>
          <p:cNvSpPr/>
          <p:nvPr/>
        </p:nvSpPr>
        <p:spPr>
          <a:xfrm>
            <a:off x="914400" y="2706624"/>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Khó tìm đúng đối tác theo ngành nghề; thông tin cơ hội dàn trải.</a:t>
            </a:r>
            <a:endParaRPr lang="en-US" sz="1000" dirty="0"/>
          </a:p>
        </p:txBody>
      </p:sp>
      <p:sp>
        <p:nvSpPr>
          <p:cNvPr id="18" name="Text 14"/>
          <p:cNvSpPr/>
          <p:nvPr/>
        </p:nvSpPr>
        <p:spPr>
          <a:xfrm>
            <a:off x="914400" y="2999232"/>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Phân luồng 2 chiều (🛒 Cần Mua / 📦 Cần Bán) + Tích hợp bộ lọc 10 ngành nghề trọng điểm HanoiBA.</a:t>
            </a:r>
            <a:endParaRPr lang="en-US" sz="1050" dirty="0"/>
          </a:p>
        </p:txBody>
      </p:sp>
      <p:sp>
        <p:nvSpPr>
          <p:cNvPr id="19" name="Shape 15"/>
          <p:cNvSpPr/>
          <p:nvPr/>
        </p:nvSpPr>
        <p:spPr>
          <a:xfrm>
            <a:off x="731520" y="3392424"/>
            <a:ext cx="10725912" cy="960120"/>
          </a:xfrm>
          <a:prstGeom prst="roundRect">
            <a:avLst>
              <a:gd name="adj" fmla="val 5714"/>
            </a:avLst>
          </a:prstGeom>
          <a:solidFill>
            <a:srgbClr val="FFFFFF"/>
          </a:solidFill>
          <a:ln w="12700">
            <a:solidFill>
              <a:srgbClr val="CBD5E1"/>
            </a:solidFill>
            <a:prstDash val="solid"/>
          </a:ln>
        </p:spPr>
      </p:sp>
      <p:sp>
        <p:nvSpPr>
          <p:cNvPr id="20" name="Text 16"/>
          <p:cNvSpPr/>
          <p:nvPr/>
        </p:nvSpPr>
        <p:spPr>
          <a:xfrm>
            <a:off x="914400" y="3465576"/>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6. Giới thiệu hội viên (Voucher)</a:t>
            </a:r>
            <a:endParaRPr lang="en-US" sz="1200" dirty="0"/>
          </a:p>
        </p:txBody>
      </p:sp>
      <p:sp>
        <p:nvSpPr>
          <p:cNvPr id="21" name="Shape 17"/>
          <p:cNvSpPr/>
          <p:nvPr/>
        </p:nvSpPr>
        <p:spPr>
          <a:xfrm>
            <a:off x="7498080" y="3465576"/>
            <a:ext cx="3749040" cy="256032"/>
          </a:xfrm>
          <a:prstGeom prst="roundRect">
            <a:avLst>
              <a:gd name="adj" fmla="val 14286"/>
            </a:avLst>
          </a:prstGeom>
          <a:solidFill>
            <a:srgbClr val="FEF3C7"/>
          </a:solidFill>
          <a:ln w="12700">
            <a:solidFill>
              <a:srgbClr val="92400E"/>
            </a:solidFill>
            <a:prstDash val="solid"/>
          </a:ln>
        </p:spPr>
      </p:sp>
      <p:sp>
        <p:nvSpPr>
          <p:cNvPr id="22" name="Text 18"/>
          <p:cNvSpPr/>
          <p:nvPr/>
        </p:nvSpPr>
        <p:spPr>
          <a:xfrm>
            <a:off x="7498080" y="3465576"/>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3" name="Text 19"/>
          <p:cNvSpPr/>
          <p:nvPr/>
        </p:nvSpPr>
        <p:spPr>
          <a:xfrm>
            <a:off x="914400" y="3739896"/>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có cơ chế giới thiệu văn minh; mục quảng cáo menu CRM chưa phù hợp.</a:t>
            </a:r>
            <a:endParaRPr lang="en-US" sz="1000" dirty="0"/>
          </a:p>
        </p:txBody>
      </p:sp>
      <p:sp>
        <p:nvSpPr>
          <p:cNvPr id="24" name="Text 20"/>
          <p:cNvSpPr/>
          <p:nvPr/>
        </p:nvSpPr>
        <p:spPr>
          <a:xfrm>
            <a:off x="914400" y="4032504"/>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Cấp mã mời / QR định danh riêng; tặng Voucher đặc quyền VIP khi giới thiệu thành công (tuyệt đối không làm affiliate).</a:t>
            </a:r>
            <a:endParaRPr lang="en-US" sz="1050" dirty="0"/>
          </a:p>
        </p:txBody>
      </p:sp>
      <p:sp>
        <p:nvSpPr>
          <p:cNvPr id="25" name="Shape 21"/>
          <p:cNvSpPr/>
          <p:nvPr/>
        </p:nvSpPr>
        <p:spPr>
          <a:xfrm>
            <a:off x="731520" y="4425696"/>
            <a:ext cx="10725912" cy="960120"/>
          </a:xfrm>
          <a:prstGeom prst="roundRect">
            <a:avLst>
              <a:gd name="adj" fmla="val 5714"/>
            </a:avLst>
          </a:prstGeom>
          <a:solidFill>
            <a:srgbClr val="FFFFFF"/>
          </a:solidFill>
          <a:ln w="12700">
            <a:solidFill>
              <a:srgbClr val="CBD5E1"/>
            </a:solidFill>
            <a:prstDash val="solid"/>
          </a:ln>
        </p:spPr>
      </p:sp>
      <p:sp>
        <p:nvSpPr>
          <p:cNvPr id="26" name="Text 22"/>
          <p:cNvSpPr/>
          <p:nvPr/>
        </p:nvSpPr>
        <p:spPr>
          <a:xfrm>
            <a:off x="914400" y="4498848"/>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7. Ghi nhận doanh số B2B</a:t>
            </a:r>
            <a:endParaRPr lang="en-US" sz="1200" dirty="0"/>
          </a:p>
        </p:txBody>
      </p:sp>
      <p:sp>
        <p:nvSpPr>
          <p:cNvPr id="27" name="Shape 23"/>
          <p:cNvSpPr/>
          <p:nvPr/>
        </p:nvSpPr>
        <p:spPr>
          <a:xfrm>
            <a:off x="7498080" y="4498848"/>
            <a:ext cx="3749040" cy="256032"/>
          </a:xfrm>
          <a:prstGeom prst="roundRect">
            <a:avLst>
              <a:gd name="adj" fmla="val 14286"/>
            </a:avLst>
          </a:prstGeom>
          <a:solidFill>
            <a:srgbClr val="FEF3C7"/>
          </a:solidFill>
          <a:ln w="12700">
            <a:solidFill>
              <a:srgbClr val="92400E"/>
            </a:solidFill>
            <a:prstDash val="solid"/>
          </a:ln>
        </p:spPr>
      </p:sp>
      <p:sp>
        <p:nvSpPr>
          <p:cNvPr id="28" name="Text 24"/>
          <p:cNvSpPr/>
          <p:nvPr/>
        </p:nvSpPr>
        <p:spPr>
          <a:xfrm>
            <a:off x="7498080" y="4498848"/>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9" name="Text 25"/>
          <p:cNvSpPr/>
          <p:nvPr/>
        </p:nvSpPr>
        <p:spPr>
          <a:xfrm>
            <a:off x="914400" y="4773168"/>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tách Cơ hội với Kết nối có doanh thu; chưa đo được hiệu quả giao thương.</a:t>
            </a:r>
            <a:endParaRPr lang="en-US" sz="1000" dirty="0"/>
          </a:p>
        </p:txBody>
      </p:sp>
      <p:sp>
        <p:nvSpPr>
          <p:cNvPr id="30" name="Text 26"/>
          <p:cNvSpPr/>
          <p:nvPr/>
        </p:nvSpPr>
        <p:spPr>
          <a:xfrm>
            <a:off x="914400" y="5065776"/>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Tách quy trình 2 bước (Cơ hội -&gt; Kết nối 1-1); xác thực hợp đồng chéo 2 bên để đo lường chính xác dòng tiền CLB.</a:t>
            </a:r>
            <a:endParaRPr lang="en-US" sz="1050" dirty="0"/>
          </a:p>
        </p:txBody>
      </p:sp>
      <p:sp>
        <p:nvSpPr>
          <p:cNvPr id="31" name="Shape 27"/>
          <p:cNvSpPr/>
          <p:nvPr/>
        </p:nvSpPr>
        <p:spPr>
          <a:xfrm>
            <a:off x="731520" y="5504688"/>
            <a:ext cx="10725912" cy="594360"/>
          </a:xfrm>
          <a:prstGeom prst="roundRect">
            <a:avLst>
              <a:gd name="adj" fmla="val 9231"/>
            </a:avLst>
          </a:prstGeom>
          <a:solidFill>
            <a:srgbClr val="FFFBEB"/>
          </a:solidFill>
          <a:ln w="12700">
            <a:solidFill>
              <a:srgbClr val="F59E0B"/>
            </a:solidFill>
            <a:prstDash val="solid"/>
          </a:ln>
        </p:spPr>
      </p:sp>
      <p:sp>
        <p:nvSpPr>
          <p:cNvPr id="32" name="Text 28"/>
          <p:cNvSpPr/>
          <p:nvPr/>
        </p:nvSpPr>
        <p:spPr>
          <a:xfrm>
            <a:off x="914400" y="5614416"/>
            <a:ext cx="10332720" cy="384048"/>
          </a:xfrm>
          <a:prstGeom prst="rect">
            <a:avLst/>
          </a:prstGeom>
          <a:noFill/>
          <a:ln/>
        </p:spPr>
        <p:txBody>
          <a:bodyPr wrap="square" rtlCol="0" anchor="ctr"/>
          <a:lstStyle/>
          <a:p>
            <a:pPr indent="0" marL="0">
              <a:buNone/>
            </a:pPr>
            <a:r>
              <a:rPr lang="en-US" sz="1050" b="1" dirty="0">
                <a:solidFill>
                  <a:srgbClr val="92400E"/>
                </a:solidFill>
                <a:latin typeface="Arial" pitchFamily="34" charset="0"/>
                <a:ea typeface="Arial" pitchFamily="34" charset="-122"/>
                <a:cs typeface="Arial" pitchFamily="34" charset="-120"/>
              </a:rPr>
              <a:t>💡 Trọng tâm Nhóm B: Chuẩn hóa 5 sản phẩm/DN, kết nối trực tiếp cung - cầu 10 ngành nghề trọng điểm HanoiBA và phát hành voucher tri ân hội viên.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1148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NHÓM C: SỰ KIỆN &amp; SINH HOẠT</a:t>
            </a:r>
            <a:endParaRPr lang="en-US" sz="2000" dirty="0"/>
          </a:p>
        </p:txBody>
      </p:sp>
      <p:sp>
        <p:nvSpPr>
          <p:cNvPr id="3" name="Text 1"/>
          <p:cNvSpPr/>
          <p:nvPr/>
        </p:nvSpPr>
        <p:spPr>
          <a:xfrm>
            <a:off x="731520" y="868680"/>
            <a:ext cx="804672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Vé điện tử tự động đa kênh, Check-in gắn lợi ích &amp; phễu Onboarding chuyên nghiệp</a:t>
            </a:r>
            <a:endParaRPr lang="en-US" sz="120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10725912" cy="1234440"/>
          </a:xfrm>
          <a:prstGeom prst="roundRect">
            <a:avLst>
              <a:gd name="adj" fmla="val 4444"/>
            </a:avLst>
          </a:prstGeom>
          <a:solidFill>
            <a:srgbClr val="FFFFFF"/>
          </a:solidFill>
          <a:ln w="12700">
            <a:solidFill>
              <a:srgbClr val="CBD5E1"/>
            </a:solidFill>
            <a:prstDash val="solid"/>
          </a:ln>
        </p:spPr>
      </p:sp>
      <p:sp>
        <p:nvSpPr>
          <p:cNvPr id="8" name="Text 4"/>
          <p:cNvSpPr/>
          <p:nvPr/>
        </p:nvSpPr>
        <p:spPr>
          <a:xfrm>
            <a:off x="914400" y="1399032"/>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8. Vé điện tử &amp; Thanh toán</a:t>
            </a:r>
            <a:endParaRPr lang="en-US" sz="1300" dirty="0"/>
          </a:p>
        </p:txBody>
      </p:sp>
      <p:sp>
        <p:nvSpPr>
          <p:cNvPr id="9" name="Shape 5"/>
          <p:cNvSpPr/>
          <p:nvPr/>
        </p:nvSpPr>
        <p:spPr>
          <a:xfrm>
            <a:off x="7498080" y="1399032"/>
            <a:ext cx="3749040" cy="256032"/>
          </a:xfrm>
          <a:prstGeom prst="roundRect">
            <a:avLst>
              <a:gd name="adj" fmla="val 14286"/>
            </a:avLst>
          </a:prstGeom>
          <a:solidFill>
            <a:srgbClr val="DBEAFE"/>
          </a:solidFill>
          <a:ln w="12700">
            <a:solidFill>
              <a:srgbClr val="1E40AF"/>
            </a:solidFill>
            <a:prstDash val="solid"/>
          </a:ln>
        </p:spPr>
      </p:sp>
      <p:sp>
        <p:nvSpPr>
          <p:cNvPr id="10" name="Text 6"/>
          <p:cNvSpPr/>
          <p:nvPr/>
        </p:nvSpPr>
        <p:spPr>
          <a:xfrm>
            <a:off x="7498080" y="1399032"/>
            <a:ext cx="3749040" cy="256032"/>
          </a:xfrm>
          <a:prstGeom prst="rect">
            <a:avLst/>
          </a:prstGeom>
          <a:noFill/>
          <a:ln/>
        </p:spPr>
        <p:txBody>
          <a:bodyPr wrap="square" rtlCol="0" anchor="ctr"/>
          <a:lstStyle/>
          <a:p>
            <a:pPr algn="ctr" indent="0" marL="0">
              <a:buNone/>
            </a:pPr>
            <a:r>
              <a:rPr lang="en-US" sz="950" b="1" dirty="0">
                <a:solidFill>
                  <a:srgbClr val="1E40AF"/>
                </a:solidFill>
                <a:latin typeface="Arial" pitchFamily="34" charset="0"/>
                <a:ea typeface="Arial" pitchFamily="34" charset="-122"/>
                <a:cs typeface="Arial" pitchFamily="34" charset="-120"/>
              </a:rPr>
              <a:t>🔵 KẾ HOẠCH TIẾP THEO (Phối hợp kết nối trước 10/11/2026)</a:t>
            </a:r>
            <a:endParaRPr lang="en-US" sz="950" dirty="0"/>
          </a:p>
        </p:txBody>
      </p:sp>
      <p:sp>
        <p:nvSpPr>
          <p:cNvPr id="11" name="Text 7"/>
          <p:cNvSpPr/>
          <p:nvPr/>
        </p:nvSpPr>
        <p:spPr>
          <a:xfrm>
            <a:off x="914400" y="1673352"/>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Vé chỉ gửi qua email dễ rơi spam; chưa kết nối Zalo OA và VNPAY.</a:t>
            </a:r>
            <a:endParaRPr lang="en-US" sz="1000" dirty="0"/>
          </a:p>
        </p:txBody>
      </p:sp>
      <p:sp>
        <p:nvSpPr>
          <p:cNvPr id="12" name="Text 8"/>
          <p:cNvSpPr/>
          <p:nvPr/>
        </p:nvSpPr>
        <p:spPr>
          <a:xfrm>
            <a:off x="914400" y="1965960"/>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Vé QR gắn mã chống spam + Tự động gửi thông báo vé qua Zalo OA (ZNS) + Sẵn sàng tích hợp cổng VietQR &amp; VNPAY.</a:t>
            </a:r>
            <a:endParaRPr lang="en-US" sz="1050" dirty="0"/>
          </a:p>
        </p:txBody>
      </p:sp>
      <p:sp>
        <p:nvSpPr>
          <p:cNvPr id="13" name="Shape 9"/>
          <p:cNvSpPr/>
          <p:nvPr/>
        </p:nvSpPr>
        <p:spPr>
          <a:xfrm>
            <a:off x="731520" y="2670048"/>
            <a:ext cx="10725912" cy="1234440"/>
          </a:xfrm>
          <a:prstGeom prst="roundRect">
            <a:avLst>
              <a:gd name="adj" fmla="val 4444"/>
            </a:avLst>
          </a:prstGeom>
          <a:solidFill>
            <a:srgbClr val="FFFFFF"/>
          </a:solidFill>
          <a:ln w="12700">
            <a:solidFill>
              <a:srgbClr val="CBD5E1"/>
            </a:solidFill>
            <a:prstDash val="solid"/>
          </a:ln>
        </p:spPr>
      </p:sp>
      <p:sp>
        <p:nvSpPr>
          <p:cNvPr id="14" name="Text 10"/>
          <p:cNvSpPr/>
          <p:nvPr/>
        </p:nvSpPr>
        <p:spPr>
          <a:xfrm>
            <a:off x="914400" y="2743200"/>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9. Check-in gắn 2 dòng lợi ích</a:t>
            </a:r>
            <a:endParaRPr lang="en-US" sz="1300" dirty="0"/>
          </a:p>
        </p:txBody>
      </p:sp>
      <p:sp>
        <p:nvSpPr>
          <p:cNvPr id="15" name="Shape 11"/>
          <p:cNvSpPr/>
          <p:nvPr/>
        </p:nvSpPr>
        <p:spPr>
          <a:xfrm>
            <a:off x="7498080" y="2743200"/>
            <a:ext cx="3749040" cy="256032"/>
          </a:xfrm>
          <a:prstGeom prst="roundRect">
            <a:avLst>
              <a:gd name="adj" fmla="val 14286"/>
            </a:avLst>
          </a:prstGeom>
          <a:solidFill>
            <a:srgbClr val="FEF3C7"/>
          </a:solidFill>
          <a:ln w="12700">
            <a:solidFill>
              <a:srgbClr val="92400E"/>
            </a:solidFill>
            <a:prstDash val="solid"/>
          </a:ln>
        </p:spPr>
      </p:sp>
      <p:sp>
        <p:nvSpPr>
          <p:cNvPr id="16" name="Text 12"/>
          <p:cNvSpPr/>
          <p:nvPr/>
        </p:nvSpPr>
        <p:spPr>
          <a:xfrm>
            <a:off x="7498080" y="2743200"/>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17" name="Text 13"/>
          <p:cNvSpPr/>
          <p:nvPr/>
        </p:nvSpPr>
        <p:spPr>
          <a:xfrm>
            <a:off x="914400" y="3017520"/>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Quét check-in chưa tạo động lực và giá trị thiết thực cho hội viên tham dự.</a:t>
            </a:r>
            <a:endParaRPr lang="en-US" sz="1000" dirty="0"/>
          </a:p>
        </p:txBody>
      </p:sp>
      <p:sp>
        <p:nvSpPr>
          <p:cNvPr id="18" name="Text 14"/>
          <p:cNvSpPr/>
          <p:nvPr/>
        </p:nvSpPr>
        <p:spPr>
          <a:xfrm>
            <a:off x="914400" y="3310128"/>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Dòng 1: Mở khóa danh bạ hội trường để kết nối tức thì; Dòng 2: Tích điểm chuyên cần &amp; Quay số may mắn Lucky Draw.</a:t>
            </a:r>
            <a:endParaRPr lang="en-US" sz="1050" dirty="0"/>
          </a:p>
        </p:txBody>
      </p:sp>
      <p:sp>
        <p:nvSpPr>
          <p:cNvPr id="19" name="Shape 15"/>
          <p:cNvSpPr/>
          <p:nvPr/>
        </p:nvSpPr>
        <p:spPr>
          <a:xfrm>
            <a:off x="731520" y="4014216"/>
            <a:ext cx="10725912" cy="1234440"/>
          </a:xfrm>
          <a:prstGeom prst="roundRect">
            <a:avLst>
              <a:gd name="adj" fmla="val 4444"/>
            </a:avLst>
          </a:prstGeom>
          <a:solidFill>
            <a:srgbClr val="FFFFFF"/>
          </a:solidFill>
          <a:ln w="12700">
            <a:solidFill>
              <a:srgbClr val="CBD5E1"/>
            </a:solidFill>
            <a:prstDash val="solid"/>
          </a:ln>
        </p:spPr>
      </p:sp>
      <p:sp>
        <p:nvSpPr>
          <p:cNvPr id="20" name="Text 16"/>
          <p:cNvSpPr/>
          <p:nvPr/>
        </p:nvSpPr>
        <p:spPr>
          <a:xfrm>
            <a:off x="914400" y="4087368"/>
            <a:ext cx="6400800" cy="292608"/>
          </a:xfrm>
          <a:prstGeom prst="rect">
            <a:avLst/>
          </a:prstGeom>
          <a:noFill/>
          <a:ln/>
        </p:spPr>
        <p:txBody>
          <a:bodyPr wrap="square" rtlCol="0" anchor="ctr"/>
          <a:lstStyle/>
          <a:p>
            <a:pPr indent="0" marL="0">
              <a:buNone/>
            </a:pPr>
            <a:r>
              <a:rPr lang="en-US" sz="1300" b="1" dirty="0">
                <a:solidFill>
                  <a:srgbClr val="1F3864"/>
                </a:solidFill>
                <a:latin typeface="Arial" pitchFamily="34" charset="0"/>
                <a:ea typeface="Arial" pitchFamily="34" charset="-122"/>
                <a:cs typeface="Arial" pitchFamily="34" charset="-120"/>
              </a:rPr>
              <a:t>10. Lịch họp &amp; Phễu Onboarding</a:t>
            </a:r>
            <a:endParaRPr lang="en-US" sz="1300" dirty="0"/>
          </a:p>
        </p:txBody>
      </p:sp>
      <p:sp>
        <p:nvSpPr>
          <p:cNvPr id="21" name="Shape 17"/>
          <p:cNvSpPr/>
          <p:nvPr/>
        </p:nvSpPr>
        <p:spPr>
          <a:xfrm>
            <a:off x="7498080" y="4087368"/>
            <a:ext cx="3749040" cy="256032"/>
          </a:xfrm>
          <a:prstGeom prst="roundRect">
            <a:avLst>
              <a:gd name="adj" fmla="val 14286"/>
            </a:avLst>
          </a:prstGeom>
          <a:solidFill>
            <a:srgbClr val="FEF3C7"/>
          </a:solidFill>
          <a:ln w="12700">
            <a:solidFill>
              <a:srgbClr val="92400E"/>
            </a:solidFill>
            <a:prstDash val="solid"/>
          </a:ln>
        </p:spPr>
      </p:sp>
      <p:sp>
        <p:nvSpPr>
          <p:cNvPr id="22" name="Text 18"/>
          <p:cNvSpPr/>
          <p:nvPr/>
        </p:nvSpPr>
        <p:spPr>
          <a:xfrm>
            <a:off x="7498080" y="4087368"/>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3" name="Text 19"/>
          <p:cNvSpPr/>
          <p:nvPr/>
        </p:nvSpPr>
        <p:spPr>
          <a:xfrm>
            <a:off x="914400" y="4361688"/>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Lịch họp thiếu thống kê; chưa có điều kiện họp định hướng trước khi vào CLB.</a:t>
            </a:r>
            <a:endParaRPr lang="en-US" sz="1000" dirty="0"/>
          </a:p>
        </p:txBody>
      </p:sp>
      <p:sp>
        <p:nvSpPr>
          <p:cNvPr id="24" name="Text 20"/>
          <p:cNvSpPr/>
          <p:nvPr/>
        </p:nvSpPr>
        <p:spPr>
          <a:xfrm>
            <a:off x="914400" y="4654296"/>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Số hóa quản trị lịch họp các ban kèm link/QR điểm danh; buộc tham gia buổi đào tạo định hướng mới phê duyệt hội viên.</a:t>
            </a:r>
            <a:endParaRPr lang="en-US" sz="1050" dirty="0"/>
          </a:p>
        </p:txBody>
      </p:sp>
      <p:sp>
        <p:nvSpPr>
          <p:cNvPr id="25" name="Shape 21"/>
          <p:cNvSpPr/>
          <p:nvPr/>
        </p:nvSpPr>
        <p:spPr>
          <a:xfrm>
            <a:off x="731520" y="5404104"/>
            <a:ext cx="10725912" cy="594360"/>
          </a:xfrm>
          <a:prstGeom prst="roundRect">
            <a:avLst>
              <a:gd name="adj" fmla="val 9231"/>
            </a:avLst>
          </a:prstGeom>
          <a:solidFill>
            <a:srgbClr val="F0FDF4"/>
          </a:solidFill>
          <a:ln w="12700">
            <a:solidFill>
              <a:srgbClr val="10B981"/>
            </a:solidFill>
            <a:prstDash val="solid"/>
          </a:ln>
        </p:spPr>
      </p:sp>
      <p:sp>
        <p:nvSpPr>
          <p:cNvPr id="26" name="Text 22"/>
          <p:cNvSpPr/>
          <p:nvPr/>
        </p:nvSpPr>
        <p:spPr>
          <a:xfrm>
            <a:off x="914400" y="5513832"/>
            <a:ext cx="10332720" cy="384048"/>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Trọng tâm Nhóm C: Số hóa 100% check-in QR sự kiện; phân định rõ cơ hội giao thương và kết nối có doanh số thực tế.</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1148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NHÓM D: QUẢN TRỊ CRM &amp; BÁO CÁO ĐIỀU HÀNH</a:t>
            </a:r>
            <a:endParaRPr lang="en-US" sz="2000" dirty="0"/>
          </a:p>
        </p:txBody>
      </p:sp>
      <p:sp>
        <p:nvSpPr>
          <p:cNvPr id="3" name="Text 1"/>
          <p:cNvSpPr/>
          <p:nvPr/>
        </p:nvSpPr>
        <p:spPr>
          <a:xfrm>
            <a:off x="731520" y="868680"/>
            <a:ext cx="804672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Chỉ số sức khỏe hội viên, cảnh báo trầm lắng, quản lý niên liễm VietQR &amp; xuất báo cáo</a:t>
            </a:r>
            <a:endParaRPr lang="en-US" sz="120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10725912" cy="960120"/>
          </a:xfrm>
          <a:prstGeom prst="roundRect">
            <a:avLst>
              <a:gd name="adj" fmla="val 5714"/>
            </a:avLst>
          </a:prstGeom>
          <a:solidFill>
            <a:srgbClr val="FFFFFF"/>
          </a:solidFill>
          <a:ln w="12700">
            <a:solidFill>
              <a:srgbClr val="CBD5E1"/>
            </a:solidFill>
            <a:prstDash val="solid"/>
          </a:ln>
        </p:spPr>
      </p:sp>
      <p:sp>
        <p:nvSpPr>
          <p:cNvPr id="8" name="Text 4"/>
          <p:cNvSpPr/>
          <p:nvPr/>
        </p:nvSpPr>
        <p:spPr>
          <a:xfrm>
            <a:off x="914400" y="1399032"/>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11. Chuẩn hóa CSDL hội viên</a:t>
            </a:r>
            <a:endParaRPr lang="en-US" sz="1200" dirty="0"/>
          </a:p>
        </p:txBody>
      </p:sp>
      <p:sp>
        <p:nvSpPr>
          <p:cNvPr id="9" name="Shape 5"/>
          <p:cNvSpPr/>
          <p:nvPr/>
        </p:nvSpPr>
        <p:spPr>
          <a:xfrm>
            <a:off x="7498080" y="1399032"/>
            <a:ext cx="3749040" cy="256032"/>
          </a:xfrm>
          <a:prstGeom prst="roundRect">
            <a:avLst>
              <a:gd name="adj" fmla="val 14286"/>
            </a:avLst>
          </a:prstGeom>
          <a:solidFill>
            <a:srgbClr val="DBEAFE"/>
          </a:solidFill>
          <a:ln w="12700">
            <a:solidFill>
              <a:srgbClr val="1E40AF"/>
            </a:solidFill>
            <a:prstDash val="solid"/>
          </a:ln>
        </p:spPr>
      </p:sp>
      <p:sp>
        <p:nvSpPr>
          <p:cNvPr id="10" name="Text 6"/>
          <p:cNvSpPr/>
          <p:nvPr/>
        </p:nvSpPr>
        <p:spPr>
          <a:xfrm>
            <a:off x="7498080" y="1399032"/>
            <a:ext cx="3749040" cy="256032"/>
          </a:xfrm>
          <a:prstGeom prst="rect">
            <a:avLst/>
          </a:prstGeom>
          <a:noFill/>
          <a:ln/>
        </p:spPr>
        <p:txBody>
          <a:bodyPr wrap="square" rtlCol="0" anchor="ctr"/>
          <a:lstStyle/>
          <a:p>
            <a:pPr algn="ctr" indent="0" marL="0">
              <a:buNone/>
            </a:pPr>
            <a:r>
              <a:rPr lang="en-US" sz="950" b="1" dirty="0">
                <a:solidFill>
                  <a:srgbClr val="1E40AF"/>
                </a:solidFill>
                <a:latin typeface="Arial" pitchFamily="34" charset="0"/>
                <a:ea typeface="Arial" pitchFamily="34" charset="-122"/>
                <a:cs typeface="Arial" pitchFamily="34" charset="-120"/>
              </a:rPr>
              <a:t>🔵 KẾ HOẠCH TIẾP THEO (Hỗ trợ nạp CSDL trước 10/11/2026)</a:t>
            </a:r>
            <a:endParaRPr lang="en-US" sz="950" dirty="0"/>
          </a:p>
        </p:txBody>
      </p:sp>
      <p:sp>
        <p:nvSpPr>
          <p:cNvPr id="11" name="Text 7"/>
          <p:cNvSpPr/>
          <p:nvPr/>
        </p:nvSpPr>
        <p:spPr>
          <a:xfrm>
            <a:off x="914400" y="1673352"/>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Dữ liệu thành viên và ngày sinh chưa cập nhật đầy đủ, khó chăm sóc.</a:t>
            </a:r>
            <a:endParaRPr lang="en-US" sz="1000" dirty="0"/>
          </a:p>
        </p:txBody>
      </p:sp>
      <p:sp>
        <p:nvSpPr>
          <p:cNvPr id="12" name="Text 8"/>
          <p:cNvSpPr/>
          <p:nvPr/>
        </p:nvSpPr>
        <p:spPr>
          <a:xfrm>
            <a:off x="914400" y="1965960"/>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Công cụ Import Excel đối soát lỗi tự động; gửi nhắc cập nhật ngày sinh nhận quà; ViConnect hỗ trợ làm sạch trong 24h.</a:t>
            </a:r>
            <a:endParaRPr lang="en-US" sz="1050" dirty="0"/>
          </a:p>
        </p:txBody>
      </p:sp>
      <p:sp>
        <p:nvSpPr>
          <p:cNvPr id="13" name="Shape 9"/>
          <p:cNvSpPr/>
          <p:nvPr/>
        </p:nvSpPr>
        <p:spPr>
          <a:xfrm>
            <a:off x="731520" y="2359152"/>
            <a:ext cx="10725912" cy="960120"/>
          </a:xfrm>
          <a:prstGeom prst="roundRect">
            <a:avLst>
              <a:gd name="adj" fmla="val 5714"/>
            </a:avLst>
          </a:prstGeom>
          <a:solidFill>
            <a:srgbClr val="FFFFFF"/>
          </a:solidFill>
          <a:ln w="12700">
            <a:solidFill>
              <a:srgbClr val="CBD5E1"/>
            </a:solidFill>
            <a:prstDash val="solid"/>
          </a:ln>
        </p:spPr>
      </p:sp>
      <p:sp>
        <p:nvSpPr>
          <p:cNvPr id="14" name="Text 10"/>
          <p:cNvSpPr/>
          <p:nvPr/>
        </p:nvSpPr>
        <p:spPr>
          <a:xfrm>
            <a:off x="914400" y="2432304"/>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12. Chỉ số sức khỏe &amp; Cảnh báo</a:t>
            </a:r>
            <a:endParaRPr lang="en-US" sz="1200" dirty="0"/>
          </a:p>
        </p:txBody>
      </p:sp>
      <p:sp>
        <p:nvSpPr>
          <p:cNvPr id="15" name="Shape 11"/>
          <p:cNvSpPr/>
          <p:nvPr/>
        </p:nvSpPr>
        <p:spPr>
          <a:xfrm>
            <a:off x="7498080" y="2432304"/>
            <a:ext cx="3749040" cy="256032"/>
          </a:xfrm>
          <a:prstGeom prst="roundRect">
            <a:avLst>
              <a:gd name="adj" fmla="val 14286"/>
            </a:avLst>
          </a:prstGeom>
          <a:solidFill>
            <a:srgbClr val="FEF3C7"/>
          </a:solidFill>
          <a:ln w="12700">
            <a:solidFill>
              <a:srgbClr val="92400E"/>
            </a:solidFill>
            <a:prstDash val="solid"/>
          </a:ln>
        </p:spPr>
      </p:sp>
      <p:sp>
        <p:nvSpPr>
          <p:cNvPr id="16" name="Text 12"/>
          <p:cNvSpPr/>
          <p:nvPr/>
        </p:nvSpPr>
        <p:spPr>
          <a:xfrm>
            <a:off x="7498080" y="2432304"/>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17" name="Text 13"/>
          <p:cNvSpPr/>
          <p:nvPr/>
        </p:nvSpPr>
        <p:spPr>
          <a:xfrm>
            <a:off x="914400" y="2706624"/>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Dashboard thiếu chỉ số tích cực theo người/ban; chưa cảnh báo hội viên trầm lắng.</a:t>
            </a:r>
            <a:endParaRPr lang="en-US" sz="1000" dirty="0"/>
          </a:p>
        </p:txBody>
      </p:sp>
      <p:sp>
        <p:nvSpPr>
          <p:cNvPr id="18" name="Text 14"/>
          <p:cNvSpPr/>
          <p:nvPr/>
        </p:nvSpPr>
        <p:spPr>
          <a:xfrm>
            <a:off x="914400" y="2999232"/>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Đồ thị Bar &amp; Line tăng/giảm, bục vinh danh Top 3 gọn 1 hàng; tự động gắn cờ hội viên ít tương tác để BĐH chăm sóc.</a:t>
            </a:r>
            <a:endParaRPr lang="en-US" sz="1050" dirty="0"/>
          </a:p>
        </p:txBody>
      </p:sp>
      <p:sp>
        <p:nvSpPr>
          <p:cNvPr id="19" name="Shape 15"/>
          <p:cNvSpPr/>
          <p:nvPr/>
        </p:nvSpPr>
        <p:spPr>
          <a:xfrm>
            <a:off x="731520" y="3392424"/>
            <a:ext cx="10725912" cy="960120"/>
          </a:xfrm>
          <a:prstGeom prst="roundRect">
            <a:avLst>
              <a:gd name="adj" fmla="val 5714"/>
            </a:avLst>
          </a:prstGeom>
          <a:solidFill>
            <a:srgbClr val="FFFFFF"/>
          </a:solidFill>
          <a:ln w="12700">
            <a:solidFill>
              <a:srgbClr val="CBD5E1"/>
            </a:solidFill>
            <a:prstDash val="solid"/>
          </a:ln>
        </p:spPr>
      </p:sp>
      <p:sp>
        <p:nvSpPr>
          <p:cNvPr id="20" name="Text 16"/>
          <p:cNvSpPr/>
          <p:nvPr/>
        </p:nvSpPr>
        <p:spPr>
          <a:xfrm>
            <a:off x="914400" y="3465576"/>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13. Quản lý hội phí VietQR</a:t>
            </a:r>
            <a:endParaRPr lang="en-US" sz="1200" dirty="0"/>
          </a:p>
        </p:txBody>
      </p:sp>
      <p:sp>
        <p:nvSpPr>
          <p:cNvPr id="21" name="Shape 17"/>
          <p:cNvSpPr/>
          <p:nvPr/>
        </p:nvSpPr>
        <p:spPr>
          <a:xfrm>
            <a:off x="7498080" y="3465576"/>
            <a:ext cx="3749040" cy="256032"/>
          </a:xfrm>
          <a:prstGeom prst="roundRect">
            <a:avLst>
              <a:gd name="adj" fmla="val 14286"/>
            </a:avLst>
          </a:prstGeom>
          <a:solidFill>
            <a:srgbClr val="FEF3C7"/>
          </a:solidFill>
          <a:ln w="12700">
            <a:solidFill>
              <a:srgbClr val="92400E"/>
            </a:solidFill>
            <a:prstDash val="solid"/>
          </a:ln>
        </p:spPr>
      </p:sp>
      <p:sp>
        <p:nvSpPr>
          <p:cNvPr id="22" name="Text 18"/>
          <p:cNvSpPr/>
          <p:nvPr/>
        </p:nvSpPr>
        <p:spPr>
          <a:xfrm>
            <a:off x="7498080" y="3465576"/>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3" name="Text 19"/>
          <p:cNvSpPr/>
          <p:nvPr/>
        </p:nvSpPr>
        <p:spPr>
          <a:xfrm>
            <a:off x="914400" y="3739896"/>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có báo cáo thu phí và cơ chế nhắc phí định kỳ đa kênh.</a:t>
            </a:r>
            <a:endParaRPr lang="en-US" sz="1000" dirty="0"/>
          </a:p>
        </p:txBody>
      </p:sp>
      <p:sp>
        <p:nvSpPr>
          <p:cNvPr id="24" name="Text 20"/>
          <p:cNvSpPr/>
          <p:nvPr/>
        </p:nvSpPr>
        <p:spPr>
          <a:xfrm>
            <a:off x="914400" y="4032504"/>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Theo dõi niên độ 365 ngày (Hiệu lực / Sắp hạn / Nợ phí); tạo thông báo gắn VietQR động khớp tiền tự động; sẵn sàng nhắc Zalo.</a:t>
            </a:r>
            <a:endParaRPr lang="en-US" sz="1050" dirty="0"/>
          </a:p>
        </p:txBody>
      </p:sp>
      <p:sp>
        <p:nvSpPr>
          <p:cNvPr id="25" name="Shape 21"/>
          <p:cNvSpPr/>
          <p:nvPr/>
        </p:nvSpPr>
        <p:spPr>
          <a:xfrm>
            <a:off x="731520" y="4425696"/>
            <a:ext cx="10725912" cy="960120"/>
          </a:xfrm>
          <a:prstGeom prst="roundRect">
            <a:avLst>
              <a:gd name="adj" fmla="val 5714"/>
            </a:avLst>
          </a:prstGeom>
          <a:solidFill>
            <a:srgbClr val="FFFFFF"/>
          </a:solidFill>
          <a:ln w="12700">
            <a:solidFill>
              <a:srgbClr val="CBD5E1"/>
            </a:solidFill>
            <a:prstDash val="solid"/>
          </a:ln>
        </p:spPr>
      </p:sp>
      <p:sp>
        <p:nvSpPr>
          <p:cNvPr id="26" name="Text 22"/>
          <p:cNvSpPr/>
          <p:nvPr/>
        </p:nvSpPr>
        <p:spPr>
          <a:xfrm>
            <a:off x="914400" y="4498848"/>
            <a:ext cx="6400800" cy="292608"/>
          </a:xfrm>
          <a:prstGeom prst="rect">
            <a:avLst/>
          </a:prstGeom>
          <a:noFill/>
          <a:ln/>
        </p:spPr>
        <p:txBody>
          <a:bodyPr wrap="square" rtlCol="0" anchor="ctr"/>
          <a:lstStyle/>
          <a:p>
            <a:pPr indent="0" marL="0">
              <a:buNone/>
            </a:pPr>
            <a:r>
              <a:rPr lang="en-US" sz="1200" b="1" dirty="0">
                <a:solidFill>
                  <a:srgbClr val="1F3864"/>
                </a:solidFill>
                <a:latin typeface="Arial" pitchFamily="34" charset="0"/>
                <a:ea typeface="Arial" pitchFamily="34" charset="-122"/>
                <a:cs typeface="Arial" pitchFamily="34" charset="-120"/>
              </a:rPr>
              <a:t>14. Bộ Báo cáo Tháng/Quý/Năm</a:t>
            </a:r>
            <a:endParaRPr lang="en-US" sz="1200" dirty="0"/>
          </a:p>
        </p:txBody>
      </p:sp>
      <p:sp>
        <p:nvSpPr>
          <p:cNvPr id="27" name="Shape 23"/>
          <p:cNvSpPr/>
          <p:nvPr/>
        </p:nvSpPr>
        <p:spPr>
          <a:xfrm>
            <a:off x="7498080" y="4498848"/>
            <a:ext cx="3749040" cy="256032"/>
          </a:xfrm>
          <a:prstGeom prst="roundRect">
            <a:avLst>
              <a:gd name="adj" fmla="val 14286"/>
            </a:avLst>
          </a:prstGeom>
          <a:solidFill>
            <a:srgbClr val="FEF3C7"/>
          </a:solidFill>
          <a:ln w="12700">
            <a:solidFill>
              <a:srgbClr val="92400E"/>
            </a:solidFill>
            <a:prstDash val="solid"/>
          </a:ln>
        </p:spPr>
      </p:sp>
      <p:sp>
        <p:nvSpPr>
          <p:cNvPr id="28" name="Text 24"/>
          <p:cNvSpPr/>
          <p:nvPr/>
        </p:nvSpPr>
        <p:spPr>
          <a:xfrm>
            <a:off x="7498080" y="4498848"/>
            <a:ext cx="3749040" cy="256032"/>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 ĐANG TRIỂN KHAI (Hoàn thiện trước 05/11/2026)</a:t>
            </a:r>
            <a:endParaRPr lang="en-US" sz="950" dirty="0"/>
          </a:p>
        </p:txBody>
      </p:sp>
      <p:sp>
        <p:nvSpPr>
          <p:cNvPr id="29" name="Text 25"/>
          <p:cNvSpPr/>
          <p:nvPr/>
        </p:nvSpPr>
        <p:spPr>
          <a:xfrm>
            <a:off x="914400" y="4773168"/>
            <a:ext cx="10332720" cy="292608"/>
          </a:xfrm>
          <a:prstGeom prst="rect">
            <a:avLst/>
          </a:prstGeom>
          <a:noFill/>
          <a:ln/>
        </p:spPr>
        <p:txBody>
          <a:bodyPr wrap="square" rtlCol="0" anchor="ctr"/>
          <a:lstStyle/>
          <a:p>
            <a:pPr indent="0" marL="0">
              <a:buNone/>
            </a:pPr>
            <a:r>
              <a:rPr lang="en-US" sz="1000" dirty="0">
                <a:solidFill>
                  <a:srgbClr val="991B1B"/>
                </a:solidFill>
                <a:latin typeface="Arial" pitchFamily="34" charset="0"/>
                <a:ea typeface="Arial" pitchFamily="34" charset="-122"/>
                <a:cs typeface="Arial" pitchFamily="34" charset="-120"/>
              </a:rPr>
              <a:t>⚠️ Vấn đề CLB: Chưa có mẫu báo cáo chuẩn kỳ phục vụ họp Ban Điều Hành.</a:t>
            </a:r>
            <a:endParaRPr lang="en-US" sz="1000" dirty="0"/>
          </a:p>
        </p:txBody>
      </p:sp>
      <p:sp>
        <p:nvSpPr>
          <p:cNvPr id="30" name="Text 26"/>
          <p:cNvSpPr/>
          <p:nvPr/>
        </p:nvSpPr>
        <p:spPr>
          <a:xfrm>
            <a:off x="914400" y="5065776"/>
            <a:ext cx="10332720" cy="320040"/>
          </a:xfrm>
          <a:prstGeom prst="rect">
            <a:avLst/>
          </a:prstGeom>
          <a:noFill/>
          <a:ln/>
        </p:spPr>
        <p:txBody>
          <a:bodyPr wrap="square" rtlCol="0" anchor="ctr"/>
          <a:lstStyle/>
          <a:p>
            <a:pPr indent="0" marL="0">
              <a:buNone/>
            </a:pPr>
            <a:r>
              <a:rPr lang="en-US" sz="1050" b="1" dirty="0">
                <a:solidFill>
                  <a:srgbClr val="065F46"/>
                </a:solidFill>
                <a:latin typeface="Arial" pitchFamily="34" charset="0"/>
                <a:ea typeface="Arial" pitchFamily="34" charset="-122"/>
                <a:cs typeface="Arial" pitchFamily="34" charset="-120"/>
              </a:rPr>
              <a:t>💡 Giải pháp ViConnect: Mẫu báo cáo điều hành 4 trụ cột (Tài chính, Tích cực, Giao thương, Hội viên mới) xuất bản in A4 và file Excel tức thì.</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411480"/>
            <a:ext cx="8046720" cy="411480"/>
          </a:xfrm>
          <a:prstGeom prst="rect">
            <a:avLst/>
          </a:prstGeom>
          <a:noFill/>
          <a:ln/>
        </p:spPr>
        <p:txBody>
          <a:bodyPr wrap="square" rtlCol="0" anchor="ctr"/>
          <a:lstStyle/>
          <a:p>
            <a:pPr indent="0" marL="0">
              <a:buNone/>
            </a:pPr>
            <a:r>
              <a:rPr lang="en-US" sz="2000" b="1" dirty="0">
                <a:solidFill>
                  <a:srgbClr val="1F3864"/>
                </a:solidFill>
                <a:latin typeface="Arial" pitchFamily="34" charset="0"/>
                <a:ea typeface="Arial" pitchFamily="34" charset="-122"/>
                <a:cs typeface="Arial" pitchFamily="34" charset="-120"/>
              </a:rPr>
              <a:t>NHÓM E: TRANG CÁ NHÂN HỘI VIÊN</a:t>
            </a:r>
            <a:endParaRPr lang="en-US" sz="2000" dirty="0"/>
          </a:p>
        </p:txBody>
      </p:sp>
      <p:sp>
        <p:nvSpPr>
          <p:cNvPr id="3" name="Text 1"/>
          <p:cNvSpPr/>
          <p:nvPr/>
        </p:nvSpPr>
        <p:spPr>
          <a:xfrm>
            <a:off x="731520" y="868680"/>
            <a:ext cx="804672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Dòng thời gian hoạt động &amp; danh thiếp số doanh nhân tích hợp 1 chạm</a:t>
            </a:r>
            <a:endParaRPr lang="en-US" sz="1200" dirty="0"/>
          </a:p>
        </p:txBody>
      </p:sp>
      <p:pic>
        <p:nvPicPr>
          <p:cNvPr id="4" name="Image 0" descr="D:\download\VICONNECT\CEO_VIONE_PROJECT\ceo1983_project\document\images\ceo1983-official-logo.png">    </p:cNvPr>
          <p:cNvPicPr>
            <a:picLocks noChangeAspect="1"/>
          </p:cNvPicPr>
          <p:nvPr/>
        </p:nvPicPr>
        <p:blipFill>
          <a:blip r:embed="rId1"/>
          <a:stretch>
            <a:fillRect/>
          </a:stretch>
        </p:blipFill>
        <p:spPr>
          <a:xfrm>
            <a:off x="9052560" y="347472"/>
            <a:ext cx="1005840" cy="530352"/>
          </a:xfrm>
          <a:prstGeom prst="rect">
            <a:avLst/>
          </a:prstGeom>
        </p:spPr>
      </p:pic>
      <p:sp>
        <p:nvSpPr>
          <p:cNvPr id="5" name="Shape 2"/>
          <p:cNvSpPr/>
          <p:nvPr/>
        </p:nvSpPr>
        <p:spPr>
          <a:xfrm>
            <a:off x="10195560" y="384048"/>
            <a:ext cx="0" cy="411480"/>
          </a:xfrm>
          <a:prstGeom prst="line">
            <a:avLst/>
          </a:prstGeom>
          <a:noFill/>
          <a:ln w="19050">
            <a:solidFill>
              <a:srgbClr val="CBD5E1"/>
            </a:solidFill>
            <a:prstDash val="solid"/>
          </a:ln>
        </p:spPr>
      </p:sp>
      <p:pic>
        <p:nvPicPr>
          <p:cNvPr id="6" name="Image 1" descr="D:\download\VICONNECT\CEO_VIONE_PROJECT\ceo1983_project\document\images\viconnect-logo.png">    </p:cNvPr>
          <p:cNvPicPr>
            <a:picLocks noChangeAspect="1"/>
          </p:cNvPicPr>
          <p:nvPr/>
        </p:nvPicPr>
        <p:blipFill>
          <a:blip r:embed="rId2"/>
          <a:stretch>
            <a:fillRect/>
          </a:stretch>
        </p:blipFill>
        <p:spPr>
          <a:xfrm>
            <a:off x="10332720" y="411480"/>
            <a:ext cx="1234440" cy="402336"/>
          </a:xfrm>
          <a:prstGeom prst="rect">
            <a:avLst/>
          </a:prstGeom>
        </p:spPr>
      </p:pic>
      <p:sp>
        <p:nvSpPr>
          <p:cNvPr id="7" name="Shape 3"/>
          <p:cNvSpPr/>
          <p:nvPr/>
        </p:nvSpPr>
        <p:spPr>
          <a:xfrm>
            <a:off x="731520" y="1325880"/>
            <a:ext cx="10725912" cy="1417320"/>
          </a:xfrm>
          <a:prstGeom prst="roundRect">
            <a:avLst>
              <a:gd name="adj" fmla="val 5161"/>
            </a:avLst>
          </a:prstGeom>
          <a:solidFill>
            <a:srgbClr val="FFFFFF"/>
          </a:solidFill>
          <a:ln w="12700">
            <a:solidFill>
              <a:srgbClr val="CBD5E1"/>
            </a:solidFill>
            <a:prstDash val="solid"/>
          </a:ln>
        </p:spPr>
      </p:sp>
      <p:sp>
        <p:nvSpPr>
          <p:cNvPr id="8" name="Text 4"/>
          <p:cNvSpPr/>
          <p:nvPr/>
        </p:nvSpPr>
        <p:spPr>
          <a:xfrm>
            <a:off x="914400" y="1417320"/>
            <a:ext cx="5943600" cy="320040"/>
          </a:xfrm>
          <a:prstGeom prst="rect">
            <a:avLst/>
          </a:prstGeom>
          <a:noFill/>
          <a:ln/>
        </p:spPr>
        <p:txBody>
          <a:bodyPr wrap="square" rtlCol="0" anchor="ctr"/>
          <a:lstStyle/>
          <a:p>
            <a:pPr indent="0" marL="0">
              <a:buNone/>
            </a:pPr>
            <a:r>
              <a:rPr lang="en-US" sz="1350" b="1" dirty="0">
                <a:solidFill>
                  <a:srgbClr val="1F3864"/>
                </a:solidFill>
                <a:latin typeface="Arial" pitchFamily="34" charset="0"/>
                <a:ea typeface="Arial" pitchFamily="34" charset="-122"/>
                <a:cs typeface="Arial" pitchFamily="34" charset="-120"/>
              </a:rPr>
              <a:t>15. Trang cá nhân &amp; Lịch sử</a:t>
            </a:r>
            <a:endParaRPr lang="en-US" sz="1350" dirty="0"/>
          </a:p>
        </p:txBody>
      </p:sp>
      <p:sp>
        <p:nvSpPr>
          <p:cNvPr id="9" name="Shape 5"/>
          <p:cNvSpPr/>
          <p:nvPr/>
        </p:nvSpPr>
        <p:spPr>
          <a:xfrm>
            <a:off x="7132320" y="1417320"/>
            <a:ext cx="4114800" cy="292608"/>
          </a:xfrm>
          <a:prstGeom prst="roundRect">
            <a:avLst>
              <a:gd name="adj" fmla="val 15625"/>
            </a:avLst>
          </a:prstGeom>
          <a:solidFill>
            <a:srgbClr val="FEF3C7"/>
          </a:solidFill>
          <a:ln w="12700">
            <a:solidFill>
              <a:srgbClr val="F59E0B"/>
            </a:solidFill>
            <a:prstDash val="solid"/>
          </a:ln>
        </p:spPr>
      </p:sp>
      <p:sp>
        <p:nvSpPr>
          <p:cNvPr id="10" name="Text 6"/>
          <p:cNvSpPr/>
          <p:nvPr/>
        </p:nvSpPr>
        <p:spPr>
          <a:xfrm>
            <a:off x="7132320" y="1417320"/>
            <a:ext cx="4114800" cy="292608"/>
          </a:xfrm>
          <a:prstGeom prst="rect">
            <a:avLst/>
          </a:prstGeom>
          <a:noFill/>
          <a:ln/>
        </p:spPr>
        <p:txBody>
          <a:bodyPr wrap="square" rtlCol="0" anchor="ctr"/>
          <a:lstStyle/>
          <a:p>
            <a:pPr algn="ctr" indent="0" marL="0">
              <a:buNone/>
            </a:pPr>
            <a:r>
              <a:rPr lang="en-US" sz="1000" b="1" dirty="0">
                <a:solidFill>
                  <a:srgbClr val="92400E"/>
                </a:solidFill>
                <a:latin typeface="Arial" pitchFamily="34" charset="0"/>
                <a:ea typeface="Arial" pitchFamily="34" charset="-122"/>
                <a:cs typeface="Arial" pitchFamily="34" charset="-120"/>
              </a:rPr>
              <a:t>🟡 ĐANG TRIỂN KHAI (Hoàn thiện trước 05/11/2026)</a:t>
            </a:r>
            <a:endParaRPr lang="en-US" sz="1000" dirty="0"/>
          </a:p>
        </p:txBody>
      </p:sp>
      <p:sp>
        <p:nvSpPr>
          <p:cNvPr id="11" name="Text 7"/>
          <p:cNvSpPr/>
          <p:nvPr/>
        </p:nvSpPr>
        <p:spPr>
          <a:xfrm>
            <a:off x="914400" y="1783080"/>
            <a:ext cx="10332720" cy="365760"/>
          </a:xfrm>
          <a:prstGeom prst="rect">
            <a:avLst/>
          </a:prstGeom>
          <a:noFill/>
          <a:ln/>
        </p:spPr>
        <p:txBody>
          <a:bodyPr wrap="square" rtlCol="0" anchor="ctr"/>
          <a:lstStyle/>
          <a:p>
            <a:pPr indent="0" marL="0">
              <a:buNone/>
            </a:pPr>
            <a:r>
              <a:rPr lang="en-US" sz="1050" dirty="0">
                <a:solidFill>
                  <a:srgbClr val="991B1B"/>
                </a:solidFill>
                <a:latin typeface="Arial" pitchFamily="34" charset="0"/>
                <a:ea typeface="Arial" pitchFamily="34" charset="-122"/>
                <a:cs typeface="Arial" pitchFamily="34" charset="-120"/>
              </a:rPr>
              <a:t>⚠️ Vấn đề CLB: Chưa có trang tổng hợp quá trình tham gia sự kiện và kết nối giao thương.</a:t>
            </a:r>
            <a:endParaRPr lang="en-US" sz="1050" dirty="0"/>
          </a:p>
        </p:txBody>
      </p:sp>
      <p:sp>
        <p:nvSpPr>
          <p:cNvPr id="12" name="Text 8"/>
          <p:cNvSpPr/>
          <p:nvPr/>
        </p:nvSpPr>
        <p:spPr>
          <a:xfrm>
            <a:off x="914400" y="2194560"/>
            <a:ext cx="10332720" cy="41148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 Giải pháp ViConnect: Tái cấu trúc hồ sơ số sang trọng; xây dựng Dòng Thời Gian Hoạt Động (Timeline sự kiện, cơ hội, hợp đồng và kết nối 1-1).</a:t>
            </a:r>
            <a:endParaRPr lang="en-US" sz="1100" dirty="0"/>
          </a:p>
        </p:txBody>
      </p:sp>
      <p:sp>
        <p:nvSpPr>
          <p:cNvPr id="13" name="Shape 9"/>
          <p:cNvSpPr/>
          <p:nvPr/>
        </p:nvSpPr>
        <p:spPr>
          <a:xfrm>
            <a:off x="731520" y="2971800"/>
            <a:ext cx="3383280" cy="3154680"/>
          </a:xfrm>
          <a:prstGeom prst="roundRect">
            <a:avLst>
              <a:gd name="adj" fmla="val 2899"/>
            </a:avLst>
          </a:prstGeom>
          <a:solidFill>
            <a:srgbClr val="FFFFFF"/>
          </a:solidFill>
          <a:ln w="19050">
            <a:solidFill>
              <a:srgbClr val="BFDBFE"/>
            </a:solidFill>
            <a:prstDash val="solid"/>
          </a:ln>
        </p:spPr>
      </p:sp>
      <p:sp>
        <p:nvSpPr>
          <p:cNvPr id="14" name="Text 10"/>
          <p:cNvSpPr/>
          <p:nvPr/>
        </p:nvSpPr>
        <p:spPr>
          <a:xfrm>
            <a:off x="914400" y="3154680"/>
            <a:ext cx="3017520" cy="320040"/>
          </a:xfrm>
          <a:prstGeom prst="rect">
            <a:avLst/>
          </a:prstGeom>
          <a:noFill/>
          <a:ln/>
        </p:spPr>
        <p:txBody>
          <a:bodyPr wrap="square" rtlCol="0" anchor="ctr"/>
          <a:lstStyle/>
          <a:p>
            <a:pPr indent="0" marL="0">
              <a:buNone/>
            </a:pPr>
            <a:r>
              <a:rPr lang="en-US" sz="1150" b="1" dirty="0">
                <a:solidFill>
                  <a:srgbClr val="1E40AF"/>
                </a:solidFill>
                <a:latin typeface="Arial" pitchFamily="34" charset="0"/>
                <a:ea typeface="Arial" pitchFamily="34" charset="-122"/>
                <a:cs typeface="Arial" pitchFamily="34" charset="-120"/>
              </a:rPr>
              <a:t>🗓️ NHẬT KÝ SỰ KIỆN CLB</a:t>
            </a:r>
            <a:endParaRPr lang="en-US" sz="1150" dirty="0"/>
          </a:p>
        </p:txBody>
      </p:sp>
      <p:sp>
        <p:nvSpPr>
          <p:cNvPr id="15" name="Text 11"/>
          <p:cNvSpPr/>
          <p:nvPr/>
        </p:nvSpPr>
        <p:spPr>
          <a:xfrm>
            <a:off x="914400" y="3566160"/>
            <a:ext cx="3017520" cy="2377440"/>
          </a:xfrm>
          <a:prstGeom prst="rect">
            <a:avLst/>
          </a:prstGeom>
          <a:noFill/>
          <a:ln/>
        </p:spPr>
        <p:txBody>
          <a:bodyPr wrap="square" rtlCol="0" anchor="ctr"/>
          <a:lstStyle/>
          <a:p>
            <a:pPr indent="0" marL="0">
              <a:lnSpc>
                <a:spcPts val="1800"/>
              </a:lnSpc>
              <a:buNone/>
            </a:pPr>
            <a:r>
              <a:rPr lang="en-US" sz="1000" dirty="0">
                <a:solidFill>
                  <a:srgbClr val="334155"/>
                </a:solidFill>
                <a:latin typeface="Arial" pitchFamily="34" charset="0"/>
                <a:ea typeface="Arial" pitchFamily="34" charset="-122"/>
                <a:cs typeface="Arial" pitchFamily="34" charset="-120"/>
              </a:rPr>
              <a:t>• Lịch sử check-in QR các kỳ họp HanoiBA.</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Danh sách sự kiện đã tham gia.</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Chứng nhận hoàn thành đào tạo.</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Ghi nhận đóng góp ban chuyên môn.</a:t>
            </a:r>
            <a:endParaRPr lang="en-US" sz="1000" dirty="0"/>
          </a:p>
        </p:txBody>
      </p:sp>
      <p:sp>
        <p:nvSpPr>
          <p:cNvPr id="16" name="Shape 12"/>
          <p:cNvSpPr/>
          <p:nvPr/>
        </p:nvSpPr>
        <p:spPr>
          <a:xfrm>
            <a:off x="4389120" y="2971800"/>
            <a:ext cx="3383280" cy="3154680"/>
          </a:xfrm>
          <a:prstGeom prst="roundRect">
            <a:avLst>
              <a:gd name="adj" fmla="val 2899"/>
            </a:avLst>
          </a:prstGeom>
          <a:solidFill>
            <a:srgbClr val="FFFFFF"/>
          </a:solidFill>
          <a:ln w="19050">
            <a:solidFill>
              <a:srgbClr val="A7F3D0"/>
            </a:solidFill>
            <a:prstDash val="solid"/>
          </a:ln>
        </p:spPr>
      </p:sp>
      <p:sp>
        <p:nvSpPr>
          <p:cNvPr id="17" name="Text 13"/>
          <p:cNvSpPr/>
          <p:nvPr/>
        </p:nvSpPr>
        <p:spPr>
          <a:xfrm>
            <a:off x="4572000" y="3154680"/>
            <a:ext cx="3017520" cy="320040"/>
          </a:xfrm>
          <a:prstGeom prst="rect">
            <a:avLst/>
          </a:prstGeom>
          <a:noFill/>
          <a:ln/>
        </p:spPr>
        <p:txBody>
          <a:bodyPr wrap="square" rtlCol="0" anchor="ctr"/>
          <a:lstStyle/>
          <a:p>
            <a:pPr indent="0" marL="0">
              <a:buNone/>
            </a:pPr>
            <a:r>
              <a:rPr lang="en-US" sz="1150" b="1" dirty="0">
                <a:solidFill>
                  <a:srgbClr val="065F46"/>
                </a:solidFill>
                <a:latin typeface="Arial" pitchFamily="34" charset="0"/>
                <a:ea typeface="Arial" pitchFamily="34" charset="-122"/>
                <a:cs typeface="Arial" pitchFamily="34" charset="-120"/>
              </a:rPr>
              <a:t>💼 GIAO THƯƠNG &amp; DEAL FLOW</a:t>
            </a:r>
            <a:endParaRPr lang="en-US" sz="1150" dirty="0"/>
          </a:p>
        </p:txBody>
      </p:sp>
      <p:sp>
        <p:nvSpPr>
          <p:cNvPr id="18" name="Text 14"/>
          <p:cNvSpPr/>
          <p:nvPr/>
        </p:nvSpPr>
        <p:spPr>
          <a:xfrm>
            <a:off x="4572000" y="3566160"/>
            <a:ext cx="3017520" cy="2377440"/>
          </a:xfrm>
          <a:prstGeom prst="rect">
            <a:avLst/>
          </a:prstGeom>
          <a:noFill/>
          <a:ln/>
        </p:spPr>
        <p:txBody>
          <a:bodyPr wrap="square" rtlCol="0" anchor="ctr"/>
          <a:lstStyle/>
          <a:p>
            <a:pPr indent="0" marL="0">
              <a:lnSpc>
                <a:spcPts val="1800"/>
              </a:lnSpc>
              <a:buNone/>
            </a:pPr>
            <a:r>
              <a:rPr lang="en-US" sz="1000" dirty="0">
                <a:solidFill>
                  <a:srgbClr val="334155"/>
                </a:solidFill>
                <a:latin typeface="Arial" pitchFamily="34" charset="0"/>
                <a:ea typeface="Arial" pitchFamily="34" charset="-122"/>
                <a:cs typeface="Arial" pitchFamily="34" charset="-120"/>
              </a:rPr>
              <a:t>• Theo dõi cơ hội B2B gửi &amp; nhận.</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Nhật ký phiên kết nối Cafe 1-1.</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Hợp đồng ký kết &amp; doanh thu thực tế.</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Đánh giá uy tín đối tác giao thương.</a:t>
            </a:r>
            <a:endParaRPr lang="en-US" sz="1000" dirty="0"/>
          </a:p>
        </p:txBody>
      </p:sp>
      <p:sp>
        <p:nvSpPr>
          <p:cNvPr id="19" name="Shape 15"/>
          <p:cNvSpPr/>
          <p:nvPr/>
        </p:nvSpPr>
        <p:spPr>
          <a:xfrm>
            <a:off x="8046720" y="2971800"/>
            <a:ext cx="3383280" cy="3154680"/>
          </a:xfrm>
          <a:prstGeom prst="roundRect">
            <a:avLst>
              <a:gd name="adj" fmla="val 2899"/>
            </a:avLst>
          </a:prstGeom>
          <a:solidFill>
            <a:srgbClr val="FFFFFF"/>
          </a:solidFill>
          <a:ln w="19050">
            <a:solidFill>
              <a:srgbClr val="FED7AA"/>
            </a:solidFill>
            <a:prstDash val="solid"/>
          </a:ln>
        </p:spPr>
      </p:sp>
      <p:sp>
        <p:nvSpPr>
          <p:cNvPr id="20" name="Text 16"/>
          <p:cNvSpPr/>
          <p:nvPr/>
        </p:nvSpPr>
        <p:spPr>
          <a:xfrm>
            <a:off x="8229600" y="3154680"/>
            <a:ext cx="3017520" cy="320040"/>
          </a:xfrm>
          <a:prstGeom prst="rect">
            <a:avLst/>
          </a:prstGeom>
          <a:noFill/>
          <a:ln/>
        </p:spPr>
        <p:txBody>
          <a:bodyPr wrap="square" rtlCol="0" anchor="ctr"/>
          <a:lstStyle/>
          <a:p>
            <a:pPr indent="0" marL="0">
              <a:buNone/>
            </a:pPr>
            <a:r>
              <a:rPr lang="en-US" sz="1150" b="1" dirty="0">
                <a:solidFill>
                  <a:srgbClr val="9A3412"/>
                </a:solidFill>
                <a:latin typeface="Arial" pitchFamily="34" charset="0"/>
                <a:ea typeface="Arial" pitchFamily="34" charset="-122"/>
                <a:cs typeface="Arial" pitchFamily="34" charset="-120"/>
              </a:rPr>
              <a:t>🎖️ ĐẶC QUYỀN &amp; GIAN HÀNG SỐ</a:t>
            </a:r>
            <a:endParaRPr lang="en-US" sz="1150" dirty="0"/>
          </a:p>
        </p:txBody>
      </p:sp>
      <p:sp>
        <p:nvSpPr>
          <p:cNvPr id="21" name="Text 17"/>
          <p:cNvSpPr/>
          <p:nvPr/>
        </p:nvSpPr>
        <p:spPr>
          <a:xfrm>
            <a:off x="8229600" y="3566160"/>
            <a:ext cx="3017520" cy="2377440"/>
          </a:xfrm>
          <a:prstGeom prst="rect">
            <a:avLst/>
          </a:prstGeom>
          <a:noFill/>
          <a:ln/>
        </p:spPr>
        <p:txBody>
          <a:bodyPr wrap="square" rtlCol="0" anchor="ctr"/>
          <a:lstStyle/>
          <a:p>
            <a:pPr indent="0" marL="0">
              <a:lnSpc>
                <a:spcPts val="1800"/>
              </a:lnSpc>
              <a:buNone/>
            </a:pPr>
            <a:r>
              <a:rPr lang="en-US" sz="1000" dirty="0">
                <a:solidFill>
                  <a:srgbClr val="334155"/>
                </a:solidFill>
                <a:latin typeface="Arial" pitchFamily="34" charset="0"/>
                <a:ea typeface="Arial" pitchFamily="34" charset="-122"/>
                <a:cs typeface="Arial" pitchFamily="34" charset="-120"/>
              </a:rPr>
              <a:t>• Thẻ hội viên số kèm huy hiệu bảo mật.</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Kho Voucher ưu đãi VIP cho CLB.</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Gian hàng số 5 sản phẩm tiêu biểu.</a:t>
            </a:r>
            <a:endParaRPr lang="en-US" sz="1000" dirty="0"/>
          </a:p>
          <a:p>
            <a:pPr indent="0" marL="0">
              <a:lnSpc>
                <a:spcPts val="1800"/>
              </a:lnSpc>
              <a:buNone/>
            </a:pPr>
            <a:r>
              <a:rPr lang="en-US" sz="1000" dirty="0">
                <a:solidFill>
                  <a:srgbClr val="334155"/>
                </a:solidFill>
                <a:latin typeface="Arial" pitchFamily="34" charset="0"/>
                <a:ea typeface="Arial" pitchFamily="34" charset="-122"/>
                <a:cs typeface="Arial" pitchFamily="34" charset="-120"/>
              </a:rPr>
              <a:t>• Danh thiếp thông minh chia sẻ 1 chạm.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457200"/>
            <a:ext cx="2926080" cy="320040"/>
          </a:xfrm>
          <a:prstGeom prst="roundRect">
            <a:avLst>
              <a:gd name="adj" fmla="val 22857"/>
            </a:avLst>
          </a:prstGeom>
          <a:solidFill>
            <a:srgbClr val="003B95"/>
          </a:solidFill>
          <a:ln w="12700">
            <a:solidFill>
              <a:srgbClr val="FDE047"/>
            </a:solidFill>
            <a:prstDash val="solid"/>
          </a:ln>
        </p:spPr>
      </p:sp>
      <p:sp>
        <p:nvSpPr>
          <p:cNvPr id="3" name="Text 1"/>
          <p:cNvSpPr/>
          <p:nvPr/>
        </p:nvSpPr>
        <p:spPr>
          <a:xfrm>
            <a:off x="731520" y="457200"/>
            <a:ext cx="2926080" cy="320040"/>
          </a:xfrm>
          <a:prstGeom prst="rect">
            <a:avLst/>
          </a:prstGeom>
          <a:noFill/>
          <a:ln/>
        </p:spPr>
        <p:txBody>
          <a:bodyPr wrap="square" rtlCol="0" anchor="ctr"/>
          <a:lstStyle/>
          <a:p>
            <a:pPr algn="ctr" indent="0" marL="0">
              <a:buNone/>
            </a:pPr>
            <a:r>
              <a:rPr lang="en-US" sz="950" b="1" dirty="0">
                <a:solidFill>
                  <a:srgbClr val="FDE047"/>
                </a:solidFill>
                <a:latin typeface="Arial" pitchFamily="34" charset="0"/>
                <a:ea typeface="Arial" pitchFamily="34" charset="-122"/>
                <a:cs typeface="Arial" pitchFamily="34" charset="-120"/>
              </a:rPr>
              <a:t>CAM KẾT ĐỒNG HÀNH &amp; KẾ HOẠCH BÀN GIAO</a:t>
            </a:r>
            <a:endParaRPr lang="en-US" sz="950" dirty="0"/>
          </a:p>
        </p:txBody>
      </p:sp>
      <p:sp>
        <p:nvSpPr>
          <p:cNvPr id="4" name="Text 2"/>
          <p:cNvSpPr/>
          <p:nvPr/>
        </p:nvSpPr>
        <p:spPr>
          <a:xfrm>
            <a:off x="731520" y="868680"/>
            <a:ext cx="10725912"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LỘ TRÌNH TRIỂN KHAI TOÀN DIỆN &amp; CAM KẾT VICONNECT</a:t>
            </a:r>
            <a:endParaRPr lang="en-US" sz="2200" dirty="0"/>
          </a:p>
        </p:txBody>
      </p:sp>
      <p:sp>
        <p:nvSpPr>
          <p:cNvPr id="5" name="Shape 3"/>
          <p:cNvSpPr/>
          <p:nvPr/>
        </p:nvSpPr>
        <p:spPr>
          <a:xfrm>
            <a:off x="731520" y="1463040"/>
            <a:ext cx="3383280" cy="2468880"/>
          </a:xfrm>
          <a:prstGeom prst="roundRect">
            <a:avLst>
              <a:gd name="adj" fmla="val 3704"/>
            </a:avLst>
          </a:prstGeom>
          <a:solidFill>
            <a:srgbClr val="002D72"/>
          </a:solidFill>
          <a:ln w="19050">
            <a:solidFill>
              <a:srgbClr val="10B981"/>
            </a:solidFill>
            <a:prstDash val="solid"/>
          </a:ln>
        </p:spPr>
      </p:sp>
      <p:sp>
        <p:nvSpPr>
          <p:cNvPr id="6" name="Text 4"/>
          <p:cNvSpPr/>
          <p:nvPr/>
        </p:nvSpPr>
        <p:spPr>
          <a:xfrm>
            <a:off x="914400" y="1600200"/>
            <a:ext cx="3017520" cy="320040"/>
          </a:xfrm>
          <a:prstGeom prst="rect">
            <a:avLst/>
          </a:prstGeom>
          <a:noFill/>
          <a:ln/>
        </p:spPr>
        <p:txBody>
          <a:bodyPr wrap="square" rtlCol="0" anchor="ctr"/>
          <a:lstStyle/>
          <a:p>
            <a:pPr indent="0" marL="0">
              <a:buNone/>
            </a:pPr>
            <a:r>
              <a:rPr lang="en-US" sz="1100" b="1" dirty="0">
                <a:solidFill>
                  <a:srgbClr val="34D399"/>
                </a:solidFill>
                <a:latin typeface="Arial" pitchFamily="34" charset="0"/>
                <a:ea typeface="Arial" pitchFamily="34" charset="-122"/>
                <a:cs typeface="Arial" pitchFamily="34" charset="-120"/>
              </a:rPr>
              <a:t>🟢 GIAI ĐOẠN 1: NỀN TẢNG</a:t>
            </a:r>
            <a:endParaRPr lang="en-US" sz="1100" dirty="0"/>
          </a:p>
        </p:txBody>
      </p:sp>
      <p:sp>
        <p:nvSpPr>
          <p:cNvPr id="7" name="Text 5"/>
          <p:cNvSpPr/>
          <p:nvPr/>
        </p:nvSpPr>
        <p:spPr>
          <a:xfrm>
            <a:off x="914400" y="2011680"/>
            <a:ext cx="3017520" cy="1737360"/>
          </a:xfrm>
          <a:prstGeom prst="rect">
            <a:avLst/>
          </a:prstGeom>
          <a:noFill/>
          <a:ln/>
        </p:spPr>
        <p:txBody>
          <a:bodyPr wrap="square" rtlCol="0" anchor="ctr"/>
          <a:lstStyle/>
          <a:p>
            <a:pPr indent="0" marL="0">
              <a:lnSpc>
                <a:spcPts val="1800"/>
              </a:lnSpc>
              <a:buNone/>
            </a:pPr>
            <a:r>
              <a:rPr lang="en-US" sz="1000" dirty="0">
                <a:solidFill>
                  <a:srgbClr val="F1F5F9"/>
                </a:solidFill>
                <a:latin typeface="Arial" pitchFamily="34" charset="0"/>
                <a:ea typeface="Arial" pitchFamily="34" charset="-122"/>
                <a:cs typeface="Arial" pitchFamily="34" charset="-120"/>
              </a:rPr>
              <a:t>• Tinh gọn Trang chủ quanh 4 luồng cốt lõi.</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Bảo mật thẻ hội viên (công tắc ẩn/hiện SĐT).</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Tối ưu tốc độ &amp; giao diện di động mượt mà.</a:t>
            </a:r>
            <a:endParaRPr lang="en-US" sz="1000" dirty="0"/>
          </a:p>
        </p:txBody>
      </p:sp>
      <p:sp>
        <p:nvSpPr>
          <p:cNvPr id="8" name="Shape 6"/>
          <p:cNvSpPr/>
          <p:nvPr/>
        </p:nvSpPr>
        <p:spPr>
          <a:xfrm>
            <a:off x="4389120" y="1463040"/>
            <a:ext cx="3383280" cy="2468880"/>
          </a:xfrm>
          <a:prstGeom prst="roundRect">
            <a:avLst>
              <a:gd name="adj" fmla="val 3704"/>
            </a:avLst>
          </a:prstGeom>
          <a:solidFill>
            <a:srgbClr val="002D72"/>
          </a:solidFill>
          <a:ln w="19050">
            <a:solidFill>
              <a:srgbClr val="F59E0B"/>
            </a:solidFill>
            <a:prstDash val="solid"/>
          </a:ln>
        </p:spPr>
      </p:sp>
      <p:sp>
        <p:nvSpPr>
          <p:cNvPr id="9" name="Text 7"/>
          <p:cNvSpPr/>
          <p:nvPr/>
        </p:nvSpPr>
        <p:spPr>
          <a:xfrm>
            <a:off x="4572000" y="1600200"/>
            <a:ext cx="3017520" cy="320040"/>
          </a:xfrm>
          <a:prstGeom prst="rect">
            <a:avLst/>
          </a:prstGeom>
          <a:noFill/>
          <a:ln/>
        </p:spPr>
        <p:txBody>
          <a:bodyPr wrap="square" rtlCol="0" anchor="ctr"/>
          <a:lstStyle/>
          <a:p>
            <a:pPr indent="0" marL="0">
              <a:buNone/>
            </a:pPr>
            <a:r>
              <a:rPr lang="en-US" sz="1100" b="1" dirty="0">
                <a:solidFill>
                  <a:srgbClr val="FBBF24"/>
                </a:solidFill>
                <a:latin typeface="Arial" pitchFamily="34" charset="0"/>
                <a:ea typeface="Arial" pitchFamily="34" charset="-122"/>
                <a:cs typeface="Arial" pitchFamily="34" charset="-120"/>
              </a:rPr>
              <a:t>🟡 GIAI ĐOẠN 2: TÍNH NĂNG</a:t>
            </a:r>
            <a:endParaRPr lang="en-US" sz="1100" dirty="0"/>
          </a:p>
        </p:txBody>
      </p:sp>
      <p:sp>
        <p:nvSpPr>
          <p:cNvPr id="10" name="Text 8"/>
          <p:cNvSpPr/>
          <p:nvPr/>
        </p:nvSpPr>
        <p:spPr>
          <a:xfrm>
            <a:off x="4572000" y="2011680"/>
            <a:ext cx="3017520" cy="1737360"/>
          </a:xfrm>
          <a:prstGeom prst="rect">
            <a:avLst/>
          </a:prstGeom>
          <a:noFill/>
          <a:ln/>
        </p:spPr>
        <p:txBody>
          <a:bodyPr wrap="square" rtlCol="0" anchor="ctr"/>
          <a:lstStyle/>
          <a:p>
            <a:pPr indent="0" marL="0">
              <a:lnSpc>
                <a:spcPts val="1800"/>
              </a:lnSpc>
              <a:buNone/>
            </a:pPr>
            <a:r>
              <a:rPr lang="en-US" sz="1000" dirty="0">
                <a:solidFill>
                  <a:srgbClr val="F1F5F9"/>
                </a:solidFill>
                <a:latin typeface="Arial" pitchFamily="34" charset="0"/>
                <a:ea typeface="Arial" pitchFamily="34" charset="-122"/>
                <a:cs typeface="Arial" pitchFamily="34" charset="-120"/>
              </a:rPr>
              <a:t>• Hoàn thiện Sàn B2B (5 SP/DN, lọc ngành).</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Kết nối 1-1 có xác thực hợp đồng &amp; deal.</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Check-in QR sự kiện &amp; tài liệu họp.</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Dashboard CRM &amp; Báo cáo điều hành 4 trụ cột.</a:t>
            </a:r>
            <a:endParaRPr lang="en-US" sz="1000" dirty="0"/>
          </a:p>
        </p:txBody>
      </p:sp>
      <p:sp>
        <p:nvSpPr>
          <p:cNvPr id="11" name="Shape 9"/>
          <p:cNvSpPr/>
          <p:nvPr/>
        </p:nvSpPr>
        <p:spPr>
          <a:xfrm>
            <a:off x="8046720" y="1463040"/>
            <a:ext cx="3383280" cy="2468880"/>
          </a:xfrm>
          <a:prstGeom prst="roundRect">
            <a:avLst>
              <a:gd name="adj" fmla="val 3704"/>
            </a:avLst>
          </a:prstGeom>
          <a:solidFill>
            <a:srgbClr val="002D72"/>
          </a:solidFill>
          <a:ln w="19050">
            <a:solidFill>
              <a:srgbClr val="3B82F6"/>
            </a:solidFill>
            <a:prstDash val="solid"/>
          </a:ln>
        </p:spPr>
      </p:sp>
      <p:sp>
        <p:nvSpPr>
          <p:cNvPr id="12" name="Text 10"/>
          <p:cNvSpPr/>
          <p:nvPr/>
        </p:nvSpPr>
        <p:spPr>
          <a:xfrm>
            <a:off x="8229600" y="1600200"/>
            <a:ext cx="3017520" cy="320040"/>
          </a:xfrm>
          <a:prstGeom prst="rect">
            <a:avLst/>
          </a:prstGeom>
          <a:noFill/>
          <a:ln/>
        </p:spPr>
        <p:txBody>
          <a:bodyPr wrap="square" rtlCol="0" anchor="ctr"/>
          <a:lstStyle/>
          <a:p>
            <a:pPr indent="0" marL="0">
              <a:buNone/>
            </a:pPr>
            <a:r>
              <a:rPr lang="en-US" sz="1100" b="1" dirty="0">
                <a:solidFill>
                  <a:srgbClr val="60A5FA"/>
                </a:solidFill>
                <a:latin typeface="Arial" pitchFamily="34" charset="0"/>
                <a:ea typeface="Arial" pitchFamily="34" charset="-122"/>
                <a:cs typeface="Arial" pitchFamily="34" charset="-120"/>
              </a:rPr>
              <a:t>🔵 GIAI ĐOẠN 3: ĐỒNG BỘ</a:t>
            </a:r>
            <a:endParaRPr lang="en-US" sz="1100" dirty="0"/>
          </a:p>
        </p:txBody>
      </p:sp>
      <p:sp>
        <p:nvSpPr>
          <p:cNvPr id="13" name="Text 11"/>
          <p:cNvSpPr/>
          <p:nvPr/>
        </p:nvSpPr>
        <p:spPr>
          <a:xfrm>
            <a:off x="8229600" y="2011680"/>
            <a:ext cx="3017520" cy="1737360"/>
          </a:xfrm>
          <a:prstGeom prst="rect">
            <a:avLst/>
          </a:prstGeom>
          <a:noFill/>
          <a:ln/>
        </p:spPr>
        <p:txBody>
          <a:bodyPr wrap="square" rtlCol="0" anchor="ctr"/>
          <a:lstStyle/>
          <a:p>
            <a:pPr indent="0" marL="0">
              <a:lnSpc>
                <a:spcPts val="1800"/>
              </a:lnSpc>
              <a:buNone/>
            </a:pPr>
            <a:r>
              <a:rPr lang="en-US" sz="1000" dirty="0">
                <a:solidFill>
                  <a:srgbClr val="F1F5F9"/>
                </a:solidFill>
                <a:latin typeface="Arial" pitchFamily="34" charset="0"/>
                <a:ea typeface="Arial" pitchFamily="34" charset="-122"/>
                <a:cs typeface="Arial" pitchFamily="34" charset="-120"/>
              </a:rPr>
              <a:t>• Phối hợp Ban Thư Ký nạp chuẩn CSDL.</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Tích hợp Zalo OA gửi thông báo tự động.</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Cổng VNPAY Merchant &amp; VietQR động.</a:t>
            </a:r>
            <a:endParaRPr lang="en-US" sz="1000" dirty="0"/>
          </a:p>
          <a:p>
            <a:pPr indent="0" marL="0">
              <a:lnSpc>
                <a:spcPts val="1800"/>
              </a:lnSpc>
              <a:buNone/>
            </a:pPr>
            <a:r>
              <a:rPr lang="en-US" sz="1000" dirty="0">
                <a:solidFill>
                  <a:srgbClr val="F1F5F9"/>
                </a:solidFill>
                <a:latin typeface="Arial" pitchFamily="34" charset="0"/>
                <a:ea typeface="Arial" pitchFamily="34" charset="-122"/>
                <a:cs typeface="Arial" pitchFamily="34" charset="-120"/>
              </a:rPr>
              <a:t>• Bàn giao tài liệu &amp; hướng dẫn vận hành.</a:t>
            </a:r>
            <a:endParaRPr lang="en-US" sz="1000" dirty="0"/>
          </a:p>
        </p:txBody>
      </p:sp>
      <p:sp>
        <p:nvSpPr>
          <p:cNvPr id="14" name="Shape 12"/>
          <p:cNvSpPr/>
          <p:nvPr/>
        </p:nvSpPr>
        <p:spPr>
          <a:xfrm>
            <a:off x="731520" y="4160520"/>
            <a:ext cx="10725912" cy="1234440"/>
          </a:xfrm>
          <a:prstGeom prst="roundRect">
            <a:avLst>
              <a:gd name="adj" fmla="val 5926"/>
            </a:avLst>
          </a:prstGeom>
          <a:solidFill>
            <a:srgbClr val="003B95"/>
          </a:solidFill>
          <a:ln w="19050">
            <a:solidFill>
              <a:srgbClr val="00D2FF"/>
            </a:solidFill>
            <a:prstDash val="solid"/>
          </a:ln>
        </p:spPr>
      </p:sp>
      <p:sp>
        <p:nvSpPr>
          <p:cNvPr id="15" name="Text 13"/>
          <p:cNvSpPr/>
          <p:nvPr/>
        </p:nvSpPr>
        <p:spPr>
          <a:xfrm>
            <a:off x="1005840" y="4297680"/>
            <a:ext cx="10149840" cy="914400"/>
          </a:xfrm>
          <a:prstGeom prst="rect">
            <a:avLst/>
          </a:prstGeom>
          <a:noFill/>
          <a:ln/>
        </p:spPr>
        <p:txBody>
          <a:bodyPr wrap="square" rtlCol="0" anchor="ctr"/>
          <a:lstStyle/>
          <a:p>
            <a:pPr indent="0" marL="0">
              <a:buNone/>
            </a:pPr>
            <a:r>
              <a:rPr lang="en-US" sz="1150" i="1" dirty="0">
                <a:solidFill>
                  <a:srgbClr val="FFFFFF"/>
                </a:solidFill>
                <a:latin typeface="Arial" pitchFamily="34" charset="0"/>
                <a:ea typeface="Arial" pitchFamily="34" charset="-122"/>
                <a:cs typeface="Arial" pitchFamily="34" charset="-120"/>
              </a:rPr>
              <a:t>"Kính mời các Anh/Chị trong Ban Điều Hành xem xét Báo cáo phương án chi tiết đính kèm và cho ý kiến chỉ đạo để ViConnect phối hợp triển khai đạt hiệu quả cao nhất phục vụ Hiệp hội. ViConnect cam kết đồng hành dài hạn vì sự phát triển thịnh vượng của CLB Doanh Nhân CEO 1983!"</a:t>
            </a:r>
            <a:endParaRPr lang="en-US" sz="1150" dirty="0"/>
          </a:p>
        </p:txBody>
      </p:sp>
      <p:sp>
        <p:nvSpPr>
          <p:cNvPr id="16" name="Shape 14"/>
          <p:cNvSpPr/>
          <p:nvPr/>
        </p:nvSpPr>
        <p:spPr>
          <a:xfrm>
            <a:off x="731520" y="5577840"/>
            <a:ext cx="2926080" cy="502920"/>
          </a:xfrm>
          <a:prstGeom prst="roundRect">
            <a:avLst>
              <a:gd name="adj" fmla="val 10909"/>
            </a:avLst>
          </a:prstGeom>
          <a:solidFill>
            <a:srgbClr val="FFFFFF"/>
          </a:solidFill>
          <a:ln w="12700">
            <a:solidFill>
              <a:srgbClr val="CBD5E1"/>
            </a:solidFill>
            <a:prstDash val="solid"/>
          </a:ln>
        </p:spPr>
      </p:sp>
      <p:pic>
        <p:nvPicPr>
          <p:cNvPr id="17" name="Image 0" descr="D:\download\VICONNECT\CEO_VIONE_PROJECT\ceo1983_project\document\images\ceo1983-official-logo.png">    </p:cNvPr>
          <p:cNvPicPr>
            <a:picLocks noChangeAspect="1"/>
          </p:cNvPicPr>
          <p:nvPr/>
        </p:nvPicPr>
        <p:blipFill>
          <a:blip r:embed="rId1"/>
          <a:stretch>
            <a:fillRect/>
          </a:stretch>
        </p:blipFill>
        <p:spPr>
          <a:xfrm>
            <a:off x="822960" y="5623560"/>
            <a:ext cx="822960" cy="411480"/>
          </a:xfrm>
          <a:prstGeom prst="rect">
            <a:avLst/>
          </a:prstGeom>
        </p:spPr>
      </p:pic>
      <p:sp>
        <p:nvSpPr>
          <p:cNvPr id="18" name="Shape 15"/>
          <p:cNvSpPr/>
          <p:nvPr/>
        </p:nvSpPr>
        <p:spPr>
          <a:xfrm>
            <a:off x="1783080" y="5650992"/>
            <a:ext cx="0" cy="347472"/>
          </a:xfrm>
          <a:prstGeom prst="line">
            <a:avLst/>
          </a:prstGeom>
          <a:noFill/>
          <a:ln w="19050">
            <a:solidFill>
              <a:srgbClr val="CBD5E1"/>
            </a:solidFill>
            <a:prstDash val="solid"/>
          </a:ln>
        </p:spPr>
      </p:sp>
      <p:pic>
        <p:nvPicPr>
          <p:cNvPr id="19" name="Image 1" descr="D:\download\VICONNECT\CEO_VIONE_PROJECT\ceo1983_project\document\images\viconnect-logo.png">    </p:cNvPr>
          <p:cNvPicPr>
            <a:picLocks noChangeAspect="1"/>
          </p:cNvPicPr>
          <p:nvPr/>
        </p:nvPicPr>
        <p:blipFill>
          <a:blip r:embed="rId2"/>
          <a:stretch>
            <a:fillRect/>
          </a:stretch>
        </p:blipFill>
        <p:spPr>
          <a:xfrm>
            <a:off x="1920240" y="5669280"/>
            <a:ext cx="1097280"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Phương Án Xử Lý &amp; Cam Kết Tiến Độ CEO 1983 - ViConnect</dc:title>
  <dc:subject>PptxGenJS Presentation</dc:subject>
  <dc:creator>PptxGenJS</dc:creator>
  <cp:lastModifiedBy>PptxGenJS</cp:lastModifiedBy>
  <cp:revision>1</cp:revision>
  <dcterms:created xsi:type="dcterms:W3CDTF">2026-10-23T05:49:36Z</dcterms:created>
  <dcterms:modified xsi:type="dcterms:W3CDTF">2026-10-23T05:49:36Z</dcterms:modified>
</cp:coreProperties>
</file>