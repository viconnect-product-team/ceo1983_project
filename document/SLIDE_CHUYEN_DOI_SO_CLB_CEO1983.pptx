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BÁO CÁO GIẢI PHÁP CHUYỂN ĐỔI SỐ TOÀN DIỆN</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HỆ THỐNG ĐIỀU HÀNH &amp; KẾT NỐI DOANH NHÂN CEO 1983</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HIỆN THỰC HÓA 3 BÀI TOÁN CHIẾN LƯỢC VÌ SỰ PHÁT TRIỂN BỀN VỮNG CỦA HỘI VIÊN</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6858000" cy="4389120"/>
          </a:xfrm>
          <a:prstGeom prst="rect">
            <a:avLst/>
          </a:prstGeom>
          <a:solidFill>
            <a:srgbClr val="FFFFFF"/>
          </a:solidFill>
          <a:ln/>
        </p:spPr>
      </p:sp>
      <p:sp>
        <p:nvSpPr>
          <p:cNvPr id="10" name="Text 8"/>
          <p:cNvSpPr/>
          <p:nvPr/>
        </p:nvSpPr>
        <p:spPr>
          <a:xfrm>
            <a:off x="1005840" y="1920240"/>
            <a:ext cx="6309360" cy="27432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 BÁO CÁO NGHIỆM THU THỬ NGHIỆM HỆ THỐNG ✦</a:t>
            </a:r>
            <a:endParaRPr lang="en-US" sz="1100" dirty="0"/>
          </a:p>
        </p:txBody>
      </p:sp>
      <p:sp>
        <p:nvSpPr>
          <p:cNvPr id="11" name="Text 9"/>
          <p:cNvSpPr/>
          <p:nvPr/>
        </p:nvSpPr>
        <p:spPr>
          <a:xfrm>
            <a:off x="1005840" y="2286000"/>
            <a:ext cx="6309360" cy="1280160"/>
          </a:xfrm>
          <a:prstGeom prst="rect">
            <a:avLst/>
          </a:prstGeom>
          <a:noFill/>
          <a:ln/>
        </p:spPr>
        <p:txBody>
          <a:bodyPr wrap="square" rtlCol="0" anchor="ctr"/>
          <a:lstStyle/>
          <a:p>
            <a:pPr indent="0" marL="0">
              <a:buNone/>
            </a:pPr>
            <a:r>
              <a:rPr lang="en-US" sz="1200" dirty="0">
                <a:solidFill>
                  <a:srgbClr val="334155"/>
                </a:solidFill>
                <a:latin typeface="Calibri" pitchFamily="34" charset="0"/>
                <a:ea typeface="Calibri" pitchFamily="34" charset="-122"/>
                <a:cs typeface="Calibri" pitchFamily="34" charset="-120"/>
              </a:rPr>
              <a:t>Báo cáo toàn diện giải pháp chuyển đổi số gồm Hệ Thống Quản Trị Web CRM &amp; Ứng Dụng Di Động Doanh Nhân do Tập đoàn Công nghệ ViConnect nghiên cứu và phát triển theo đặt hàng từ Ban Lãnh Đạo CLB CEO 1983.</a:t>
            </a:r>
            <a:endParaRPr lang="en-US" sz="1200" dirty="0"/>
          </a:p>
        </p:txBody>
      </p:sp>
      <p:sp>
        <p:nvSpPr>
          <p:cNvPr id="12" name="Shape 10"/>
          <p:cNvSpPr/>
          <p:nvPr/>
        </p:nvSpPr>
        <p:spPr>
          <a:xfrm>
            <a:off x="1005840" y="3749040"/>
            <a:ext cx="6309360" cy="2011680"/>
          </a:xfrm>
          <a:prstGeom prst="rect">
            <a:avLst/>
          </a:prstGeom>
          <a:solidFill>
            <a:srgbClr val="FFF5ED"/>
          </a:solidFill>
          <a:ln w="12700">
            <a:solidFill>
              <a:srgbClr val="FDBA74"/>
            </a:solidFill>
            <a:prstDash val="solid"/>
          </a:ln>
        </p:spPr>
      </p:sp>
      <p:sp>
        <p:nvSpPr>
          <p:cNvPr id="13" name="Text 11"/>
          <p:cNvSpPr/>
          <p:nvPr/>
        </p:nvSpPr>
        <p:spPr>
          <a:xfrm>
            <a:off x="1188720" y="3886200"/>
            <a:ext cx="5943600" cy="1737360"/>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09:00 – 12:00 | Thứ Tư, ngày 21/10/2026</a:t>
            </a:r>
            <a:endParaRPr lang="en-US" sz="1150" dirty="0"/>
          </a:p>
          <a:p>
            <a:pPr indent="0" marL="0">
              <a:buNone/>
            </a:pPr>
            <a:r>
              <a:rPr lang="en-US" sz="1150" dirty="0">
                <a:solidFill>
                  <a:srgbClr val="0F172A"/>
                </a:solidFill>
                <a:latin typeface="Calibri" pitchFamily="34" charset="0"/>
                <a:ea typeface="Calibri" pitchFamily="34" charset="-122"/>
                <a:cs typeface="Calibri" pitchFamily="34" charset="-120"/>
              </a:rPr>
              <a:t>📍 Địa điểm: Khu biệt thự HDI, 39 ngõ 29 P. Mạc Thái Tông, KĐT Nam Trung Yên, Cầu Giấy, Hà Nội</a:t>
            </a:r>
            <a:endParaRPr lang="en-US" sz="1150" dirty="0"/>
          </a:p>
          <a:p>
            <a:pPr indent="0" marL="0">
              <a:buNone/>
            </a:pPr>
            <a:r>
              <a:rPr lang="en-US" sz="1150" dirty="0">
                <a:solidFill>
                  <a:srgbClr val="0F172A"/>
                </a:solidFill>
                <a:latin typeface="Calibri" pitchFamily="34" charset="0"/>
                <a:ea typeface="Calibri" pitchFamily="34" charset="-122"/>
                <a:cs typeface="Calibri" pitchFamily="34" charset="-120"/>
              </a:rPr>
              <a:t>🍽️ Bữa trưa thân mật tại Nhà hàng Phiến Hoan Việt Trì</a:t>
            </a:r>
            <a:endParaRPr lang="en-US" sz="1150" dirty="0"/>
          </a:p>
        </p:txBody>
      </p:sp>
      <p:pic>
        <p:nvPicPr>
          <p:cNvPr id="14" name="Image 0" descr="D:\download\VICONNECT\CEO_VIONE_PROJECT\ceo1983_project\document\images\image1_invitation_poster.png">    </p:cNvPr>
          <p:cNvPicPr>
            <a:picLocks noChangeAspect="1"/>
          </p:cNvPicPr>
          <p:nvPr/>
        </p:nvPicPr>
        <p:blipFill>
          <a:blip r:embed="rId1"/>
          <a:stretch>
            <a:fillRect/>
          </a:stretch>
        </p:blipFill>
        <p:spPr>
          <a:xfrm>
            <a:off x="8046720" y="1737360"/>
            <a:ext cx="3383280" cy="4389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BỨC TRANH TỔNG THỂ HỆ SINH THÁI SỐ</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KIẾN TRÚC KÉP: WEB CRM ĐIỀU HÀNH &amp; MOBILE APP HỘI VIÊN</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Hai công cụ tương hỗ khép kín: Trung tâm điều hành minh bạch &amp; Văn phòng số bỏ túi của từng doanh nhân</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5212080" cy="4389120"/>
          </a:xfrm>
          <a:prstGeom prst="rect">
            <a:avLst/>
          </a:prstGeom>
          <a:solidFill>
            <a:srgbClr val="FFFFFF"/>
          </a:solidFill>
          <a:ln/>
        </p:spPr>
      </p:sp>
      <p:sp>
        <p:nvSpPr>
          <p:cNvPr id="10" name="Text 8"/>
          <p:cNvSpPr/>
          <p:nvPr/>
        </p:nvSpPr>
        <p:spPr>
          <a:xfrm>
            <a:off x="1005840" y="1920240"/>
            <a:ext cx="4663440" cy="3657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1. CỔNG ĐIỀU HÀNH TRUNG TÂM WEB CRM</a:t>
            </a:r>
            <a:endParaRPr lang="en-US" sz="1300" dirty="0"/>
          </a:p>
        </p:txBody>
      </p:sp>
      <p:sp>
        <p:nvSpPr>
          <p:cNvPr id="11" name="Text 9"/>
          <p:cNvSpPr/>
          <p:nvPr/>
        </p:nvSpPr>
        <p:spPr>
          <a:xfrm>
            <a:off x="1005840" y="2331720"/>
            <a:ext cx="4663440" cy="274320"/>
          </a:xfrm>
          <a:prstGeom prst="rect">
            <a:avLst/>
          </a:prstGeom>
          <a:noFill/>
          <a:ln/>
        </p:spPr>
        <p:txBody>
          <a:bodyPr wrap="square" rtlCol="0" anchor="ctr"/>
          <a:lstStyle/>
          <a:p>
            <a:pPr indent="0" marL="0">
              <a:buNone/>
            </a:pPr>
            <a:r>
              <a:rPr lang="en-US" sz="1000" i="1" dirty="0">
                <a:solidFill>
                  <a:srgbClr val="1D4ED8"/>
                </a:solidFill>
                <a:latin typeface="Calibri" pitchFamily="34" charset="0"/>
                <a:ea typeface="Calibri" pitchFamily="34" charset="-122"/>
                <a:cs typeface="Calibri" pitchFamily="34" charset="-120"/>
              </a:rPr>
              <a:t>Dành cho: Ban Điều Hành, Ban Thư Ký, Chủ Tịch &amp; 6 Ban Chuyên Môn</a:t>
            </a:r>
            <a:endParaRPr lang="en-US" sz="1000" dirty="0"/>
          </a:p>
        </p:txBody>
      </p:sp>
      <p:sp>
        <p:nvSpPr>
          <p:cNvPr id="12" name="Text 10"/>
          <p:cNvSpPr/>
          <p:nvPr/>
        </p:nvSpPr>
        <p:spPr>
          <a:xfrm>
            <a:off x="1005840" y="2743200"/>
            <a:ext cx="4663440" cy="310896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Quản lý tập trung toàn diện hơn 500 hồ sơ doanh nghiệp hội viên chính danh</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Sơ đồ xếp bàn tiệc Gala trang trọng, phân bổ chỗ ngồi khoa học, chính xác</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Điều hành công việc, phân công nhiệm vụ và theo dõi tiến độ các ban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Quản lý thu chi, hội phí và ngân sách tự động hóa, minh bạch tài chính</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Phân quyền vận hành đúng chức năng thẩm quyền của từng ban chuyên môn</a:t>
            </a:r>
            <a:endParaRPr lang="en-US" sz="1100" dirty="0"/>
          </a:p>
        </p:txBody>
      </p:sp>
      <p:sp>
        <p:nvSpPr>
          <p:cNvPr id="13" name="Shape 11"/>
          <p:cNvSpPr/>
          <p:nvPr/>
        </p:nvSpPr>
        <p:spPr>
          <a:xfrm>
            <a:off x="6217920" y="1737360"/>
            <a:ext cx="5212080" cy="4389120"/>
          </a:xfrm>
          <a:prstGeom prst="rect">
            <a:avLst/>
          </a:prstGeom>
          <a:solidFill>
            <a:srgbClr val="FFFFFF"/>
          </a:solidFill>
          <a:ln w="25400">
            <a:solidFill>
              <a:srgbClr val="F59E0B"/>
            </a:solidFill>
            <a:prstDash val="solid"/>
          </a:ln>
        </p:spPr>
      </p:sp>
      <p:sp>
        <p:nvSpPr>
          <p:cNvPr id="14" name="Text 12"/>
          <p:cNvSpPr/>
          <p:nvPr/>
        </p:nvSpPr>
        <p:spPr>
          <a:xfrm>
            <a:off x="6492240" y="1920240"/>
            <a:ext cx="4663440" cy="365760"/>
          </a:xfrm>
          <a:prstGeom prst="rect">
            <a:avLst/>
          </a:prstGeom>
          <a:noFill/>
          <a:ln/>
        </p:spPr>
        <p:txBody>
          <a:bodyPr wrap="square" rtlCol="0" anchor="ctr"/>
          <a:lstStyle/>
          <a:p>
            <a:pPr indent="0" marL="0">
              <a:buNone/>
            </a:pPr>
            <a:r>
              <a:rPr lang="en-US" sz="1300" b="1" dirty="0">
                <a:solidFill>
                  <a:srgbClr val="003B95"/>
                </a:solidFill>
                <a:latin typeface="Calibri" pitchFamily="34" charset="0"/>
                <a:ea typeface="Calibri" pitchFamily="34" charset="-122"/>
                <a:cs typeface="Calibri" pitchFamily="34" charset="-120"/>
              </a:rPr>
              <a:t>2. VĂN PHÒNG DOANH NHÂN BỎ TÚI MOBILE APP</a:t>
            </a:r>
            <a:endParaRPr lang="en-US" sz="1300" dirty="0"/>
          </a:p>
        </p:txBody>
      </p:sp>
      <p:sp>
        <p:nvSpPr>
          <p:cNvPr id="15" name="Text 13"/>
          <p:cNvSpPr/>
          <p:nvPr/>
        </p:nvSpPr>
        <p:spPr>
          <a:xfrm>
            <a:off x="6492240" y="2331720"/>
            <a:ext cx="4663440" cy="274320"/>
          </a:xfrm>
          <a:prstGeom prst="rect">
            <a:avLst/>
          </a:prstGeom>
          <a:noFill/>
          <a:ln/>
        </p:spPr>
        <p:txBody>
          <a:bodyPr wrap="square" rtlCol="0" anchor="ctr"/>
          <a:lstStyle/>
          <a:p>
            <a:pPr indent="0" marL="0">
              <a:buNone/>
            </a:pPr>
            <a:r>
              <a:rPr lang="en-US" sz="1000" i="1" dirty="0">
                <a:solidFill>
                  <a:srgbClr val="D97706"/>
                </a:solidFill>
                <a:latin typeface="Calibri" pitchFamily="34" charset="0"/>
                <a:ea typeface="Calibri" pitchFamily="34" charset="-122"/>
                <a:cs typeface="Calibri" pitchFamily="34" charset="-120"/>
              </a:rPr>
              <a:t>Dành cho: Hơn 500 Doanh nhân &amp; Lãnh đạo hội viên CLB CEO 1983</a:t>
            </a:r>
            <a:endParaRPr lang="en-US" sz="1000" dirty="0"/>
          </a:p>
        </p:txBody>
      </p:sp>
      <p:sp>
        <p:nvSpPr>
          <p:cNvPr id="16" name="Text 14"/>
          <p:cNvSpPr/>
          <p:nvPr/>
        </p:nvSpPr>
        <p:spPr>
          <a:xfrm>
            <a:off x="6492240" y="2743200"/>
            <a:ext cx="4663440" cy="3108960"/>
          </a:xfrm>
          <a:prstGeom prst="rect">
            <a:avLst/>
          </a:prstGeom>
          <a:noFill/>
          <a:ln/>
        </p:spPr>
        <p:txBody>
          <a:bodyPr wrap="square" rtlCol="0" anchor="ctr"/>
          <a:lstStyle/>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Thẻ Hội Viên Điện Tử Thông Minh &amp; Danh thiếp số tiện lợi, lưu danh bạ 1 chạm</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Sàn giao thương B2B nội khối: Giới thiệu sản phẩm và ưu đãi đặc quyền giữa các hội viên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Ví vé sự kiện Gala, xem trước số bàn tiệc, số ghế VIP và mã bốc thăm may mắn</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Danh bạ kết nối hơn 500 CEO chính danh 11 ngành nghề, gửi lời mời hẹn gặp 1-on-1</a:t>
            </a:r>
            <a:endParaRPr lang="en-US" sz="1100" dirty="0"/>
          </a:p>
          <a:p>
            <a:pPr marL="342900" indent="-342900">
              <a:buSzPct val="100000"/>
              <a:buChar char="•"/>
            </a:pPr>
            <a:r>
              <a:rPr lang="en-US" sz="1100" dirty="0">
                <a:solidFill>
                  <a:srgbClr val="334155"/>
                </a:solidFill>
                <a:latin typeface="Calibri" pitchFamily="34" charset="0"/>
                <a:ea typeface="Calibri" pitchFamily="34" charset="-122"/>
                <a:cs typeface="Calibri" pitchFamily="34" charset="-120"/>
              </a:rPr>
              <a:t>Kênh trao đổi công việc và liên lạc trực tiếp, bảo mật riêng tư giữa các lãnh đạo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HIỆN THỰC HÓA 3 BÀI TOÁN CHIẾN LƯỢC</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GIẢI PHÁP SỐ HÓA TRIỆT ĐỂ CHO 3 TRĂN TRỞ CỦA BAN LÃNH ĐẠO</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ViConnect lắng nghe và chuyển hóa trọn vẹn mọi yêu cầu của Ban Chủ Nhiệm thành công cụ điều hành thực tế</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3383280" cy="4389120"/>
          </a:xfrm>
          <a:prstGeom prst="rect">
            <a:avLst/>
          </a:prstGeom>
          <a:solidFill>
            <a:srgbClr val="FFFFFF"/>
          </a:solidFill>
          <a:ln/>
        </p:spPr>
      </p:sp>
      <p:sp>
        <p:nvSpPr>
          <p:cNvPr id="10" name="Text 8"/>
          <p:cNvSpPr/>
          <p:nvPr/>
        </p:nvSpPr>
        <p:spPr>
          <a:xfrm>
            <a:off x="914400" y="1920240"/>
            <a:ext cx="3017520" cy="54864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01. Quản Lý Tập Trung Hồ Sơ 500+ Hội Viên</a:t>
            </a:r>
            <a:endParaRPr lang="en-US" sz="1200" dirty="0"/>
          </a:p>
        </p:txBody>
      </p:sp>
      <p:sp>
        <p:nvSpPr>
          <p:cNvPr id="11" name="Shape 9"/>
          <p:cNvSpPr/>
          <p:nvPr/>
        </p:nvSpPr>
        <p:spPr>
          <a:xfrm>
            <a:off x="914400" y="2560320"/>
            <a:ext cx="3017520" cy="1554480"/>
          </a:xfrm>
          <a:prstGeom prst="rect">
            <a:avLst/>
          </a:prstGeom>
          <a:solidFill>
            <a:srgbClr val="FFF1F2"/>
          </a:solidFill>
          <a:ln/>
        </p:spPr>
      </p:sp>
      <p:sp>
        <p:nvSpPr>
          <p:cNvPr id="12" name="Text 10"/>
          <p:cNvSpPr/>
          <p:nvPr/>
        </p:nvSpPr>
        <p:spPr>
          <a:xfrm>
            <a:off x="1005840" y="2651760"/>
            <a:ext cx="2834640" cy="1371600"/>
          </a:xfrm>
          <a:prstGeom prst="rect">
            <a:avLst/>
          </a:prstGeom>
          <a:noFill/>
          <a:ln/>
        </p:spPr>
        <p:txBody>
          <a:bodyPr wrap="square" rtlCol="0" anchor="ctr"/>
          <a:lstStyle/>
          <a:p>
            <a:pPr indent="0" marL="0">
              <a:buNone/>
            </a:pPr>
            <a:r>
              <a:rPr lang="en-US" sz="1000" dirty="0">
                <a:solidFill>
                  <a:srgbClr val="9F1239"/>
                </a:solidFill>
                <a:latin typeface="Calibri" pitchFamily="34" charset="0"/>
                <a:ea typeface="Calibri" pitchFamily="34" charset="-122"/>
                <a:cs typeface="Calibri" pitchFamily="34" charset="-120"/>
              </a:rPr>
              <a:t>Thách thức cũ:</a:t>
            </a:r>
            <a:endParaRPr lang="en-US" sz="1000" dirty="0"/>
          </a:p>
          <a:p>
            <a:pPr indent="0" marL="0">
              <a:buNone/>
            </a:pPr>
            <a:r>
              <a:rPr lang="en-US" sz="1000" dirty="0">
                <a:solidFill>
                  <a:srgbClr val="9F1239"/>
                </a:solidFill>
                <a:latin typeface="Calibri" pitchFamily="34" charset="0"/>
                <a:ea typeface="Calibri" pitchFamily="34" charset="-122"/>
                <a:cs typeface="Calibri" pitchFamily="34" charset="-120"/>
              </a:rPr>
              <a:t>Trước đây: Dữ liệu phân tán trong các file bảng tính rời rạc, khó tra cứu, thông tin doanh nghiệp không được cập nhật kịp thời.</a:t>
            </a:r>
            <a:endParaRPr lang="en-US" sz="1000" dirty="0"/>
          </a:p>
        </p:txBody>
      </p:sp>
      <p:sp>
        <p:nvSpPr>
          <p:cNvPr id="13" name="Shape 11"/>
          <p:cNvSpPr/>
          <p:nvPr/>
        </p:nvSpPr>
        <p:spPr>
          <a:xfrm>
            <a:off x="914400" y="4297680"/>
            <a:ext cx="3017520" cy="1645920"/>
          </a:xfrm>
          <a:prstGeom prst="rect">
            <a:avLst/>
          </a:prstGeom>
          <a:solidFill>
            <a:srgbClr val="EFF6FF"/>
          </a:solidFill>
          <a:ln/>
        </p:spPr>
      </p:sp>
      <p:sp>
        <p:nvSpPr>
          <p:cNvPr id="14" name="Text 12"/>
          <p:cNvSpPr/>
          <p:nvPr/>
        </p:nvSpPr>
        <p:spPr>
          <a:xfrm>
            <a:off x="1005840" y="4389120"/>
            <a:ext cx="2834640" cy="1463040"/>
          </a:xfrm>
          <a:prstGeom prst="rect">
            <a:avLst/>
          </a:prstGeom>
          <a:noFill/>
          <a:ln/>
        </p:spPr>
        <p:txBody>
          <a:bodyPr wrap="square" rtlCol="0" anchor="ctr"/>
          <a:lstStyle/>
          <a:p>
            <a:pPr indent="0" marL="0">
              <a:buNone/>
            </a:pPr>
            <a:r>
              <a:rPr lang="en-US" sz="1000" dirty="0">
                <a:solidFill>
                  <a:srgbClr val="1E3A8A"/>
                </a:solidFill>
                <a:latin typeface="Calibri" pitchFamily="34" charset="0"/>
                <a:ea typeface="Calibri" pitchFamily="34" charset="-122"/>
                <a:cs typeface="Calibri" pitchFamily="34" charset="-120"/>
              </a:rPr>
              <a:t>Giải pháp ViConnect:</a:t>
            </a:r>
            <a:endParaRPr lang="en-US" sz="1000" dirty="0"/>
          </a:p>
          <a:p>
            <a:pPr indent="0" marL="0">
              <a:buNone/>
            </a:pPr>
            <a:r>
              <a:rPr lang="en-US" sz="1000" dirty="0">
                <a:solidFill>
                  <a:srgbClr val="1E3A8A"/>
                </a:solidFill>
                <a:latin typeface="Calibri" pitchFamily="34" charset="0"/>
                <a:ea typeface="Calibri" pitchFamily="34" charset="-122"/>
                <a:cs typeface="Calibri" pitchFamily="34" charset="-120"/>
              </a:rPr>
              <a:t>ViConnect giải quyết: Số hóa hồ sơ doanh nghiệp 360 độ gồm pháp lý, mã số thuế, năng lực cốt lõi, ngành nghề mũi nhọn và lịch sử tham gia.</a:t>
            </a:r>
            <a:endParaRPr lang="en-US" sz="1000" dirty="0"/>
          </a:p>
        </p:txBody>
      </p:sp>
      <p:sp>
        <p:nvSpPr>
          <p:cNvPr id="15" name="Shape 13"/>
          <p:cNvSpPr/>
          <p:nvPr/>
        </p:nvSpPr>
        <p:spPr>
          <a:xfrm>
            <a:off x="4389120" y="1737360"/>
            <a:ext cx="3383280" cy="4389120"/>
          </a:xfrm>
          <a:prstGeom prst="rect">
            <a:avLst/>
          </a:prstGeom>
          <a:solidFill>
            <a:srgbClr val="FFFFFF"/>
          </a:solidFill>
          <a:ln/>
        </p:spPr>
      </p:sp>
      <p:sp>
        <p:nvSpPr>
          <p:cNvPr id="16" name="Text 14"/>
          <p:cNvSpPr/>
          <p:nvPr/>
        </p:nvSpPr>
        <p:spPr>
          <a:xfrm>
            <a:off x="4572000" y="1920240"/>
            <a:ext cx="3017520" cy="54864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02. Tiếp Đón Khách Mời &amp; Xếp Chỗ Khoa Học</a:t>
            </a:r>
            <a:endParaRPr lang="en-US" sz="1200" dirty="0"/>
          </a:p>
        </p:txBody>
      </p:sp>
      <p:sp>
        <p:nvSpPr>
          <p:cNvPr id="17" name="Shape 15"/>
          <p:cNvSpPr/>
          <p:nvPr/>
        </p:nvSpPr>
        <p:spPr>
          <a:xfrm>
            <a:off x="4572000" y="2560320"/>
            <a:ext cx="3017520" cy="1554480"/>
          </a:xfrm>
          <a:prstGeom prst="rect">
            <a:avLst/>
          </a:prstGeom>
          <a:solidFill>
            <a:srgbClr val="FFF1F2"/>
          </a:solidFill>
          <a:ln/>
        </p:spPr>
      </p:sp>
      <p:sp>
        <p:nvSpPr>
          <p:cNvPr id="18" name="Text 16"/>
          <p:cNvSpPr/>
          <p:nvPr/>
        </p:nvSpPr>
        <p:spPr>
          <a:xfrm>
            <a:off x="4663440" y="2651760"/>
            <a:ext cx="2834640" cy="1371600"/>
          </a:xfrm>
          <a:prstGeom prst="rect">
            <a:avLst/>
          </a:prstGeom>
          <a:noFill/>
          <a:ln/>
        </p:spPr>
        <p:txBody>
          <a:bodyPr wrap="square" rtlCol="0" anchor="ctr"/>
          <a:lstStyle/>
          <a:p>
            <a:pPr indent="0" marL="0">
              <a:buNone/>
            </a:pPr>
            <a:r>
              <a:rPr lang="en-US" sz="1000" dirty="0">
                <a:solidFill>
                  <a:srgbClr val="9F1239"/>
                </a:solidFill>
                <a:latin typeface="Calibri" pitchFamily="34" charset="0"/>
                <a:ea typeface="Calibri" pitchFamily="34" charset="-122"/>
                <a:cs typeface="Calibri" pitchFamily="34" charset="-120"/>
              </a:rPr>
              <a:t>Thách thức cũ:</a:t>
            </a:r>
            <a:endParaRPr lang="en-US" sz="1000" dirty="0"/>
          </a:p>
          <a:p>
            <a:pPr indent="0" marL="0">
              <a:buNone/>
            </a:pPr>
            <a:r>
              <a:rPr lang="en-US" sz="1000" dirty="0">
                <a:solidFill>
                  <a:srgbClr val="9F1239"/>
                </a:solidFill>
                <a:latin typeface="Calibri" pitchFamily="34" charset="0"/>
                <a:ea typeface="Calibri" pitchFamily="34" charset="-122"/>
                <a:cs typeface="Calibri" pitchFamily="34" charset="-120"/>
              </a:rPr>
              <a:t>Trước đây: Khách đến đông dễ nhầm bàn ghế, lễ tân tìm tên thủ công mất nhiều thời gian, dễ gây ùn tắc tại sảnh đón tiếp.</a:t>
            </a:r>
            <a:endParaRPr lang="en-US" sz="1000" dirty="0"/>
          </a:p>
        </p:txBody>
      </p:sp>
      <p:sp>
        <p:nvSpPr>
          <p:cNvPr id="19" name="Shape 17"/>
          <p:cNvSpPr/>
          <p:nvPr/>
        </p:nvSpPr>
        <p:spPr>
          <a:xfrm>
            <a:off x="4572000" y="4297680"/>
            <a:ext cx="3017520" cy="1645920"/>
          </a:xfrm>
          <a:prstGeom prst="rect">
            <a:avLst/>
          </a:prstGeom>
          <a:solidFill>
            <a:srgbClr val="EFF6FF"/>
          </a:solidFill>
          <a:ln/>
        </p:spPr>
      </p:sp>
      <p:sp>
        <p:nvSpPr>
          <p:cNvPr id="20" name="Text 18"/>
          <p:cNvSpPr/>
          <p:nvPr/>
        </p:nvSpPr>
        <p:spPr>
          <a:xfrm>
            <a:off x="4663440" y="4389120"/>
            <a:ext cx="2834640" cy="1463040"/>
          </a:xfrm>
          <a:prstGeom prst="rect">
            <a:avLst/>
          </a:prstGeom>
          <a:noFill/>
          <a:ln/>
        </p:spPr>
        <p:txBody>
          <a:bodyPr wrap="square" rtlCol="0" anchor="ctr"/>
          <a:lstStyle/>
          <a:p>
            <a:pPr indent="0" marL="0">
              <a:buNone/>
            </a:pPr>
            <a:r>
              <a:rPr lang="en-US" sz="1000" dirty="0">
                <a:solidFill>
                  <a:srgbClr val="1E3A8A"/>
                </a:solidFill>
                <a:latin typeface="Calibri" pitchFamily="34" charset="0"/>
                <a:ea typeface="Calibri" pitchFamily="34" charset="-122"/>
                <a:cs typeface="Calibri" pitchFamily="34" charset="-120"/>
              </a:rPr>
              <a:t>Giải pháp ViConnect:</a:t>
            </a:r>
            <a:endParaRPr lang="en-US" sz="1000" dirty="0"/>
          </a:p>
          <a:p>
            <a:pPr indent="0" marL="0">
              <a:buNone/>
            </a:pPr>
            <a:r>
              <a:rPr lang="en-US" sz="1000" dirty="0">
                <a:solidFill>
                  <a:srgbClr val="1E3A8A"/>
                </a:solidFill>
                <a:latin typeface="Calibri" pitchFamily="34" charset="0"/>
                <a:ea typeface="Calibri" pitchFamily="34" charset="-122"/>
                <a:cs typeface="Calibri" pitchFamily="34" charset="-120"/>
              </a:rPr>
              <a:t>ViConnect giải quyết: Sơ đồ bàn tiệc bố trí chuẩn xác, đón tiếp khách mời bằng vé điện tử trên điện thoại chỉ 1 giây, bốc thăm may mắn công khai.</a:t>
            </a:r>
            <a:endParaRPr lang="en-US" sz="1000" dirty="0"/>
          </a:p>
        </p:txBody>
      </p:sp>
      <p:sp>
        <p:nvSpPr>
          <p:cNvPr id="21" name="Shape 19"/>
          <p:cNvSpPr/>
          <p:nvPr/>
        </p:nvSpPr>
        <p:spPr>
          <a:xfrm>
            <a:off x="8046720" y="1737360"/>
            <a:ext cx="3383280" cy="4389120"/>
          </a:xfrm>
          <a:prstGeom prst="rect">
            <a:avLst/>
          </a:prstGeom>
          <a:solidFill>
            <a:srgbClr val="FFFFFF"/>
          </a:solidFill>
          <a:ln/>
        </p:spPr>
      </p:sp>
      <p:sp>
        <p:nvSpPr>
          <p:cNvPr id="22" name="Text 20"/>
          <p:cNvSpPr/>
          <p:nvPr/>
        </p:nvSpPr>
        <p:spPr>
          <a:xfrm>
            <a:off x="8229600" y="1920240"/>
            <a:ext cx="3017520" cy="54864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03. Thúc Đẩy Giao Thương &amp; Hợp Tác B2B</a:t>
            </a:r>
            <a:endParaRPr lang="en-US" sz="1200" dirty="0"/>
          </a:p>
        </p:txBody>
      </p:sp>
      <p:sp>
        <p:nvSpPr>
          <p:cNvPr id="23" name="Shape 21"/>
          <p:cNvSpPr/>
          <p:nvPr/>
        </p:nvSpPr>
        <p:spPr>
          <a:xfrm>
            <a:off x="8229600" y="2560320"/>
            <a:ext cx="3017520" cy="1554480"/>
          </a:xfrm>
          <a:prstGeom prst="rect">
            <a:avLst/>
          </a:prstGeom>
          <a:solidFill>
            <a:srgbClr val="FFF1F2"/>
          </a:solidFill>
          <a:ln/>
        </p:spPr>
      </p:sp>
      <p:sp>
        <p:nvSpPr>
          <p:cNvPr id="24" name="Text 22"/>
          <p:cNvSpPr/>
          <p:nvPr/>
        </p:nvSpPr>
        <p:spPr>
          <a:xfrm>
            <a:off x="8321040" y="2651760"/>
            <a:ext cx="2834640" cy="1371600"/>
          </a:xfrm>
          <a:prstGeom prst="rect">
            <a:avLst/>
          </a:prstGeom>
          <a:noFill/>
          <a:ln/>
        </p:spPr>
        <p:txBody>
          <a:bodyPr wrap="square" rtlCol="0" anchor="ctr"/>
          <a:lstStyle/>
          <a:p>
            <a:pPr indent="0" marL="0">
              <a:buNone/>
            </a:pPr>
            <a:r>
              <a:rPr lang="en-US" sz="1000" dirty="0">
                <a:solidFill>
                  <a:srgbClr val="9F1239"/>
                </a:solidFill>
                <a:latin typeface="Calibri" pitchFamily="34" charset="0"/>
                <a:ea typeface="Calibri" pitchFamily="34" charset="-122"/>
                <a:cs typeface="Calibri" pitchFamily="34" charset="-120"/>
              </a:rPr>
              <a:t>Thách thức cũ:</a:t>
            </a:r>
            <a:endParaRPr lang="en-US" sz="1000" dirty="0"/>
          </a:p>
          <a:p>
            <a:pPr indent="0" marL="0">
              <a:buNone/>
            </a:pPr>
            <a:r>
              <a:rPr lang="en-US" sz="1000" dirty="0">
                <a:solidFill>
                  <a:srgbClr val="9F1239"/>
                </a:solidFill>
                <a:latin typeface="Calibri" pitchFamily="34" charset="0"/>
                <a:ea typeface="Calibri" pitchFamily="34" charset="-122"/>
                <a:cs typeface="Calibri" pitchFamily="34" charset="-120"/>
              </a:rPr>
              <a:t>Trước đây: Giao lưu phong trào chủ yếu qua các buổi gặp trực tiếp, thiếu công cụ theo dõi nhu cầu mua sắm và hợp tác thường xuyên.</a:t>
            </a:r>
            <a:endParaRPr lang="en-US" sz="1000" dirty="0"/>
          </a:p>
        </p:txBody>
      </p:sp>
      <p:sp>
        <p:nvSpPr>
          <p:cNvPr id="25" name="Shape 23"/>
          <p:cNvSpPr/>
          <p:nvPr/>
        </p:nvSpPr>
        <p:spPr>
          <a:xfrm>
            <a:off x="8229600" y="4297680"/>
            <a:ext cx="3017520" cy="1645920"/>
          </a:xfrm>
          <a:prstGeom prst="rect">
            <a:avLst/>
          </a:prstGeom>
          <a:solidFill>
            <a:srgbClr val="EFF6FF"/>
          </a:solidFill>
          <a:ln/>
        </p:spPr>
      </p:sp>
      <p:sp>
        <p:nvSpPr>
          <p:cNvPr id="26" name="Text 24"/>
          <p:cNvSpPr/>
          <p:nvPr/>
        </p:nvSpPr>
        <p:spPr>
          <a:xfrm>
            <a:off x="8321040" y="4389120"/>
            <a:ext cx="2834640" cy="1463040"/>
          </a:xfrm>
          <a:prstGeom prst="rect">
            <a:avLst/>
          </a:prstGeom>
          <a:noFill/>
          <a:ln/>
        </p:spPr>
        <p:txBody>
          <a:bodyPr wrap="square" rtlCol="0" anchor="ctr"/>
          <a:lstStyle/>
          <a:p>
            <a:pPr indent="0" marL="0">
              <a:buNone/>
            </a:pPr>
            <a:r>
              <a:rPr lang="en-US" sz="1000" dirty="0">
                <a:solidFill>
                  <a:srgbClr val="1E3A8A"/>
                </a:solidFill>
                <a:latin typeface="Calibri" pitchFamily="34" charset="0"/>
                <a:ea typeface="Calibri" pitchFamily="34" charset="-122"/>
                <a:cs typeface="Calibri" pitchFamily="34" charset="-120"/>
              </a:rPr>
              <a:t>Giải pháp ViConnect:</a:t>
            </a:r>
            <a:endParaRPr lang="en-US" sz="1000" dirty="0"/>
          </a:p>
          <a:p>
            <a:pPr indent="0" marL="0">
              <a:buNone/>
            </a:pPr>
            <a:r>
              <a:rPr lang="en-US" sz="1000" dirty="0">
                <a:solidFill>
                  <a:srgbClr val="1E3A8A"/>
                </a:solidFill>
                <a:latin typeface="Calibri" pitchFamily="34" charset="0"/>
                <a:ea typeface="Calibri" pitchFamily="34" charset="-122"/>
                <a:cs typeface="Calibri" pitchFamily="34" charset="-120"/>
              </a:rPr>
              <a:t>ViConnect giải quyết: Sàn B2B nội bộ niêm yết sản phẩm chiết khấu cao, danh thiếp số 1 chạm lưu danh bạ, hệ thống đặt hẹn cà phê 1-on-1 thuận tiện.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PHÂN HỆ TRUNG TÂM ĐIỀU HÀNH</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PHÂN HỆ WEB CRM: CÔNG CỤ VẬN HÀNH THỰC CHIẾN CỦA BAN LÃNH ĐẠO</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Chuẩn hóa toàn diện quy trình điều hành của Ban Thư Ký và 6 Ban Chuyên Môn trên một giao diện thống nhất</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2560320" cy="4389120"/>
          </a:xfrm>
          <a:prstGeom prst="rect">
            <a:avLst/>
          </a:prstGeom>
          <a:solidFill>
            <a:srgbClr val="FFFFFF"/>
          </a:solidFill>
          <a:ln/>
        </p:spPr>
      </p:sp>
      <p:pic>
        <p:nvPicPr>
          <p:cNvPr id="10" name="Image 0" descr="D:\download\VICONNECT\CEO_VIONE_PROJECT\ceo1983_project\document\images\guide_crm\08_quan_ly_hoi_vien.png">    </p:cNvPr>
          <p:cNvPicPr>
            <a:picLocks noChangeAspect="1"/>
          </p:cNvPicPr>
          <p:nvPr/>
        </p:nvPicPr>
        <p:blipFill>
          <a:blip r:embed="rId1"/>
          <a:stretch>
            <a:fillRect/>
          </a:stretch>
        </p:blipFill>
        <p:spPr>
          <a:xfrm>
            <a:off x="868680" y="1874520"/>
            <a:ext cx="2286000" cy="2011680"/>
          </a:xfrm>
          <a:prstGeom prst="rect">
            <a:avLst/>
          </a:prstGeom>
        </p:spPr>
      </p:pic>
      <p:sp>
        <p:nvSpPr>
          <p:cNvPr id="11" name="Text 8"/>
          <p:cNvSpPr/>
          <p:nvPr/>
        </p:nvSpPr>
        <p:spPr>
          <a:xfrm>
            <a:off x="8686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1. Quản Trị Danh Bạ Hội Viên 360°</a:t>
            </a:r>
            <a:endParaRPr lang="en-US" sz="1100" dirty="0"/>
          </a:p>
        </p:txBody>
      </p:sp>
      <p:sp>
        <p:nvSpPr>
          <p:cNvPr id="12" name="Text 9"/>
          <p:cNvSpPr/>
          <p:nvPr/>
        </p:nvSpPr>
        <p:spPr>
          <a:xfrm>
            <a:off x="8686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Hồ sơ pháp lý, mã số thuế, phân ban chuyên môn, thẩm định và phê duyệt hội viên mới minh bạch.</a:t>
            </a:r>
            <a:endParaRPr lang="en-US" sz="950" dirty="0"/>
          </a:p>
        </p:txBody>
      </p:sp>
      <p:sp>
        <p:nvSpPr>
          <p:cNvPr id="13" name="Shape 10"/>
          <p:cNvSpPr/>
          <p:nvPr/>
        </p:nvSpPr>
        <p:spPr>
          <a:xfrm>
            <a:off x="3474720" y="1737360"/>
            <a:ext cx="2560320" cy="4389120"/>
          </a:xfrm>
          <a:prstGeom prst="rect">
            <a:avLst/>
          </a:prstGeom>
          <a:solidFill>
            <a:srgbClr val="FFFFFF"/>
          </a:solidFill>
          <a:ln/>
        </p:spPr>
      </p:sp>
      <p:pic>
        <p:nvPicPr>
          <p:cNvPr id="14" name="Image 1" descr="D:\download\VICONNECT\CEO_VIONE_PROJECT\ceo1983_project\document\images\guide_crm\12_so_do_khan_phong_ban_tiec.png">    </p:cNvPr>
          <p:cNvPicPr>
            <a:picLocks noChangeAspect="1"/>
          </p:cNvPicPr>
          <p:nvPr/>
        </p:nvPicPr>
        <p:blipFill>
          <a:blip r:embed="rId2"/>
          <a:stretch>
            <a:fillRect/>
          </a:stretch>
        </p:blipFill>
        <p:spPr>
          <a:xfrm>
            <a:off x="3611880" y="1874520"/>
            <a:ext cx="2286000" cy="2011680"/>
          </a:xfrm>
          <a:prstGeom prst="rect">
            <a:avLst/>
          </a:prstGeom>
        </p:spPr>
      </p:pic>
      <p:sp>
        <p:nvSpPr>
          <p:cNvPr id="15" name="Text 11"/>
          <p:cNvSpPr/>
          <p:nvPr/>
        </p:nvSpPr>
        <p:spPr>
          <a:xfrm>
            <a:off x="36118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2. Sơ Đồ Bàn Tiệc &amp; Đón Tiếp Sự Kiện</a:t>
            </a:r>
            <a:endParaRPr lang="en-US" sz="1100" dirty="0"/>
          </a:p>
        </p:txBody>
      </p:sp>
      <p:sp>
        <p:nvSpPr>
          <p:cNvPr id="16" name="Text 12"/>
          <p:cNvSpPr/>
          <p:nvPr/>
        </p:nvSpPr>
        <p:spPr>
          <a:xfrm>
            <a:off x="36118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Bố trí sơ đồ bàn tiệc VIP, xếp vị trí danh dự từng đại biểu, đón tiếp khách mời bằng mã vé điện tử nhanh chóng.</a:t>
            </a:r>
            <a:endParaRPr lang="en-US" sz="950" dirty="0"/>
          </a:p>
        </p:txBody>
      </p:sp>
      <p:sp>
        <p:nvSpPr>
          <p:cNvPr id="17" name="Shape 13"/>
          <p:cNvSpPr/>
          <p:nvPr/>
        </p:nvSpPr>
        <p:spPr>
          <a:xfrm>
            <a:off x="6217920" y="1737360"/>
            <a:ext cx="2560320" cy="4389120"/>
          </a:xfrm>
          <a:prstGeom prst="rect">
            <a:avLst/>
          </a:prstGeom>
          <a:solidFill>
            <a:srgbClr val="FFFFFF"/>
          </a:solidFill>
          <a:ln/>
        </p:spPr>
      </p:sp>
      <p:pic>
        <p:nvPicPr>
          <p:cNvPr id="18" name="Image 2" descr="D:\download\VICONNECT\CEO_VIONE_PROJECT\ceo1983_project\document\images\guide_crm\17_giao_viec_nhiem_vu_kanban.png">    </p:cNvPr>
          <p:cNvPicPr>
            <a:picLocks noChangeAspect="1"/>
          </p:cNvPicPr>
          <p:nvPr/>
        </p:nvPicPr>
        <p:blipFill>
          <a:blip r:embed="rId3"/>
          <a:stretch>
            <a:fillRect/>
          </a:stretch>
        </p:blipFill>
        <p:spPr>
          <a:xfrm>
            <a:off x="6355080" y="1874520"/>
            <a:ext cx="2286000" cy="2011680"/>
          </a:xfrm>
          <a:prstGeom prst="rect">
            <a:avLst/>
          </a:prstGeom>
        </p:spPr>
      </p:pic>
      <p:sp>
        <p:nvSpPr>
          <p:cNvPr id="19" name="Text 14"/>
          <p:cNvSpPr/>
          <p:nvPr/>
        </p:nvSpPr>
        <p:spPr>
          <a:xfrm>
            <a:off x="63550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3. Phân Công Nhiệm Vụ &amp; Điều Hành Ban</a:t>
            </a:r>
            <a:endParaRPr lang="en-US" sz="1100" dirty="0"/>
          </a:p>
        </p:txBody>
      </p:sp>
      <p:sp>
        <p:nvSpPr>
          <p:cNvPr id="20" name="Text 15"/>
          <p:cNvSpPr/>
          <p:nvPr/>
        </p:nvSpPr>
        <p:spPr>
          <a:xfrm>
            <a:off x="63550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Giao việc rõ người chịu trách nhiệm, theo dõi tiến độ và thời hạn hoàn thành, đính kèm tài liệu họp đầy đủ.</a:t>
            </a:r>
            <a:endParaRPr lang="en-US" sz="950" dirty="0"/>
          </a:p>
        </p:txBody>
      </p:sp>
      <p:sp>
        <p:nvSpPr>
          <p:cNvPr id="21" name="Shape 16"/>
          <p:cNvSpPr/>
          <p:nvPr/>
        </p:nvSpPr>
        <p:spPr>
          <a:xfrm>
            <a:off x="8961120" y="1737360"/>
            <a:ext cx="2560320" cy="4389120"/>
          </a:xfrm>
          <a:prstGeom prst="rect">
            <a:avLst/>
          </a:prstGeom>
          <a:solidFill>
            <a:srgbClr val="FFFFFF"/>
          </a:solidFill>
          <a:ln/>
        </p:spPr>
      </p:sp>
      <p:pic>
        <p:nvPicPr>
          <p:cNvPr id="22" name="Image 3" descr="D:\download\VICONNECT\CEO_VIONE_PROJECT\ceo1983_project\document\images\guide_crm\19_quan_ly_so_quy_thu_chi.png">    </p:cNvPr>
          <p:cNvPicPr>
            <a:picLocks noChangeAspect="1"/>
          </p:cNvPicPr>
          <p:nvPr/>
        </p:nvPicPr>
        <p:blipFill>
          <a:blip r:embed="rId4"/>
          <a:stretch>
            <a:fillRect/>
          </a:stretch>
        </p:blipFill>
        <p:spPr>
          <a:xfrm>
            <a:off x="9098280" y="1874520"/>
            <a:ext cx="2286000" cy="2011680"/>
          </a:xfrm>
          <a:prstGeom prst="rect">
            <a:avLst/>
          </a:prstGeom>
        </p:spPr>
      </p:pic>
      <p:sp>
        <p:nvSpPr>
          <p:cNvPr id="23" name="Text 17"/>
          <p:cNvSpPr/>
          <p:nvPr/>
        </p:nvSpPr>
        <p:spPr>
          <a:xfrm>
            <a:off x="90982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4. Quản Lý Thu Chi &amp; Sổ Quỹ Tự Động</a:t>
            </a:r>
            <a:endParaRPr lang="en-US" sz="1100" dirty="0"/>
          </a:p>
        </p:txBody>
      </p:sp>
      <p:sp>
        <p:nvSpPr>
          <p:cNvPr id="24" name="Text 18"/>
          <p:cNvSpPr/>
          <p:nvPr/>
        </p:nvSpPr>
        <p:spPr>
          <a:xfrm>
            <a:off x="90982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Quản lý thu hội phí, tiền tài trợ và chi phí sự kiện; tự động đối soát ngân hàng và báo cáo tài chính minh bạch.</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PHÂN HỆ ỨNG DỤNG DOANH NHÂN</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PHÂN HỆ MOBILE APP: VĂN PHÒNG DOANH NHÂN BỎ TÚI CỦA TỪNG CEO</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Nâng tầm hình ảnh lãnh đạo, gắn kết giao thương bền chặt ngay trên chiếc điện thoại thông minh</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2560320" cy="4389120"/>
          </a:xfrm>
          <a:prstGeom prst="rect">
            <a:avLst/>
          </a:prstGeom>
          <a:solidFill>
            <a:srgbClr val="FFFFFF"/>
          </a:solidFill>
          <a:ln/>
        </p:spPr>
      </p:sp>
      <p:pic>
        <p:nvPicPr>
          <p:cNvPr id="10" name="Image 0" descr="D:\download\VICONNECT\CEO_VIONE_PROJECT\ceo1983_project\document\images\guide_mobile\05_the_hoi_vien_vip_mat_truoc.png">    </p:cNvPr>
          <p:cNvPicPr>
            <a:picLocks noChangeAspect="1"/>
          </p:cNvPicPr>
          <p:nvPr/>
        </p:nvPicPr>
        <p:blipFill>
          <a:blip r:embed="rId1"/>
          <a:stretch>
            <a:fillRect/>
          </a:stretch>
        </p:blipFill>
        <p:spPr>
          <a:xfrm>
            <a:off x="868680" y="1874520"/>
            <a:ext cx="2286000" cy="2011680"/>
          </a:xfrm>
          <a:prstGeom prst="rect">
            <a:avLst/>
          </a:prstGeom>
        </p:spPr>
      </p:pic>
      <p:sp>
        <p:nvSpPr>
          <p:cNvPr id="11" name="Text 8"/>
          <p:cNvSpPr/>
          <p:nvPr/>
        </p:nvSpPr>
        <p:spPr>
          <a:xfrm>
            <a:off x="8686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1. Thẻ Hội Viên &amp; Danh Thiếp Số Tiện Lợi</a:t>
            </a:r>
            <a:endParaRPr lang="en-US" sz="1100" dirty="0"/>
          </a:p>
        </p:txBody>
      </p:sp>
      <p:sp>
        <p:nvSpPr>
          <p:cNvPr id="12" name="Text 9"/>
          <p:cNvSpPr/>
          <p:nvPr/>
        </p:nvSpPr>
        <p:spPr>
          <a:xfrm>
            <a:off x="8686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Thẻ số nhận diện sang trọng, tích hợp mã QR cá nhân giúp đối tác lưu danh bạ tức thì mà không cần cài app.</a:t>
            </a:r>
            <a:endParaRPr lang="en-US" sz="950" dirty="0"/>
          </a:p>
        </p:txBody>
      </p:sp>
      <p:sp>
        <p:nvSpPr>
          <p:cNvPr id="13" name="Shape 10"/>
          <p:cNvSpPr/>
          <p:nvPr/>
        </p:nvSpPr>
        <p:spPr>
          <a:xfrm>
            <a:off x="3474720" y="1737360"/>
            <a:ext cx="2560320" cy="4389120"/>
          </a:xfrm>
          <a:prstGeom prst="rect">
            <a:avLst/>
          </a:prstGeom>
          <a:solidFill>
            <a:srgbClr val="FFFFFF"/>
          </a:solidFill>
          <a:ln/>
        </p:spPr>
      </p:sp>
      <p:pic>
        <p:nvPicPr>
          <p:cNvPr id="14" name="Image 1" descr="D:\download\VICONNECT\CEO_VIONE_PROJECT\ceo1983_project\document\images\guide_mobile\12_san_giao_thuong_b2b.png">    </p:cNvPr>
          <p:cNvPicPr>
            <a:picLocks noChangeAspect="1"/>
          </p:cNvPicPr>
          <p:nvPr/>
        </p:nvPicPr>
        <p:blipFill>
          <a:blip r:embed="rId2"/>
          <a:stretch>
            <a:fillRect/>
          </a:stretch>
        </p:blipFill>
        <p:spPr>
          <a:xfrm>
            <a:off x="3611880" y="1874520"/>
            <a:ext cx="2286000" cy="2011680"/>
          </a:xfrm>
          <a:prstGeom prst="rect">
            <a:avLst/>
          </a:prstGeom>
        </p:spPr>
      </p:pic>
      <p:sp>
        <p:nvSpPr>
          <p:cNvPr id="15" name="Text 11"/>
          <p:cNvSpPr/>
          <p:nvPr/>
        </p:nvSpPr>
        <p:spPr>
          <a:xfrm>
            <a:off x="36118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2. Sàn Giao Thương B2B &amp; Ưu Đãi Nội Khối</a:t>
            </a:r>
            <a:endParaRPr lang="en-US" sz="1100" dirty="0"/>
          </a:p>
        </p:txBody>
      </p:sp>
      <p:sp>
        <p:nvSpPr>
          <p:cNvPr id="16" name="Text 12"/>
          <p:cNvSpPr/>
          <p:nvPr/>
        </p:nvSpPr>
        <p:spPr>
          <a:xfrm>
            <a:off x="36118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Gian hàng giới thiệu giải pháp mũi nhọn của từng doanh nghiệp, cam kết chiết khấu ưu đãi cho cộng đồng CEO 1983.</a:t>
            </a:r>
            <a:endParaRPr lang="en-US" sz="950" dirty="0"/>
          </a:p>
        </p:txBody>
      </p:sp>
      <p:sp>
        <p:nvSpPr>
          <p:cNvPr id="17" name="Shape 13"/>
          <p:cNvSpPr/>
          <p:nvPr/>
        </p:nvSpPr>
        <p:spPr>
          <a:xfrm>
            <a:off x="6217920" y="1737360"/>
            <a:ext cx="2560320" cy="4389120"/>
          </a:xfrm>
          <a:prstGeom prst="rect">
            <a:avLst/>
          </a:prstGeom>
          <a:solidFill>
            <a:srgbClr val="FFFFFF"/>
          </a:solidFill>
          <a:ln/>
        </p:spPr>
      </p:sp>
      <p:pic>
        <p:nvPicPr>
          <p:cNvPr id="18" name="Image 2" descr="D:\download\VICONNECT\CEO_VIONE_PROJECT\ceo1983_project\document\images\guide_mobile\11_ve_dien_tu_qr_checkin.png">    </p:cNvPr>
          <p:cNvPicPr>
            <a:picLocks noChangeAspect="1"/>
          </p:cNvPicPr>
          <p:nvPr/>
        </p:nvPicPr>
        <p:blipFill>
          <a:blip r:embed="rId3"/>
          <a:stretch>
            <a:fillRect/>
          </a:stretch>
        </p:blipFill>
        <p:spPr>
          <a:xfrm>
            <a:off x="6355080" y="1874520"/>
            <a:ext cx="2286000" cy="2011680"/>
          </a:xfrm>
          <a:prstGeom prst="rect">
            <a:avLst/>
          </a:prstGeom>
        </p:spPr>
      </p:pic>
      <p:sp>
        <p:nvSpPr>
          <p:cNvPr id="19" name="Text 14"/>
          <p:cNvSpPr/>
          <p:nvPr/>
        </p:nvSpPr>
        <p:spPr>
          <a:xfrm>
            <a:off x="63550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3. Ví Vé Sự Kiện &amp; Bốc Thăm May Mắn</a:t>
            </a:r>
            <a:endParaRPr lang="en-US" sz="1100" dirty="0"/>
          </a:p>
        </p:txBody>
      </p:sp>
      <p:sp>
        <p:nvSpPr>
          <p:cNvPr id="20" name="Text 15"/>
          <p:cNvSpPr/>
          <p:nvPr/>
        </p:nvSpPr>
        <p:spPr>
          <a:xfrm>
            <a:off x="63550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Lưu vé mời điện tử, thông báo trước số bàn tiệc và số ghế danh dự; tự động kích hoạt mã may mắn khi vào cửa.</a:t>
            </a:r>
            <a:endParaRPr lang="en-US" sz="950" dirty="0"/>
          </a:p>
        </p:txBody>
      </p:sp>
      <p:sp>
        <p:nvSpPr>
          <p:cNvPr id="21" name="Shape 16"/>
          <p:cNvSpPr/>
          <p:nvPr/>
        </p:nvSpPr>
        <p:spPr>
          <a:xfrm>
            <a:off x="8961120" y="1737360"/>
            <a:ext cx="2560320" cy="4389120"/>
          </a:xfrm>
          <a:prstGeom prst="rect">
            <a:avLst/>
          </a:prstGeom>
          <a:solidFill>
            <a:srgbClr val="FFFFFF"/>
          </a:solidFill>
          <a:ln/>
        </p:spPr>
      </p:sp>
      <p:pic>
        <p:nvPicPr>
          <p:cNvPr id="22" name="Image 3" descr="D:\download\VICONNECT\CEO_VIONE_PROJECT\ceo1983_project\document\images\guide_mobile\07_danh_ba_hoi_vien.png">    </p:cNvPr>
          <p:cNvPicPr>
            <a:picLocks noChangeAspect="1"/>
          </p:cNvPicPr>
          <p:nvPr/>
        </p:nvPicPr>
        <p:blipFill>
          <a:blip r:embed="rId4"/>
          <a:stretch>
            <a:fillRect/>
          </a:stretch>
        </p:blipFill>
        <p:spPr>
          <a:xfrm>
            <a:off x="9098280" y="1874520"/>
            <a:ext cx="2286000" cy="2011680"/>
          </a:xfrm>
          <a:prstGeom prst="rect">
            <a:avLst/>
          </a:prstGeom>
        </p:spPr>
      </p:pic>
      <p:sp>
        <p:nvSpPr>
          <p:cNvPr id="23" name="Text 17"/>
          <p:cNvSpPr/>
          <p:nvPr/>
        </p:nvSpPr>
        <p:spPr>
          <a:xfrm>
            <a:off x="9098280" y="4023360"/>
            <a:ext cx="2286000" cy="4572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4. Danh Bạ Lãnh Đạo &amp; Hẹn Gặp 1-on-1</a:t>
            </a:r>
            <a:endParaRPr lang="en-US" sz="1100" dirty="0"/>
          </a:p>
        </p:txBody>
      </p:sp>
      <p:sp>
        <p:nvSpPr>
          <p:cNvPr id="24" name="Text 18"/>
          <p:cNvSpPr/>
          <p:nvPr/>
        </p:nvSpPr>
        <p:spPr>
          <a:xfrm>
            <a:off x="9098280" y="4526280"/>
            <a:ext cx="2286000" cy="1463040"/>
          </a:xfrm>
          <a:prstGeom prst="rect">
            <a:avLst/>
          </a:prstGeom>
          <a:noFill/>
          <a:ln/>
        </p:spPr>
        <p:txBody>
          <a:bodyPr wrap="square" rtlCol="0" anchor="ctr"/>
          <a:lstStyle/>
          <a:p>
            <a:pPr indent="0" marL="0">
              <a:buNone/>
            </a:pPr>
            <a:r>
              <a:rPr lang="en-US" sz="950" dirty="0">
                <a:solidFill>
                  <a:srgbClr val="334155"/>
                </a:solidFill>
                <a:latin typeface="Calibri" pitchFamily="34" charset="0"/>
                <a:ea typeface="Calibri" pitchFamily="34" charset="-122"/>
                <a:cs typeface="Calibri" pitchFamily="34" charset="-120"/>
              </a:rPr>
              <a:t>Tìm kiếm đối tác chính danh theo 11 ngành nghề, gửi lời mời cà phê kết nối tự động cập nhật vào lịch làm việc.</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GIÁ TRỊ GIA TĂNG THỰC TIỄN</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5 ĐIỂM SÁNG NÂNG TẦM TRẢI NGHIỆM VẬN HÀNH &amp; HỘI VIÊN</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Những tiện ích thiết thực do ViConnect chủ động phát triển nâng cao nhằm tối ưu hiệu quả hoạt động CLB</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2057400" cy="4389120"/>
          </a:xfrm>
          <a:prstGeom prst="rect">
            <a:avLst/>
          </a:prstGeom>
          <a:solidFill>
            <a:srgbClr val="FFFFFF"/>
          </a:solidFill>
          <a:ln/>
        </p:spPr>
      </p:sp>
      <p:sp>
        <p:nvSpPr>
          <p:cNvPr id="10" name="Text 8"/>
          <p:cNvSpPr/>
          <p:nvPr/>
        </p:nvSpPr>
        <p:spPr>
          <a:xfrm>
            <a:off x="868680" y="1920240"/>
            <a:ext cx="1783080" cy="73152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01. Thu Chi &amp; Đóng Phí Tự Động Bằng Mã QR</a:t>
            </a:r>
            <a:endParaRPr lang="en-US" sz="1100" dirty="0"/>
          </a:p>
        </p:txBody>
      </p:sp>
      <p:sp>
        <p:nvSpPr>
          <p:cNvPr id="11" name="Text 9"/>
          <p:cNvSpPr/>
          <p:nvPr/>
        </p:nvSpPr>
        <p:spPr>
          <a:xfrm>
            <a:off x="868680" y="2743200"/>
            <a:ext cx="1783080" cy="320040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Tự động tạo mã QR thanh toán đúng số tiền và nội dung, hệ thống ghi nhận đã thu tiền ngay khi giao dịch thành công, đối soát sổ quỹ chính xác 100%.</a:t>
            </a:r>
            <a:endParaRPr lang="en-US" sz="1000" dirty="0"/>
          </a:p>
        </p:txBody>
      </p:sp>
      <p:sp>
        <p:nvSpPr>
          <p:cNvPr id="12" name="Shape 10"/>
          <p:cNvSpPr/>
          <p:nvPr/>
        </p:nvSpPr>
        <p:spPr>
          <a:xfrm>
            <a:off x="2926080" y="1737360"/>
            <a:ext cx="2057400" cy="4389120"/>
          </a:xfrm>
          <a:prstGeom prst="rect">
            <a:avLst/>
          </a:prstGeom>
          <a:solidFill>
            <a:srgbClr val="FFFFFF"/>
          </a:solidFill>
          <a:ln/>
        </p:spPr>
      </p:sp>
      <p:sp>
        <p:nvSpPr>
          <p:cNvPr id="13" name="Text 11"/>
          <p:cNvSpPr/>
          <p:nvPr/>
        </p:nvSpPr>
        <p:spPr>
          <a:xfrm>
            <a:off x="3063240" y="1920240"/>
            <a:ext cx="1783080" cy="73152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02. Sơ Đồ Xếp Bàn Tiệc &amp; Chỗ Ngồi Gala Chu Đáo</a:t>
            </a:r>
            <a:endParaRPr lang="en-US" sz="1100" dirty="0"/>
          </a:p>
        </p:txBody>
      </p:sp>
      <p:sp>
        <p:nvSpPr>
          <p:cNvPr id="14" name="Text 12"/>
          <p:cNvSpPr/>
          <p:nvPr/>
        </p:nvSpPr>
        <p:spPr>
          <a:xfrm>
            <a:off x="3063240" y="2743200"/>
            <a:ext cx="1783080" cy="320040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Ban tổ chức chủ động xếp chỗ trước theo bàn VIP và nhóm ngành nghề; khách đến sự kiện biết ngay vị trí ngồi của mình, tránh nhầm lẫn.</a:t>
            </a:r>
            <a:endParaRPr lang="en-US" sz="1000" dirty="0"/>
          </a:p>
        </p:txBody>
      </p:sp>
      <p:sp>
        <p:nvSpPr>
          <p:cNvPr id="15" name="Shape 13"/>
          <p:cNvSpPr/>
          <p:nvPr/>
        </p:nvSpPr>
        <p:spPr>
          <a:xfrm>
            <a:off x="5120640" y="1737360"/>
            <a:ext cx="2057400" cy="4389120"/>
          </a:xfrm>
          <a:prstGeom prst="rect">
            <a:avLst/>
          </a:prstGeom>
          <a:solidFill>
            <a:srgbClr val="FFFFFF"/>
          </a:solidFill>
          <a:ln/>
        </p:spPr>
      </p:sp>
      <p:sp>
        <p:nvSpPr>
          <p:cNvPr id="16" name="Text 14"/>
          <p:cNvSpPr/>
          <p:nvPr/>
        </p:nvSpPr>
        <p:spPr>
          <a:xfrm>
            <a:off x="5257800" y="1920240"/>
            <a:ext cx="1783080" cy="73152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03. Trợ Lý Số Hướng Dẫn Hội Viên 24/7</a:t>
            </a:r>
            <a:endParaRPr lang="en-US" sz="1100" dirty="0"/>
          </a:p>
        </p:txBody>
      </p:sp>
      <p:sp>
        <p:nvSpPr>
          <p:cNvPr id="17" name="Text 15"/>
          <p:cNvSpPr/>
          <p:nvPr/>
        </p:nvSpPr>
        <p:spPr>
          <a:xfrm>
            <a:off x="5257800" y="2743200"/>
            <a:ext cx="1783080" cy="320040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Hỗ trợ hội viên tra cứu nhanh thông tin sự kiện sắp diễn ra, thông tin hội đồng, liên hệ Ban Thư Ký và tìm kiếm các đối tác tiềm năng.</a:t>
            </a:r>
            <a:endParaRPr lang="en-US" sz="1000" dirty="0"/>
          </a:p>
        </p:txBody>
      </p:sp>
      <p:sp>
        <p:nvSpPr>
          <p:cNvPr id="18" name="Shape 16"/>
          <p:cNvSpPr/>
          <p:nvPr/>
        </p:nvSpPr>
        <p:spPr>
          <a:xfrm>
            <a:off x="7315200" y="1737360"/>
            <a:ext cx="2057400" cy="4389120"/>
          </a:xfrm>
          <a:prstGeom prst="rect">
            <a:avLst/>
          </a:prstGeom>
          <a:solidFill>
            <a:srgbClr val="FFFFFF"/>
          </a:solidFill>
          <a:ln/>
        </p:spPr>
      </p:sp>
      <p:sp>
        <p:nvSpPr>
          <p:cNvPr id="19" name="Text 17"/>
          <p:cNvSpPr/>
          <p:nvPr/>
        </p:nvSpPr>
        <p:spPr>
          <a:xfrm>
            <a:off x="7452360" y="1920240"/>
            <a:ext cx="1783080" cy="73152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04. Kênh Trao Đổi &amp; Liên Lạc Nội Bộ Riêng Tư</a:t>
            </a:r>
            <a:endParaRPr lang="en-US" sz="1100" dirty="0"/>
          </a:p>
        </p:txBody>
      </p:sp>
      <p:sp>
        <p:nvSpPr>
          <p:cNvPr id="20" name="Text 18"/>
          <p:cNvSpPr/>
          <p:nvPr/>
        </p:nvSpPr>
        <p:spPr>
          <a:xfrm>
            <a:off x="7452360" y="2743200"/>
            <a:ext cx="1783080" cy="320040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Gọi điện thoại và trao đổi trực tiếp giữa các Chủ tịch &amp; CEO hội viên, bảo mật tuyệt đối, giữ gìn tính riêng tư trong các cuộc thảo luận kinh doanh.</a:t>
            </a:r>
            <a:endParaRPr lang="en-US" sz="1000" dirty="0"/>
          </a:p>
        </p:txBody>
      </p:sp>
      <p:sp>
        <p:nvSpPr>
          <p:cNvPr id="21" name="Shape 19"/>
          <p:cNvSpPr/>
          <p:nvPr/>
        </p:nvSpPr>
        <p:spPr>
          <a:xfrm>
            <a:off x="9509760" y="1737360"/>
            <a:ext cx="2057400" cy="4389120"/>
          </a:xfrm>
          <a:prstGeom prst="rect">
            <a:avLst/>
          </a:prstGeom>
          <a:solidFill>
            <a:srgbClr val="FFFFFF"/>
          </a:solidFill>
          <a:ln/>
        </p:spPr>
      </p:sp>
      <p:sp>
        <p:nvSpPr>
          <p:cNvPr id="22" name="Text 20"/>
          <p:cNvSpPr/>
          <p:nvPr/>
        </p:nvSpPr>
        <p:spPr>
          <a:xfrm>
            <a:off x="9646920" y="1920240"/>
            <a:ext cx="1783080" cy="73152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05. Phân Quyền Vận Hành Theo Đúng 6 Ban Chuyên Môn</a:t>
            </a:r>
            <a:endParaRPr lang="en-US" sz="1100" dirty="0"/>
          </a:p>
        </p:txBody>
      </p:sp>
      <p:sp>
        <p:nvSpPr>
          <p:cNvPr id="23" name="Text 21"/>
          <p:cNvSpPr/>
          <p:nvPr/>
        </p:nvSpPr>
        <p:spPr>
          <a:xfrm>
            <a:off x="9646920" y="2743200"/>
            <a:ext cx="1783080" cy="3200400"/>
          </a:xfrm>
          <a:prstGeom prst="rect">
            <a:avLst/>
          </a:prstGeom>
          <a:noFill/>
          <a:ln/>
        </p:spPr>
        <p:txBody>
          <a:bodyPr wrap="square" rtlCol="0" anchor="ctr"/>
          <a:lstStyle/>
          <a:p>
            <a:pPr indent="0" marL="0">
              <a:buNone/>
            </a:pPr>
            <a:r>
              <a:rPr lang="en-US" sz="1000" dirty="0">
                <a:solidFill>
                  <a:srgbClr val="334155"/>
                </a:solidFill>
                <a:latin typeface="Calibri" pitchFamily="34" charset="0"/>
                <a:ea typeface="Calibri" pitchFamily="34" charset="-122"/>
                <a:cs typeface="Calibri" pitchFamily="34" charset="-120"/>
              </a:rPr>
              <a:t>Ban Lãnh Đạo nắm toàn cảnh hệ thống; các Trưởng Ban và Thành viên chỉ xem và xử lý đúng nghiệp vụ của ban mình, bảo vệ an toàn thông tin.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HIỆU QUẢ THỰC TẾ CHO HIỆP HỘI</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BẢNG SO SÁNH GIÁ TRỊ: TRƯỚC VÀ SAU KHI SỐ HÓA HỆ THỐNG</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Minh chứng rõ ràng cho bước nhảy vọt về chất lượng vận hành và tính chuyên nghiệp của CLB CEO 1983</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10725912" cy="914400"/>
        </p:xfrm>
        <a:graphic>
          <a:graphicData uri="http://schemas.openxmlformats.org/drawingml/2006/table">
            <a:tbl>
              <a:tblPr/>
              <a:tblGrid>
                <a:gridCol w="2743200"/>
                <a:gridCol w="3986784"/>
                <a:gridCol w="3995928"/>
              </a:tblGrid>
              <a:tr h="0">
                <a:tc>
                  <a:txBody>
                    <a:bodyPr/>
                    <a:lstStyle/>
                    <a:p>
                      <a:pPr indent="0" marL="0">
                        <a:buNone/>
                      </a:pPr>
                      <a:r>
                        <a:rPr lang="en-US" sz="1000" b="1" dirty="0">
                          <a:solidFill>
                            <a:srgbClr val="003B95"/>
                          </a:solidFill>
                        </a:rPr>
                        <a:t>HẠNG MỤC HOẠT ĐỘNG</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FF6FF"/>
                    </a:solidFill>
                  </a:tcPr>
                </a:tc>
                <a:tc>
                  <a:txBody>
                    <a:bodyPr/>
                    <a:lstStyle/>
                    <a:p>
                      <a:pPr indent="0" marL="0">
                        <a:buNone/>
                      </a:pPr>
                      <a:r>
                        <a:rPr lang="en-US" sz="1000" b="1" dirty="0">
                          <a:solidFill>
                            <a:srgbClr val="9F1239"/>
                          </a:solidFill>
                        </a:rPr>
                        <a:t>TRƯỚC KHI CÓ HỆ THỐNG</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1F2"/>
                    </a:solidFill>
                  </a:tcPr>
                </a:tc>
                <a:tc>
                  <a:txBody>
                    <a:bodyPr/>
                    <a:lstStyle/>
                    <a:p>
                      <a:pPr indent="0" marL="0">
                        <a:buNone/>
                      </a:pPr>
                      <a:r>
                        <a:rPr lang="en-US" sz="1000" b="1" dirty="0">
                          <a:solidFill>
                            <a:srgbClr val="1E3A8A"/>
                          </a:solidFill>
                        </a:rPr>
                        <a:t>SAU KHI SỐ HÓA VICONNECT</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CFDF5"/>
                    </a:solidFill>
                  </a:tcPr>
                </a:tc>
              </a:tr>
              <a:tr h="0">
                <a:tc>
                  <a:txBody>
                    <a:bodyPr/>
                    <a:lstStyle/>
                    <a:p>
                      <a:pPr indent="0" marL="0">
                        <a:buNone/>
                      </a:pPr>
                      <a:r>
                        <a:rPr lang="en-US" sz="1000" b="1" dirty="0">
                          <a:solidFill>
                            <a:srgbClr val="0F172A"/>
                          </a:solidFill>
                        </a:rPr>
                        <a:t>Quản Lý Hồ Sơ Hội Viên</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334155"/>
                          </a:solidFill>
                        </a:rPr>
                        <a:t>Dùng file Excel rời rạc, thất lạc thông tin khi đổi nhân sự thư ký.</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065F46"/>
                          </a:solidFill>
                        </a:rPr>
                        <a:t>✓ Cơ sở dữ liệu số tập trung, cập nhật đầy đủ thông tin pháp lý &amp; ngành nghề.</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b="1" dirty="0">
                          <a:solidFill>
                            <a:srgbClr val="0F172A"/>
                          </a:solidFill>
                        </a:rPr>
                        <a:t>Đón Tiếp Sự Kiện &amp; Gala</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334155"/>
                          </a:solidFill>
                        </a:rPr>
                        <a:t>Tìm tên trên danh sách giấy in, ùn tắc tại sảnh, dễ nhầm bàn ghế.</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065F46"/>
                          </a:solidFill>
                        </a:rPr>
                        <a:t>✓ Quét vé điện tử trên điện thoại chỉ 1 giây, hiển thị rõ số bàn và số ghế.</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b="1" dirty="0">
                          <a:solidFill>
                            <a:srgbClr val="0F172A"/>
                          </a:solidFill>
                        </a:rPr>
                        <a:t>Giao Thương &amp; Bán Chéo B2B</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334155"/>
                          </a:solidFill>
                        </a:rPr>
                        <a:t>Trao đổi danh thiếp giấy dễ quên, khó theo dõi nhu cầu thường xuyên.</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065F46"/>
                          </a:solidFill>
                        </a:rPr>
                        <a:t>✓ Gian hàng sản phẩm trực tuyến, danh thiếp số lưu danh bạ điện thoại 1 chạm.</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b="1" dirty="0">
                          <a:solidFill>
                            <a:srgbClr val="0F172A"/>
                          </a:solidFill>
                        </a:rPr>
                        <a:t>Thu Chi &amp; Đóng Phí Hội Viên</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334155"/>
                          </a:solidFill>
                        </a:rPr>
                        <a:t>Chuyển khoản thủ công, kế toán phải chụp ảnh sao kê dò tìm từng dòng.</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065F46"/>
                          </a:solidFill>
                        </a:rPr>
                        <a:t>✓ Mã QR thanh toán tự động, gạch nợ tức thời, xuất báo cáo thu chi minh bạch.</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0">
                <a:tc>
                  <a:txBody>
                    <a:bodyPr/>
                    <a:lstStyle/>
                    <a:p>
                      <a:pPr indent="0" marL="0">
                        <a:buNone/>
                      </a:pPr>
                      <a:r>
                        <a:rPr lang="en-US" sz="1000" b="1" dirty="0">
                          <a:solidFill>
                            <a:srgbClr val="0F172A"/>
                          </a:solidFill>
                        </a:rPr>
                        <a:t>Phân Công Việc 6 Ban</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dirty="0">
                          <a:solidFill>
                            <a:srgbClr val="334155"/>
                          </a:solidFill>
                        </a:rPr>
                        <a:t>Nhắc việc qua nhóm chat Zalo dễ trôi tin, khó kiểm soát thời hạn.</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indent="0" marL="0">
                        <a:buNone/>
                      </a:pPr>
                      <a:r>
                        <a:rPr lang="en-US" sz="1000" b="1" dirty="0">
                          <a:solidFill>
                            <a:srgbClr val="065F46"/>
                          </a:solidFill>
                        </a:rPr>
                        <a:t>✓ Bảng giao việc rõ ràng người chịu trách nhiệm, đính kèm tài liệu họp đầy đủ.</a:t>
                      </a:r>
                      <a:endParaRPr lang="en-US" sz="10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KẾ HOẠCH TRIỂN KHAI &amp; BÀN GIAO</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LỘ TRÌNH ĐỒNG HÀNH BỀN VỮNG CÙNG CLB DOANH NHÂN CEO 1983</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ViConnect cam kết bàn giao sản phẩm chuẩn mực, tập huấn chu đáo và đồng hành bảo hành dài hạn</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2560320" cy="4389120"/>
          </a:xfrm>
          <a:prstGeom prst="rect">
            <a:avLst/>
          </a:prstGeom>
          <a:solidFill>
            <a:srgbClr val="FFFFFF"/>
          </a:solidFill>
          <a:ln/>
        </p:spPr>
      </p:sp>
      <p:sp>
        <p:nvSpPr>
          <p:cNvPr id="10" name="Text 8"/>
          <p:cNvSpPr/>
          <p:nvPr/>
        </p:nvSpPr>
        <p:spPr>
          <a:xfrm>
            <a:off x="914400" y="1920240"/>
            <a:ext cx="2194560" cy="548640"/>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GIAI ĐOẠN 1</a:t>
            </a:r>
            <a:endParaRPr lang="en-US" sz="1100" dirty="0"/>
          </a:p>
          <a:p>
            <a:pPr indent="0" marL="0">
              <a:buNone/>
            </a:pPr>
            <a:r>
              <a:rPr lang="en-US" sz="1100" b="1" dirty="0">
                <a:solidFill>
                  <a:srgbClr val="D97706"/>
                </a:solidFill>
                <a:latin typeface="Calibri" pitchFamily="34" charset="0"/>
                <a:ea typeface="Calibri" pitchFamily="34" charset="-122"/>
                <a:cs typeface="Calibri" pitchFamily="34" charset="-120"/>
              </a:rPr>
              <a:t>(21/10/2026)</a:t>
            </a:r>
            <a:endParaRPr lang="en-US" sz="1100" dirty="0"/>
          </a:p>
        </p:txBody>
      </p:sp>
      <p:sp>
        <p:nvSpPr>
          <p:cNvPr id="11" name="Text 9"/>
          <p:cNvSpPr/>
          <p:nvPr/>
        </p:nvSpPr>
        <p:spPr>
          <a:xfrm>
            <a:off x="914400" y="2560320"/>
            <a:ext cx="2194560" cy="73152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Họp Báo Cáo Thử Nghiệm &amp; Tiếp Thu Góp Ý</a:t>
            </a:r>
            <a:endParaRPr lang="en-US" sz="1200" dirty="0"/>
          </a:p>
        </p:txBody>
      </p:sp>
      <p:sp>
        <p:nvSpPr>
          <p:cNvPr id="12" name="Text 10"/>
          <p:cNvSpPr/>
          <p:nvPr/>
        </p:nvSpPr>
        <p:spPr>
          <a:xfrm>
            <a:off x="914400" y="3383280"/>
            <a:ext cx="2194560" cy="256032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Báo cáo trực tiếp tại HDI Mạc Thái Tông; lắng nghe ý kiến đóng góp từ Ban Lãnh Đạo CLB để hoàn thiện sản phẩm.</a:t>
            </a:r>
            <a:endParaRPr lang="en-US" sz="1050" dirty="0"/>
          </a:p>
        </p:txBody>
      </p:sp>
      <p:sp>
        <p:nvSpPr>
          <p:cNvPr id="13" name="Shape 11"/>
          <p:cNvSpPr/>
          <p:nvPr/>
        </p:nvSpPr>
        <p:spPr>
          <a:xfrm>
            <a:off x="3474720" y="1737360"/>
            <a:ext cx="2560320" cy="4389120"/>
          </a:xfrm>
          <a:prstGeom prst="rect">
            <a:avLst/>
          </a:prstGeom>
          <a:solidFill>
            <a:srgbClr val="FFFFFF"/>
          </a:solidFill>
          <a:ln/>
        </p:spPr>
      </p:sp>
      <p:sp>
        <p:nvSpPr>
          <p:cNvPr id="14" name="Text 12"/>
          <p:cNvSpPr/>
          <p:nvPr/>
        </p:nvSpPr>
        <p:spPr>
          <a:xfrm>
            <a:off x="3657600" y="1920240"/>
            <a:ext cx="2194560" cy="548640"/>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GIAI ĐOẠN 2</a:t>
            </a:r>
            <a:endParaRPr lang="en-US" sz="1100" dirty="0"/>
          </a:p>
          <a:p>
            <a:pPr indent="0" marL="0">
              <a:buNone/>
            </a:pPr>
            <a:r>
              <a:rPr lang="en-US" sz="1100" b="1" dirty="0">
                <a:solidFill>
                  <a:srgbClr val="D97706"/>
                </a:solidFill>
                <a:latin typeface="Calibri" pitchFamily="34" charset="0"/>
                <a:ea typeface="Calibri" pitchFamily="34" charset="-122"/>
                <a:cs typeface="Calibri" pitchFamily="34" charset="-120"/>
              </a:rPr>
              <a:t>(22/10 – 30/10/2026)</a:t>
            </a:r>
            <a:endParaRPr lang="en-US" sz="1100" dirty="0"/>
          </a:p>
        </p:txBody>
      </p:sp>
      <p:sp>
        <p:nvSpPr>
          <p:cNvPr id="15" name="Text 13"/>
          <p:cNvSpPr/>
          <p:nvPr/>
        </p:nvSpPr>
        <p:spPr>
          <a:xfrm>
            <a:off x="3657600" y="2560320"/>
            <a:ext cx="2194560" cy="73152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Nghiệm Thu Kỹ Thuật &amp; Đóng Gói Tài Liệu</a:t>
            </a:r>
            <a:endParaRPr lang="en-US" sz="1200" dirty="0"/>
          </a:p>
        </p:txBody>
      </p:sp>
      <p:sp>
        <p:nvSpPr>
          <p:cNvPr id="16" name="Text 14"/>
          <p:cNvSpPr/>
          <p:nvPr/>
        </p:nvSpPr>
        <p:spPr>
          <a:xfrm>
            <a:off x="3657600" y="3383280"/>
            <a:ext cx="2194560" cy="256032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Bàn giao trọn bộ tài liệu hướng dẫn sử dụng Web CRM và Mobile App; đồng bộ cơ sở dữ liệu hội viên chính thức.</a:t>
            </a:r>
            <a:endParaRPr lang="en-US" sz="1050" dirty="0"/>
          </a:p>
        </p:txBody>
      </p:sp>
      <p:sp>
        <p:nvSpPr>
          <p:cNvPr id="17" name="Shape 15"/>
          <p:cNvSpPr/>
          <p:nvPr/>
        </p:nvSpPr>
        <p:spPr>
          <a:xfrm>
            <a:off x="6217920" y="1737360"/>
            <a:ext cx="2560320" cy="4389120"/>
          </a:xfrm>
          <a:prstGeom prst="rect">
            <a:avLst/>
          </a:prstGeom>
          <a:solidFill>
            <a:srgbClr val="FFFFFF"/>
          </a:solidFill>
          <a:ln/>
        </p:spPr>
      </p:sp>
      <p:sp>
        <p:nvSpPr>
          <p:cNvPr id="18" name="Text 16"/>
          <p:cNvSpPr/>
          <p:nvPr/>
        </p:nvSpPr>
        <p:spPr>
          <a:xfrm>
            <a:off x="6400800" y="1920240"/>
            <a:ext cx="2194560" cy="548640"/>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GIAI ĐOẠN 3</a:t>
            </a:r>
            <a:endParaRPr lang="en-US" sz="1100" dirty="0"/>
          </a:p>
          <a:p>
            <a:pPr indent="0" marL="0">
              <a:buNone/>
            </a:pPr>
            <a:r>
              <a:rPr lang="en-US" sz="1100" b="1" dirty="0">
                <a:solidFill>
                  <a:srgbClr val="D97706"/>
                </a:solidFill>
                <a:latin typeface="Calibri" pitchFamily="34" charset="0"/>
                <a:ea typeface="Calibri" pitchFamily="34" charset="-122"/>
                <a:cs typeface="Calibri" pitchFamily="34" charset="-120"/>
              </a:rPr>
              <a:t>(01/11 – 10/11/2026)</a:t>
            </a:r>
            <a:endParaRPr lang="en-US" sz="1100" dirty="0"/>
          </a:p>
        </p:txBody>
      </p:sp>
      <p:sp>
        <p:nvSpPr>
          <p:cNvPr id="19" name="Text 17"/>
          <p:cNvSpPr/>
          <p:nvPr/>
        </p:nvSpPr>
        <p:spPr>
          <a:xfrm>
            <a:off x="6400800" y="2560320"/>
            <a:ext cx="2194560" cy="73152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Tập Huấn Vận Hành Cho 6 Ban Chuyên Môn</a:t>
            </a:r>
            <a:endParaRPr lang="en-US" sz="1200" dirty="0"/>
          </a:p>
        </p:txBody>
      </p:sp>
      <p:sp>
        <p:nvSpPr>
          <p:cNvPr id="20" name="Text 18"/>
          <p:cNvSpPr/>
          <p:nvPr/>
        </p:nvSpPr>
        <p:spPr>
          <a:xfrm>
            <a:off x="6400800" y="3383280"/>
            <a:ext cx="2194560" cy="256032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Tập huấn trực tiếp cho Ban Thư Ký và các Trưởng Ban; chuyển giao quy trình tổ chức sự kiện và quản lý thu chi.</a:t>
            </a:r>
            <a:endParaRPr lang="en-US" sz="1050" dirty="0"/>
          </a:p>
        </p:txBody>
      </p:sp>
      <p:sp>
        <p:nvSpPr>
          <p:cNvPr id="21" name="Shape 19"/>
          <p:cNvSpPr/>
          <p:nvPr/>
        </p:nvSpPr>
        <p:spPr>
          <a:xfrm>
            <a:off x="8961120" y="1737360"/>
            <a:ext cx="2560320" cy="4389120"/>
          </a:xfrm>
          <a:prstGeom prst="rect">
            <a:avLst/>
          </a:prstGeom>
          <a:solidFill>
            <a:srgbClr val="FFFFFF"/>
          </a:solidFill>
          <a:ln/>
        </p:spPr>
      </p:sp>
      <p:sp>
        <p:nvSpPr>
          <p:cNvPr id="22" name="Text 20"/>
          <p:cNvSpPr/>
          <p:nvPr/>
        </p:nvSpPr>
        <p:spPr>
          <a:xfrm>
            <a:off x="9144000" y="1920240"/>
            <a:ext cx="2194560" cy="548640"/>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GIAI ĐOẠN 4</a:t>
            </a:r>
            <a:endParaRPr lang="en-US" sz="1100" dirty="0"/>
          </a:p>
          <a:p>
            <a:pPr indent="0" marL="0">
              <a:buNone/>
            </a:pPr>
            <a:r>
              <a:rPr lang="en-US" sz="1100" b="1" dirty="0">
                <a:solidFill>
                  <a:srgbClr val="D97706"/>
                </a:solidFill>
                <a:latin typeface="Calibri" pitchFamily="34" charset="0"/>
                <a:ea typeface="Calibri" pitchFamily="34" charset="-122"/>
                <a:cs typeface="Calibri" pitchFamily="34" charset="-120"/>
              </a:rPr>
              <a:t>(Thường Niên)</a:t>
            </a:r>
            <a:endParaRPr lang="en-US" sz="1100" dirty="0"/>
          </a:p>
        </p:txBody>
      </p:sp>
      <p:sp>
        <p:nvSpPr>
          <p:cNvPr id="23" name="Text 21"/>
          <p:cNvSpPr/>
          <p:nvPr/>
        </p:nvSpPr>
        <p:spPr>
          <a:xfrm>
            <a:off x="9144000" y="2560320"/>
            <a:ext cx="2194560" cy="731520"/>
          </a:xfrm>
          <a:prstGeom prst="rect">
            <a:avLst/>
          </a:prstGeom>
          <a:noFill/>
          <a:ln/>
        </p:spPr>
        <p:txBody>
          <a:bodyPr wrap="square" rtlCol="0" anchor="ctr"/>
          <a:lstStyle/>
          <a:p>
            <a:pPr indent="0" marL="0">
              <a:buNone/>
            </a:pPr>
            <a:r>
              <a:rPr lang="en-US" sz="1200" b="1" dirty="0">
                <a:solidFill>
                  <a:srgbClr val="003B95"/>
                </a:solidFill>
                <a:latin typeface="Calibri" pitchFamily="34" charset="0"/>
                <a:ea typeface="Calibri" pitchFamily="34" charset="-122"/>
                <a:cs typeface="Calibri" pitchFamily="34" charset="-120"/>
              </a:rPr>
              <a:t>Phát Hành Ứng Dụng &amp; Trực Kỹ Thuật 24/7</a:t>
            </a:r>
            <a:endParaRPr lang="en-US" sz="1200" dirty="0"/>
          </a:p>
        </p:txBody>
      </p:sp>
      <p:sp>
        <p:nvSpPr>
          <p:cNvPr id="24" name="Text 22"/>
          <p:cNvSpPr/>
          <p:nvPr/>
        </p:nvSpPr>
        <p:spPr>
          <a:xfrm>
            <a:off x="9144000" y="3383280"/>
            <a:ext cx="2194560" cy="2560320"/>
          </a:xfrm>
          <a:prstGeom prst="rect">
            <a:avLst/>
          </a:prstGeom>
          <a:noFill/>
          <a:ln/>
        </p:spPr>
        <p:txBody>
          <a:bodyPr wrap="square" rtlCol="0" anchor="ctr"/>
          <a:lstStyle/>
          <a:p>
            <a:pPr indent="0" marL="0">
              <a:buNone/>
            </a:pPr>
            <a:r>
              <a:rPr lang="en-US" sz="1050" dirty="0">
                <a:solidFill>
                  <a:srgbClr val="334155"/>
                </a:solidFill>
                <a:latin typeface="Calibri" pitchFamily="34" charset="0"/>
                <a:ea typeface="Calibri" pitchFamily="34" charset="-122"/>
                <a:cs typeface="Calibri" pitchFamily="34" charset="-120"/>
              </a:rPr>
              <a:t>Phát hành chính thức lên App Store &amp; Google Play Store; ViConnect cử kỹ sư túc trực hỗ trợ kỹ thuật tại các sự kiện Gala.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F54"/>
        </a:solidFill>
      </p:bgPr>
    </p:bg>
    <p:spTree>
      <p:nvGrpSpPr>
        <p:cNvPr id="1" name=""/>
        <p:cNvGrpSpPr/>
        <p:nvPr/>
      </p:nvGrpSpPr>
      <p:grpSpPr>
        <a:xfrm>
          <a:off x="0" y="0"/>
          <a:ext cx="0" cy="0"/>
          <a:chOff x="0" y="0"/>
          <a:chExt cx="0" cy="0"/>
        </a:xfrm>
      </p:grpSpPr>
      <p:sp>
        <p:nvSpPr>
          <p:cNvPr id="2" name="Shape 0"/>
          <p:cNvSpPr/>
          <p:nvPr/>
        </p:nvSpPr>
        <p:spPr>
          <a:xfrm>
            <a:off x="731520" y="365760"/>
            <a:ext cx="3474720" cy="274320"/>
          </a:xfrm>
          <a:prstGeom prst="rect">
            <a:avLst/>
          </a:prstGeom>
          <a:solidFill>
            <a:srgbClr val="003B95"/>
          </a:solidFill>
          <a:ln/>
        </p:spPr>
      </p:sp>
      <p:sp>
        <p:nvSpPr>
          <p:cNvPr id="3" name="Text 1"/>
          <p:cNvSpPr/>
          <p:nvPr/>
        </p:nvSpPr>
        <p:spPr>
          <a:xfrm>
            <a:off x="731520" y="365760"/>
            <a:ext cx="3474720" cy="274320"/>
          </a:xfrm>
          <a:prstGeom prst="rect">
            <a:avLst/>
          </a:prstGeom>
          <a:noFill/>
          <a:ln/>
        </p:spPr>
        <p:txBody>
          <a:bodyPr wrap="square" rtlCol="0" anchor="ctr"/>
          <a:lstStyle/>
          <a:p>
            <a:pPr algn="ctr" indent="0" marL="0">
              <a:buNone/>
            </a:pPr>
            <a:r>
              <a:rPr lang="en-US" sz="950" b="1" dirty="0">
                <a:solidFill>
                  <a:srgbClr val="00D2FF"/>
                </a:solidFill>
                <a:latin typeface="Calibri" pitchFamily="34" charset="0"/>
                <a:ea typeface="Calibri" pitchFamily="34" charset="-122"/>
                <a:cs typeface="Calibri" pitchFamily="34" charset="-120"/>
              </a:rPr>
              <a:t>GẮN KẾT BẢN LĨNH — KIẾN TẠO TƯƠNG LAI</a:t>
            </a:r>
            <a:endParaRPr lang="en-US" sz="950" dirty="0"/>
          </a:p>
        </p:txBody>
      </p:sp>
      <p:sp>
        <p:nvSpPr>
          <p:cNvPr id="4" name="Text 2"/>
          <p:cNvSpPr/>
          <p:nvPr/>
        </p:nvSpPr>
        <p:spPr>
          <a:xfrm>
            <a:off x="731520" y="685800"/>
            <a:ext cx="10725912"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VICONNECT &amp; CLB DOANH NHÂN CEO 1983</a:t>
            </a:r>
            <a:endParaRPr lang="en-US" sz="2000" dirty="0"/>
          </a:p>
        </p:txBody>
      </p:sp>
      <p:sp>
        <p:nvSpPr>
          <p:cNvPr id="5" name="Text 3"/>
          <p:cNvSpPr/>
          <p:nvPr/>
        </p:nvSpPr>
        <p:spPr>
          <a:xfrm>
            <a:off x="731520" y="1188720"/>
            <a:ext cx="10725912" cy="320040"/>
          </a:xfrm>
          <a:prstGeom prst="rect">
            <a:avLst/>
          </a:prstGeom>
          <a:noFill/>
          <a:ln/>
        </p:spPr>
        <p:txBody>
          <a:bodyPr wrap="square" rtlCol="0" anchor="ctr"/>
          <a:lstStyle/>
          <a:p>
            <a:pPr indent="0" marL="0">
              <a:buNone/>
            </a:pPr>
            <a:r>
              <a:rPr lang="en-US" sz="1100" i="1" dirty="0">
                <a:solidFill>
                  <a:srgbClr val="93C5FD"/>
                </a:solidFill>
                <a:latin typeface="Calibri" pitchFamily="34" charset="0"/>
                <a:ea typeface="Calibri" pitchFamily="34" charset="-122"/>
                <a:cs typeface="Calibri" pitchFamily="34" charset="-120"/>
              </a:rPr>
              <a:t>ĐỒNG HÀNH XÂY DỰNG CỘNG ĐỒNG DOANH NHÂN ĐOÀN KẾT, BẢN LĨNH &amp; THỊNH VƯỢNG</a:t>
            </a:r>
            <a:endParaRPr lang="en-US" sz="1100" dirty="0"/>
          </a:p>
        </p:txBody>
      </p:sp>
      <p:sp>
        <p:nvSpPr>
          <p:cNvPr id="6" name="Shape 4"/>
          <p:cNvSpPr/>
          <p:nvPr/>
        </p:nvSpPr>
        <p:spPr>
          <a:xfrm>
            <a:off x="731520" y="6400800"/>
            <a:ext cx="10725912" cy="18288"/>
          </a:xfrm>
          <a:prstGeom prst="rect">
            <a:avLst/>
          </a:prstGeom>
          <a:solidFill>
            <a:srgbClr val="1E3A8A"/>
          </a:solidFill>
          <a:ln/>
        </p:spPr>
      </p:sp>
      <p:sp>
        <p:nvSpPr>
          <p:cNvPr id="7" name="Text 5"/>
          <p:cNvSpPr/>
          <p:nvPr/>
        </p:nvSpPr>
        <p:spPr>
          <a:xfrm>
            <a:off x="731520" y="6446520"/>
            <a:ext cx="6858000" cy="27432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CLB Doanh Nhân CEO 1983 · Trực thuộc Hội Doanh Nghiệp Trẻ Hà Nội (HanoiBA)</a:t>
            </a:r>
            <a:endParaRPr lang="en-US" sz="900" dirty="0"/>
          </a:p>
        </p:txBody>
      </p:sp>
      <p:sp>
        <p:nvSpPr>
          <p:cNvPr id="8" name="Text 6"/>
          <p:cNvSpPr/>
          <p:nvPr/>
        </p:nvSpPr>
        <p:spPr>
          <a:xfrm>
            <a:off x="7772400" y="6446520"/>
            <a:ext cx="3685032" cy="274320"/>
          </a:xfrm>
          <a:prstGeom prst="rect">
            <a:avLst/>
          </a:prstGeom>
          <a:noFill/>
          <a:ln/>
        </p:spPr>
        <p:txBody>
          <a:bodyPr wrap="square" rtlCol="0" anchor="ctr"/>
          <a:lstStyle/>
          <a:p>
            <a:pPr algn="r" indent="0" marL="0">
              <a:buNone/>
            </a:pPr>
            <a:r>
              <a:rPr lang="en-US" sz="900" dirty="0">
                <a:solidFill>
                  <a:srgbClr val="00D2FF"/>
                </a:solidFill>
                <a:latin typeface="Calibri" pitchFamily="34" charset="0"/>
                <a:ea typeface="Calibri" pitchFamily="34" charset="-122"/>
                <a:cs typeface="Calibri" pitchFamily="34" charset="-120"/>
              </a:rPr>
              <a:t>ViConnect Ecosystem 2026</a:t>
            </a:r>
            <a:endParaRPr lang="en-US" sz="900" dirty="0"/>
          </a:p>
        </p:txBody>
      </p:sp>
      <p:sp>
        <p:nvSpPr>
          <p:cNvPr id="9" name="Shape 7"/>
          <p:cNvSpPr/>
          <p:nvPr/>
        </p:nvSpPr>
        <p:spPr>
          <a:xfrm>
            <a:off x="731520" y="1737360"/>
            <a:ext cx="6858000" cy="4389120"/>
          </a:xfrm>
          <a:prstGeom prst="rect">
            <a:avLst/>
          </a:prstGeom>
          <a:solidFill>
            <a:srgbClr val="FFFFFF"/>
          </a:solidFill>
          <a:ln/>
        </p:spPr>
      </p:sp>
      <p:sp>
        <p:nvSpPr>
          <p:cNvPr id="10" name="Text 8"/>
          <p:cNvSpPr/>
          <p:nvPr/>
        </p:nvSpPr>
        <p:spPr>
          <a:xfrm>
            <a:off x="1005840" y="1920240"/>
            <a:ext cx="6309360" cy="274320"/>
          </a:xfrm>
          <a:prstGeom prst="rect">
            <a:avLst/>
          </a:prstGeom>
          <a:noFill/>
          <a:ln/>
        </p:spPr>
        <p:txBody>
          <a:bodyPr wrap="square"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 ĐỒNG HÀNH BỀN VỮNG CÙNG DOANH NHÂN CEO 1983 ✦</a:t>
            </a:r>
            <a:endParaRPr lang="en-US" sz="1100" dirty="0"/>
          </a:p>
        </p:txBody>
      </p:sp>
      <p:sp>
        <p:nvSpPr>
          <p:cNvPr id="11" name="Text 9"/>
          <p:cNvSpPr/>
          <p:nvPr/>
        </p:nvSpPr>
        <p:spPr>
          <a:xfrm>
            <a:off x="1005840" y="2377440"/>
            <a:ext cx="6309360" cy="1828800"/>
          </a:xfrm>
          <a:prstGeom prst="rect">
            <a:avLst/>
          </a:prstGeom>
          <a:noFill/>
          <a:ln/>
        </p:spPr>
        <p:txBody>
          <a:bodyPr wrap="square" rtlCol="0" anchor="ctr"/>
          <a:lstStyle/>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ViConnect cam kết bảo đảm hạ tầng máy chủ vận hành ổn định 99.9%, bảo mật dữ liệu tuyệt đối</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Đội ngũ kỹ sư túc trực đồng hành, hỗ trợ kỹ thuật tận tâm tại mọi kỳ hội nghị và sự kiện Gala</a:t>
            </a:r>
            <a:endParaRPr lang="en-US" sz="1150" dirty="0"/>
          </a:p>
          <a:p>
            <a:pPr marL="342900" indent="-342900">
              <a:buSzPct val="100000"/>
              <a:buChar char="•"/>
            </a:pPr>
            <a:r>
              <a:rPr lang="en-US" sz="1150" dirty="0">
                <a:solidFill>
                  <a:srgbClr val="334155"/>
                </a:solidFill>
                <a:latin typeface="Calibri" pitchFamily="34" charset="0"/>
                <a:ea typeface="Calibri" pitchFamily="34" charset="-122"/>
                <a:cs typeface="Calibri" pitchFamily="34" charset="-120"/>
              </a:rPr>
              <a:t>Liên tục cập nhật các tiện ích công nghệ hiện đại nhất phục vụ sự phát triển của cộng đồng</a:t>
            </a:r>
            <a:endParaRPr lang="en-US" sz="1150" dirty="0"/>
          </a:p>
        </p:txBody>
      </p:sp>
      <p:sp>
        <p:nvSpPr>
          <p:cNvPr id="12" name="Text 10"/>
          <p:cNvSpPr/>
          <p:nvPr/>
        </p:nvSpPr>
        <p:spPr>
          <a:xfrm>
            <a:off x="1005840" y="4389120"/>
            <a:ext cx="6309360" cy="914400"/>
          </a:xfrm>
          <a:prstGeom prst="rect">
            <a:avLst/>
          </a:prstGeom>
          <a:noFill/>
          <a:ln/>
        </p:spPr>
        <p:txBody>
          <a:bodyPr wrap="square" rtlCol="0" anchor="ctr"/>
          <a:lstStyle/>
          <a:p>
            <a:pPr indent="0" marL="0">
              <a:buNone/>
            </a:pPr>
            <a:r>
              <a:rPr lang="en-US" sz="1100" b="1" dirty="0">
                <a:solidFill>
                  <a:srgbClr val="003B95"/>
                </a:solidFill>
                <a:latin typeface="Calibri" pitchFamily="34" charset="0"/>
                <a:ea typeface="Calibri" pitchFamily="34" charset="-122"/>
                <a:cs typeface="Calibri" pitchFamily="34" charset="-120"/>
              </a:rPr>
              <a:t>📞 Hotline Hỗ Trợ: 0983 1983 83 / 0988 66 55 44</a:t>
            </a:r>
            <a:endParaRPr lang="en-US" sz="1100" dirty="0"/>
          </a:p>
          <a:p>
            <a:pPr indent="0" marL="0">
              <a:buNone/>
            </a:pPr>
            <a:r>
              <a:rPr lang="en-US" sz="1100" b="1" dirty="0">
                <a:solidFill>
                  <a:srgbClr val="003B95"/>
                </a:solidFill>
                <a:latin typeface="Calibri" pitchFamily="34" charset="0"/>
                <a:ea typeface="Calibri" pitchFamily="34" charset="-122"/>
                <a:cs typeface="Calibri" pitchFamily="34" charset="-120"/>
              </a:rPr>
              <a:t>🌐 Cổng Quản Trị: https://crm.ceo1983.viconnect.vn</a:t>
            </a:r>
            <a:endParaRPr lang="en-US" sz="1100" dirty="0"/>
          </a:p>
          <a:p>
            <a:pPr indent="0" marL="0">
              <a:buNone/>
            </a:pPr>
            <a:r>
              <a:rPr lang="en-US" sz="1100" b="1" dirty="0">
                <a:solidFill>
                  <a:srgbClr val="003B95"/>
                </a:solidFill>
                <a:latin typeface="Calibri" pitchFamily="34" charset="0"/>
                <a:ea typeface="Calibri" pitchFamily="34" charset="-122"/>
                <a:cs typeface="Calibri" pitchFamily="34" charset="-120"/>
              </a:rPr>
              <a:t>📱 Cổng Hội Viên: https://ceo1983.viconnect.vn</a:t>
            </a:r>
            <a:endParaRPr lang="en-US" sz="1100" dirty="0"/>
          </a:p>
        </p:txBody>
      </p:sp>
      <p:sp>
        <p:nvSpPr>
          <p:cNvPr id="13" name="Text 11"/>
          <p:cNvSpPr/>
          <p:nvPr/>
        </p:nvSpPr>
        <p:spPr>
          <a:xfrm>
            <a:off x="1005840" y="5394960"/>
            <a:ext cx="6309360" cy="548640"/>
          </a:xfrm>
          <a:prstGeom prst="rect">
            <a:avLst/>
          </a:prstGeom>
          <a:noFill/>
          <a:ln/>
        </p:spPr>
        <p:txBody>
          <a:bodyPr wrap="square" rtlCol="0" anchor="ctr"/>
          <a:lstStyle/>
          <a:p>
            <a:pPr indent="0" marL="0">
              <a:buNone/>
            </a:pPr>
            <a:r>
              <a:rPr lang="en-US" sz="1200" b="1" i="1" dirty="0">
                <a:solidFill>
                  <a:srgbClr val="B45309"/>
                </a:solidFill>
                <a:latin typeface="Calibri" pitchFamily="34" charset="0"/>
                <a:ea typeface="Calibri" pitchFamily="34" charset="-122"/>
                <a:cs typeface="Calibri" pitchFamily="34" charset="-120"/>
              </a:rPr>
              <a:t>"Kính chúc CLB Doanh Nhân CEO 1983 ngày càng lớn mạnh, đoàn kết và bứt phá thành công!"</a:t>
            </a:r>
            <a:endParaRPr lang="en-US" sz="1200" dirty="0"/>
          </a:p>
        </p:txBody>
      </p:sp>
      <p:sp>
        <p:nvSpPr>
          <p:cNvPr id="14" name="Shape 12"/>
          <p:cNvSpPr/>
          <p:nvPr/>
        </p:nvSpPr>
        <p:spPr>
          <a:xfrm>
            <a:off x="8046720" y="1737360"/>
            <a:ext cx="3383280" cy="4389120"/>
          </a:xfrm>
          <a:prstGeom prst="rect">
            <a:avLst/>
          </a:prstGeom>
          <a:solidFill>
            <a:srgbClr val="001F54"/>
          </a:solidFill>
          <a:ln w="25400">
            <a:solidFill>
              <a:srgbClr val="00D2FF"/>
            </a:solidFill>
            <a:prstDash val="solid"/>
          </a:ln>
        </p:spPr>
      </p:sp>
      <p:sp>
        <p:nvSpPr>
          <p:cNvPr id="15" name="Text 13"/>
          <p:cNvSpPr/>
          <p:nvPr/>
        </p:nvSpPr>
        <p:spPr>
          <a:xfrm>
            <a:off x="8229600" y="2194560"/>
            <a:ext cx="3017520" cy="9144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VICONNECT</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ECOSYSTEM</a:t>
            </a:r>
            <a:endParaRPr lang="en-US" sz="1800" dirty="0"/>
          </a:p>
        </p:txBody>
      </p:sp>
      <p:sp>
        <p:nvSpPr>
          <p:cNvPr id="16" name="Text 14"/>
          <p:cNvSpPr/>
          <p:nvPr/>
        </p:nvSpPr>
        <p:spPr>
          <a:xfrm>
            <a:off x="8321040" y="3291840"/>
            <a:ext cx="2834640" cy="1645920"/>
          </a:xfrm>
          <a:prstGeom prst="rect">
            <a:avLst/>
          </a:prstGeom>
          <a:noFill/>
          <a:ln/>
        </p:spPr>
        <p:txBody>
          <a:bodyPr wrap="square" rtlCol="0" anchor="ctr"/>
          <a:lstStyle/>
          <a:p>
            <a:pPr algn="ctr" indent="0" marL="0">
              <a:buNone/>
            </a:pPr>
            <a:r>
              <a:rPr lang="en-US" sz="1150" dirty="0">
                <a:solidFill>
                  <a:srgbClr val="E0F2FE"/>
                </a:solidFill>
                <a:latin typeface="Calibri" pitchFamily="34" charset="0"/>
                <a:ea typeface="Calibri" pitchFamily="34" charset="-122"/>
                <a:cs typeface="Calibri" pitchFamily="34" charset="-120"/>
              </a:rPr>
              <a:t>Công nghệ vị nhân sinh · Tiên phong đồng hành cùng sự phát triển thịnh vượng của doanh nghiệp Việt.</a:t>
            </a:r>
            <a:endParaRPr lang="en-US" sz="1150" dirty="0"/>
          </a:p>
        </p:txBody>
      </p:sp>
      <p:sp>
        <p:nvSpPr>
          <p:cNvPr id="17" name="Text 15"/>
          <p:cNvSpPr/>
          <p:nvPr/>
        </p:nvSpPr>
        <p:spPr>
          <a:xfrm>
            <a:off x="8321040" y="5303520"/>
            <a:ext cx="2834640" cy="457200"/>
          </a:xfrm>
          <a:prstGeom prst="rect">
            <a:avLst/>
          </a:prstGeom>
          <a:noFill/>
          <a:ln/>
        </p:spPr>
        <p:txBody>
          <a:bodyPr wrap="square" rtlCol="0" anchor="ctr"/>
          <a:lstStyle/>
          <a:p>
            <a:pPr algn="ctr" indent="0" marL="0">
              <a:buNone/>
            </a:pPr>
            <a:r>
              <a:rPr lang="en-US" sz="950" dirty="0">
                <a:solidFill>
                  <a:srgbClr val="FDE68A"/>
                </a:solidFill>
                <a:latin typeface="Calibri" pitchFamily="34" charset="0"/>
                <a:ea typeface="Calibri" pitchFamily="34" charset="-122"/>
                <a:cs typeface="Calibri" pitchFamily="34" charset="-120"/>
              </a:rPr>
              <a:t>Bản Quyền © 2026 ViConnect &amp; HanoiBA</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CLB Doanh Nhân CEO 1983 · HanoiBA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Giải Pháp Chuyển Đổi Số CLB Doanh Nhân CEO 1983</dc:title>
  <dc:subject>PptxGenJS Presentation</dc:subject>
  <dc:creator>ViConnect Ecosystem</dc:creator>
  <cp:lastModifiedBy>ViConnect Ecosystem</cp:lastModifiedBy>
  <cp:revision>1</cp:revision>
  <dcterms:created xsi:type="dcterms:W3CDTF">2026-10-21T01:50:12Z</dcterms:created>
  <dcterms:modified xsi:type="dcterms:W3CDTF">2026-10-21T01:50:12Z</dcterms:modified>
</cp:coreProperties>
</file>